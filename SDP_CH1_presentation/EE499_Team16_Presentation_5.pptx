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5"/>
    <p:sldId id="264" r:id="rId2"/>
    <p:sldId id="265" r:id="rId3"/>
    <p:sldId id="266" r:id="rId4"/>
    <p:sldId id="257" r:id="rId6"/>
    <p:sldId id="260" r:id="rId8"/>
    <p:sldId id="259" r:id="rId11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9" r:id="rId22"/>
    <p:sldId id="280" r:id="rId23"/>
    <p:sldId id="281" r:id="rId24"/>
    <p:sldId id="278" r:id="rId25"/>
    <p:sldId id="282" r:id="rId26"/>
    <p:sldId id="283" r:id="rId27"/>
    <p:sldId id="284" r:id="rId28"/>
    <p:sldId id="285" r:id="rId29"/>
    <p:sldId id="287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8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972" autoAdjust="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3899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0:20</a:t>
            </a:r>
          </a:p>
          <a:p>
            <a:r>
              <a:rPr lang="en-US" dirty="0"/>
              <a:t>Project title, team, advisor. Report 1 covers the problem and the design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0:10</a:t>
            </a:r>
          </a:p>
          <a:p>
            <a:r>
              <a:rPr lang="en-US" dirty="0"/>
              <a:t>Four parts: introduction, problem statement, objectives, design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0:05</a:t>
            </a:r>
          </a:p>
          <a:p>
            <a:r>
              <a:rPr lang="en-US" dirty="0"/>
              <a:t>Why household energy needs managing.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0:15</a:t>
            </a:r>
          </a:p>
          <a:p>
            <a:r>
              <a:rPr lang="en-US" dirty="0"/>
              <a:t>Let the opening video play — the tower spells our names and IDs. Advance once it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0:35</a:t>
            </a:r>
          </a:p>
          <a:p>
            <a:r>
              <a:rPr lang="en-US" dirty="0"/>
              <a:t>Homes take 47 % of Saudi electricity; about 70 % of home electricity goes to air-conditioning; above 6,000 kWh/month every extra kWh costs 67 % more (18 → 30 halalas).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0:35</a:t>
            </a:r>
          </a:p>
          <a:p>
            <a:r>
              <a:rPr lang="en-US" dirty="0"/>
              <a:t>Per-appliance feedback saved a median 14 % (ACEEE, 57 studies). A dirty AC filter wastes 5–15 % and stays hidden in the total. About 53 house fires a day in KSA, mostly electrical.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0:30</a:t>
            </a:r>
          </a:p>
          <a:p>
            <a:r>
              <a:rPr lang="en-US" dirty="0"/>
              <a:t>A conventional meter gives one number. Three questions it cannot answer — which appliance, which can wait, which misbehaves — map to cost, continuity and safety. Not a luxury: a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0:25</a:t>
            </a:r>
          </a:p>
          <a:p>
            <a:r>
              <a:rPr lang="en-US" dirty="0"/>
              <a:t>Our system measures each appliance separately: voltage, current, power, energy and ON/OFF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0:30</a:t>
            </a:r>
          </a:p>
          <a:p>
            <a:r>
              <a:rPr lang="en-US" dirty="0"/>
              <a:t>User sets priorities; when demand exceeds the limit the lowest-priority load is shed; essentials stay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0:25</a:t>
            </a:r>
          </a:p>
          <a:p>
            <a:r>
              <a:rPr lang="en-US" dirty="0"/>
              <a:t>Abnormal operation is a supporting function: deviation from the appliance’s own baseline triggers a warning. Direct sub-metering is more reliable than whole-house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0:05</a:t>
            </a:r>
          </a:p>
          <a:p>
            <a:r>
              <a:rPr lang="en-US" dirty="0"/>
              <a:t>Problem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0:25</a:t>
            </a:r>
          </a:p>
          <a:p>
            <a:r>
              <a:rPr lang="en-US" dirty="0"/>
              <a:t>Five problems households face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0:20</a:t>
            </a:r>
          </a:p>
          <a:p>
            <a:r>
              <a:rPr lang="en-US" dirty="0"/>
              <a:t>The need: residential energy management with monitoring, priority control, cost management and supplied essentials.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0:05</a:t>
            </a:r>
          </a:p>
          <a:p>
            <a:r>
              <a:rPr lang="en-US" dirty="0"/>
              <a:t>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0:25</a:t>
            </a:r>
          </a:p>
          <a:p>
            <a:r>
              <a:rPr lang="en-US" dirty="0"/>
              <a:t>Three higher-level objectives: economic, reliability, safety and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0:30</a:t>
            </a:r>
          </a:p>
          <a:p>
            <a:r>
              <a:rPr lang="en-US" dirty="0"/>
              <a:t>Six lower-level objectives: monitor, detect, prioritise, budget, inform, stay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0:05</a:t>
            </a:r>
          </a:p>
          <a:p>
            <a:r>
              <a:rPr lang="en-US" dirty="0"/>
              <a:t>Design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0:30</a:t>
            </a:r>
          </a:p>
          <a:p>
            <a:r>
              <a:rPr lang="en-US" dirty="0"/>
              <a:t>DS-01 to DS-04: ±5 % accuracy, ≤ 3 s updates, ≥ 90 % abnormal detection, ≤ 1 s load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0:30</a:t>
            </a:r>
          </a:p>
          <a:p>
            <a:r>
              <a:rPr lang="en-US" dirty="0"/>
              <a:t>DS-05 to DS-08: reconnection, cost and budget alerts, user warnings, ≤ 2 s fail-safe.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0:25</a:t>
            </a:r>
          </a:p>
          <a:p>
            <a:r>
              <a:rPr lang="en-US" dirty="0"/>
              <a:t>The warning behaviour: outside 120 / 80 % of baseline for ≥ 5 s → warn within 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944398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0:20</a:t>
            </a:r>
          </a:p>
          <a:p>
            <a:r>
              <a:rPr lang="en-US" dirty="0"/>
              <a:t>Constraints C-01 to C-06: budget, single-phase scope, lab power, schedule, no appliance modification, supervised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0:20</a:t>
            </a:r>
          </a:p>
          <a:p>
            <a:r>
              <a:rPr lang="en-US" dirty="0"/>
              <a:t>Standards we follow for guidance: IEC 60730-1, IEC 62053-21, SBC 401, GSO low-voltage regulation.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0:20</a:t>
            </a:r>
          </a:p>
          <a:p>
            <a:r>
              <a:rPr lang="en-US" dirty="0"/>
              <a:t>Assumptions behind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0:20</a:t>
            </a:r>
          </a:p>
          <a:p>
            <a:r>
              <a:rPr lang="en-US" dirty="0"/>
              <a:t>Five deliverables: prototype, test bench, firmware and UI, validation results,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⏱ 0:15</a:t>
            </a:r>
          </a:p>
          <a:p>
            <a:r>
              <a:rPr lang="en-US" dirty="0"/>
              <a:t>Close. The summary and the priority-control demo loop on their own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7.xml"/><Relationship Id="rIdN" Type="http://schemas.openxmlformats.org/officeDocument/2006/relationships/notesSlide" Target="../notesSlides/notesSlide4.xml"/><Relationship Id="rIdM" Type="http://schemas.microsoft.com/office/2007/relationships/media" Target="../media/media9.mp4"/><Relationship Id="rIdV" Type="http://schemas.openxmlformats.org/officeDocument/2006/relationships/video" Target="../media/media9.mp4"/><Relationship Id="rIdP" Type="http://schemas.openxmlformats.org/officeDocument/2006/relationships/image" Target="../media/image66.png"/></Relationships>
</file>

<file path=ppt/slides/_rels/slide5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7.xml"/><Relationship Id="rIdN" Type="http://schemas.openxmlformats.org/officeDocument/2006/relationships/notesSlide" Target="../notesSlides/notesSlide5.xml"/><Relationship Id="rIdI0" Type="http://schemas.openxmlformats.org/officeDocument/2006/relationships/image" Target="../media/image16.png"/><Relationship Id="rIdI1" Type="http://schemas.openxmlformats.org/officeDocument/2006/relationships/image" Target="../media/image17.png"/><Relationship Id="rIdI2" Type="http://schemas.openxmlformats.org/officeDocument/2006/relationships/image" Target="../media/image44.png"/></Relationships>
</file>

<file path=ppt/slides/_rels/slide7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7.xml"/><Relationship Id="rIdN" Type="http://schemas.openxmlformats.org/officeDocument/2006/relationships/notesSlide" Target="../notesSlides/notesSlide7.xml"/><Relationship Id="rIdI0" Type="http://schemas.openxmlformats.org/officeDocument/2006/relationships/image" Target="../media/image13.png"/><Relationship Id="rIdI1" Type="http://schemas.openxmlformats.org/officeDocument/2006/relationships/image" Target="../media/image28.png"/><Relationship Id="rIdI2" Type="http://schemas.openxmlformats.org/officeDocument/2006/relationships/image" Target="../media/image21.png"/></Relationships>
</file>

<file path=ppt/slides/_rels/slide10.xml.rels><?xml version="1.0" encoding="UTF-8" standalone="yes"?>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9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X0" Type="http://schemas.openxmlformats.org/officeDocument/2006/relationships/image" Target="../media/image29.png"/><Relationship Id="rIdX1" Type="http://schemas.openxmlformats.org/officeDocument/2006/relationships/image" Target="../media/image30.png"/><Relationship Id="rIdX2" Type="http://schemas.openxmlformats.org/officeDocument/2006/relationships/image" Target="../media/image21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A0" Type="http://schemas.openxmlformats.org/officeDocument/2006/relationships/image" Target="../media/image32.png"/><Relationship Id="rIdA1" Type="http://schemas.openxmlformats.org/officeDocument/2006/relationships/image" Target="../media/image33.png"/><Relationship Id="rIdA2" Type="http://schemas.openxmlformats.org/officeDocument/2006/relationships/image" Target="../media/image34.png"/><Relationship Id="rIdA3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58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S0" Type="http://schemas.openxmlformats.org/officeDocument/2006/relationships/image" Target="../media/image68.png"/><Relationship Id="rIdS1" Type="http://schemas.openxmlformats.org/officeDocument/2006/relationships/image" Target="../media/image69.png"/><Relationship Id="rIdS2" Type="http://schemas.openxmlformats.org/officeDocument/2006/relationships/image" Target="../media/image70.png"/><Relationship Id="rIdS3" Type="http://schemas.openxmlformats.org/officeDocument/2006/relationships/image" Target="../media/image7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5.png"/><Relationship Id="rId4" Type="http://schemas.openxmlformats.org/officeDocument/2006/relationships/image" Target="../media/image59.png"/></Relationships>
</file>

<file path=ppt/slides/_rels/slide29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7.xml"/><Relationship Id="rIdN" Type="http://schemas.openxmlformats.org/officeDocument/2006/relationships/notesSlide" Target="../notesSlides/notesSlide29.xml"/><Relationship Id="rId1" Type="http://schemas.microsoft.com/office/2007/relationships/media" Target="../media/media7.mp4"/><Relationship Id="rId2" Type="http://schemas.openxmlformats.org/officeDocument/2006/relationships/video" Target="../media/media7.mp4"/><Relationship Id="rId5" Type="http://schemas.openxmlformats.org/officeDocument/2006/relationships/image" Target="../media/image64.png"/><Relationship Id="rIdSM" Type="http://schemas.microsoft.com/office/2007/relationships/media" Target="../media/media10.mp4"/><Relationship Id="rIdSV" Type="http://schemas.openxmlformats.org/officeDocument/2006/relationships/video" Target="../media/media10.mp4"/><Relationship Id="rIdSP" Type="http://schemas.openxmlformats.org/officeDocument/2006/relationships/image" Target="../media/image67.png"/><Relationship Id="rIdPM" Type="http://schemas.microsoft.com/office/2007/relationships/media" Target="../media/media8.mp4"/><Relationship Id="rIdPV" Type="http://schemas.openxmlformats.org/officeDocument/2006/relationships/video" Target="../media/media8.mp4"/><Relationship Id="rIdPP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img" descr="L_city_last.jp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512" y="0"/>
            <a:ext cx="12191695" cy="6858000"/>
          </a:xfrm>
          <a:prstGeom prst="rect">
            <a:avLst/>
          </a:prstGeom>
        </p:spPr>
      </p:pic>
      <p:sp>
        <p:nvSpPr>
          <p:cNvPr id="3" name="veil"/>
          <p:cNvSpPr/>
          <p:nvPr/>
        </p:nvSpPr>
        <p:spPr>
          <a:xfrm>
            <a:off x="25552" y="10160"/>
            <a:ext cx="12420295" cy="6858000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logo_bg"/>
          <p:cNvSpPr/>
          <p:nvPr/>
        </p:nvSpPr>
        <p:spPr>
          <a:xfrm>
            <a:off x="822960" y="640080"/>
            <a:ext cx="960120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logo" descr="t15_Pictur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685800"/>
            <a:ext cx="868680" cy="868680"/>
          </a:xfrm>
          <a:prstGeom prst="rect">
            <a:avLst/>
          </a:prstGeom>
        </p:spPr>
      </p:pic>
      <p:sp>
        <p:nvSpPr>
          <p:cNvPr id="6" name="kick"/>
          <p:cNvSpPr txBox="1"/>
          <p:nvPr/>
        </p:nvSpPr>
        <p:spPr>
          <a:xfrm>
            <a:off x="2011680" y="749808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300">
                <a:solidFill>
                  <a:srgbClr val="B45309"/>
                </a:solidFill>
                <a:latin typeface="Segoe UI Semibold"/>
              </a:rPr>
              <a:t>EE499  SENIOR DESIGN PROJECT</a:t>
            </a:r>
          </a:p>
          <a:p>
            <a:pPr algn="l"/>
            <a:r>
              <a:rPr sz="1600" b="0" i="0">
                <a:solidFill>
                  <a:srgbClr val="5B6B7F"/>
                </a:solidFill>
                <a:latin typeface="Segoe UI"/>
              </a:rPr>
              <a:t>Report 1 — Problem &amp; Design Requirements</a:t>
            </a:r>
          </a:p>
        </p:txBody>
      </p:sp>
      <p:sp>
        <p:nvSpPr>
          <p:cNvPr id="7" name="t1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0" i="0">
                <a:solidFill>
                  <a:srgbClr val="0E1B2C"/>
                </a:solidFill>
                <a:latin typeface="Bahnschrift SemiBold"/>
              </a:rPr>
              <a:t>Smart Home Energy Management</a:t>
            </a:r>
          </a:p>
        </p:txBody>
      </p:sp>
      <p:sp>
        <p:nvSpPr>
          <p:cNvPr id="8" name="t2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 i="0">
                <a:solidFill>
                  <a:srgbClr val="B45309"/>
                </a:solidFill>
                <a:latin typeface="Bahnschrift SemiBold"/>
              </a:rPr>
              <a:t>with Priority-Based Load Control</a:t>
            </a:r>
          </a:p>
        </p:txBody>
      </p:sp>
      <p:sp>
        <p:nvSpPr>
          <p:cNvPr id="9" name="tm_k"/>
          <p:cNvSpPr txBox="1"/>
          <p:nvPr/>
        </p:nvSpPr>
        <p:spPr>
          <a:xfrm>
            <a:off x="822960" y="41148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300" dirty="0">
                <a:solidFill>
                  <a:srgbClr val="B45309"/>
                </a:solidFill>
                <a:latin typeface="Segoe UI Semibold"/>
              </a:rPr>
              <a:t>TEAM 16</a:t>
            </a:r>
          </a:p>
        </p:txBody>
      </p:sp>
      <p:sp>
        <p:nvSpPr>
          <p:cNvPr id="10" name="tm"/>
          <p:cNvSpPr txBox="1"/>
          <p:nvPr/>
        </p:nvSpPr>
        <p:spPr>
          <a:xfrm>
            <a:off x="822960" y="4545618"/>
            <a:ext cx="5120640" cy="1118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/>
              </a:rPr>
              <a:t>Ali </a:t>
            </a:r>
            <a:r>
              <a:rPr sz="22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/>
              </a:rPr>
              <a:t>Khudhayr</a:t>
            </a:r>
            <a:r>
              <a:rPr sz="17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    </a:t>
            </a:r>
            <a:r>
              <a:rPr lang="en-US" sz="17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		 </a:t>
            </a:r>
            <a:r>
              <a:rPr sz="17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2343192  ·  PME</a:t>
            </a:r>
          </a:p>
          <a:p>
            <a:pPr algn="l">
              <a:spcAft>
                <a:spcPts val="400"/>
              </a:spcAft>
            </a:pPr>
            <a:r>
              <a:rPr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/>
              </a:rPr>
              <a:t>Mohammad Kassem</a:t>
            </a:r>
            <a:r>
              <a:rPr sz="17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    </a:t>
            </a:r>
            <a:r>
              <a:rPr sz="17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2364954  ·  PME</a:t>
            </a:r>
          </a:p>
          <a:p>
            <a:pPr algn="l">
              <a:spcAft>
                <a:spcPts val="400"/>
              </a:spcAft>
            </a:pPr>
            <a:r>
              <a:rPr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/>
              </a:rPr>
              <a:t>Omar </a:t>
            </a:r>
            <a:r>
              <a:rPr sz="22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/>
              </a:rPr>
              <a:t>Baflah</a:t>
            </a:r>
            <a:r>
              <a:rPr sz="17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   </a:t>
            </a:r>
            <a:r>
              <a:rPr lang="en-US" sz="17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			</a:t>
            </a:r>
            <a:r>
              <a:rPr sz="17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 </a:t>
            </a:r>
            <a:r>
              <a:rPr sz="17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2343198  ·  PME</a:t>
            </a:r>
          </a:p>
        </p:txBody>
      </p:sp>
      <p:sp>
        <p:nvSpPr>
          <p:cNvPr id="11" name="ad_k"/>
          <p:cNvSpPr txBox="1"/>
          <p:nvPr/>
        </p:nvSpPr>
        <p:spPr>
          <a:xfrm>
            <a:off x="6781647" y="39547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300" dirty="0">
                <a:solidFill>
                  <a:srgbClr val="B45309"/>
                </a:solidFill>
                <a:latin typeface="Segoe UI Semibold"/>
              </a:rPr>
              <a:t>ADVISOR &amp; CUSTOMER</a:t>
            </a:r>
          </a:p>
        </p:txBody>
      </p:sp>
      <p:sp>
        <p:nvSpPr>
          <p:cNvPr id="12" name="ad"/>
          <p:cNvSpPr txBox="1"/>
          <p:nvPr/>
        </p:nvSpPr>
        <p:spPr>
          <a:xfrm>
            <a:off x="6690207" y="4545618"/>
            <a:ext cx="4754880" cy="964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/>
              </a:rPr>
              <a:t>Dr. Fahd Hariri</a:t>
            </a:r>
          </a:p>
          <a:p>
            <a:pPr algn="l">
              <a:spcAft>
                <a:spcPts val="400"/>
              </a:spcAft>
            </a:pPr>
            <a:r>
              <a:rPr sz="1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Electrical and Computer Engineering</a:t>
            </a:r>
          </a:p>
          <a:p>
            <a:pPr algn="l">
              <a:spcAft>
                <a:spcPts val="400"/>
              </a:spcAft>
            </a:pPr>
            <a:r>
              <a:rPr sz="1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King </a:t>
            </a:r>
            <a:r>
              <a:rPr sz="1600" b="1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Abdulaziz</a:t>
            </a:r>
            <a:r>
              <a:rPr sz="1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 University  ·  Fall 2026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379083"/>
            <a:ext cx="914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C9FD8606-9EC6-40DF-B543-70B6785DA114}" type="slidenum">
              <a:rPr lang="en-US" sz="1100" b="0" i="0" dirty="0">
                <a:solidFill>
                  <a:srgbClr val="5B6B7F"/>
                </a:solidFill>
                <a:latin typeface="Bahnschrift"/>
              </a:rPr>
              <a:t>3</a:t>
            </a:fld>
            <a:endParaRPr sz="1100" b="0" i="0" dirty="0">
              <a:solidFill>
                <a:srgbClr val="5B6B7F"/>
              </a:solidFill>
              <a:latin typeface="Bahnschrift"/>
            </a:endParaRPr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AGENDA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What we will cover</a:t>
            </a:r>
          </a:p>
        </p:txBody>
      </p:sp>
      <p:grpSp>
        <p:nvGrpSpPr>
          <p:cNvPr id="10" name="tile0"/>
          <p:cNvGrpSpPr/>
          <p:nvPr/>
        </p:nvGrpSpPr>
        <p:grpSpPr>
          <a:xfrm>
            <a:off x="685800" y="2194560"/>
            <a:ext cx="2542032" cy="2926080"/>
            <a:chOff x="685800" y="2194560"/>
            <a:chExt cx="2542032" cy="2926080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2194560"/>
              <a:ext cx="2542032" cy="2926080"/>
            </a:xfrm>
            <a:prstGeom prst="roundRect">
              <a:avLst>
                <a:gd name="adj" fmla="val 7913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Oval 6"/>
            <p:cNvSpPr/>
            <p:nvPr/>
          </p:nvSpPr>
          <p:spPr>
            <a:xfrm>
              <a:off x="1005840" y="2514600"/>
              <a:ext cx="868680" cy="86868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8" name="Picture 7" descr="home_whit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8720" y="2697480"/>
              <a:ext cx="502920" cy="50292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05840" y="3931920"/>
              <a:ext cx="214884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Introduction</a:t>
              </a:r>
            </a:p>
          </p:txBody>
        </p:sp>
      </p:grpSp>
      <p:sp>
        <p:nvSpPr>
          <p:cNvPr id="11" name="!!sec1"/>
          <p:cNvSpPr txBox="1"/>
          <p:nvPr/>
        </p:nvSpPr>
        <p:spPr>
          <a:xfrm>
            <a:off x="2103120" y="25146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4000" b="0" i="0">
                <a:solidFill>
                  <a:srgbClr val="B45309"/>
                </a:solidFill>
                <a:latin typeface="Bahnschrift SemiBold"/>
              </a:rPr>
              <a:t>01</a:t>
            </a:r>
          </a:p>
        </p:txBody>
      </p:sp>
      <p:grpSp>
        <p:nvGrpSpPr>
          <p:cNvPr id="16" name="tile1"/>
          <p:cNvGrpSpPr/>
          <p:nvPr/>
        </p:nvGrpSpPr>
        <p:grpSpPr>
          <a:xfrm>
            <a:off x="3456432" y="2194560"/>
            <a:ext cx="2542032" cy="2926080"/>
            <a:chOff x="3456432" y="2194560"/>
            <a:chExt cx="2542032" cy="2926080"/>
          </a:xfrm>
        </p:grpSpPr>
        <p:sp>
          <p:nvSpPr>
            <p:cNvPr id="12" name="Rounded Rectangle 11"/>
            <p:cNvSpPr/>
            <p:nvPr/>
          </p:nvSpPr>
          <p:spPr>
            <a:xfrm>
              <a:off x="3456432" y="2194560"/>
              <a:ext cx="2542032" cy="2926080"/>
            </a:xfrm>
            <a:prstGeom prst="roundRect">
              <a:avLst>
                <a:gd name="adj" fmla="val 7913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" name="Oval 12"/>
            <p:cNvSpPr/>
            <p:nvPr/>
          </p:nvSpPr>
          <p:spPr>
            <a:xfrm>
              <a:off x="3776472" y="2514600"/>
              <a:ext cx="868680" cy="86868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4" name="Picture 13" descr="warning_whit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9352" y="2697480"/>
              <a:ext cx="502920" cy="50292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3776472" y="3931920"/>
              <a:ext cx="214884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Problem Statement</a:t>
              </a:r>
            </a:p>
          </p:txBody>
        </p:sp>
      </p:grpSp>
      <p:sp>
        <p:nvSpPr>
          <p:cNvPr id="17" name="!!sec2"/>
          <p:cNvSpPr txBox="1"/>
          <p:nvPr/>
        </p:nvSpPr>
        <p:spPr>
          <a:xfrm>
            <a:off x="4873752" y="25146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4000" b="0" i="0">
                <a:solidFill>
                  <a:srgbClr val="B45309"/>
                </a:solidFill>
                <a:latin typeface="Bahnschrift SemiBold"/>
              </a:rPr>
              <a:t>02</a:t>
            </a:r>
          </a:p>
        </p:txBody>
      </p:sp>
      <p:grpSp>
        <p:nvGrpSpPr>
          <p:cNvPr id="22" name="tile2"/>
          <p:cNvGrpSpPr/>
          <p:nvPr/>
        </p:nvGrpSpPr>
        <p:grpSpPr>
          <a:xfrm>
            <a:off x="6227064" y="2194560"/>
            <a:ext cx="2542032" cy="2926080"/>
            <a:chOff x="6227064" y="2194560"/>
            <a:chExt cx="2542032" cy="2926080"/>
          </a:xfrm>
        </p:grpSpPr>
        <p:sp>
          <p:nvSpPr>
            <p:cNvPr id="18" name="Rounded Rectangle 17"/>
            <p:cNvSpPr/>
            <p:nvPr/>
          </p:nvSpPr>
          <p:spPr>
            <a:xfrm>
              <a:off x="6227064" y="2194560"/>
              <a:ext cx="2542032" cy="2926080"/>
            </a:xfrm>
            <a:prstGeom prst="roundRect">
              <a:avLst>
                <a:gd name="adj" fmla="val 7913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9" name="Oval 18"/>
            <p:cNvSpPr/>
            <p:nvPr/>
          </p:nvSpPr>
          <p:spPr>
            <a:xfrm>
              <a:off x="6547103" y="2514600"/>
              <a:ext cx="868680" cy="86868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0" name="Picture 19" descr="target_whit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29983" y="2697480"/>
              <a:ext cx="502920" cy="50292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6547103" y="3931920"/>
              <a:ext cx="214884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Objectives</a:t>
              </a:r>
            </a:p>
          </p:txBody>
        </p:sp>
      </p:grpSp>
      <p:sp>
        <p:nvSpPr>
          <p:cNvPr id="23" name="!!sec3"/>
          <p:cNvSpPr txBox="1"/>
          <p:nvPr/>
        </p:nvSpPr>
        <p:spPr>
          <a:xfrm>
            <a:off x="7644383" y="25146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4000" b="0" i="0">
                <a:solidFill>
                  <a:srgbClr val="B45309"/>
                </a:solidFill>
                <a:latin typeface="Bahnschrift SemiBold"/>
              </a:rPr>
              <a:t>03</a:t>
            </a:r>
          </a:p>
        </p:txBody>
      </p:sp>
      <p:grpSp>
        <p:nvGrpSpPr>
          <p:cNvPr id="28" name="tile3"/>
          <p:cNvGrpSpPr/>
          <p:nvPr/>
        </p:nvGrpSpPr>
        <p:grpSpPr>
          <a:xfrm>
            <a:off x="8997696" y="2194560"/>
            <a:ext cx="2542032" cy="2926080"/>
            <a:chOff x="8997696" y="2194560"/>
            <a:chExt cx="2542032" cy="2926080"/>
          </a:xfrm>
        </p:grpSpPr>
        <p:sp>
          <p:nvSpPr>
            <p:cNvPr id="24" name="Rounded Rectangle 23"/>
            <p:cNvSpPr/>
            <p:nvPr/>
          </p:nvSpPr>
          <p:spPr>
            <a:xfrm>
              <a:off x="8997696" y="2194560"/>
              <a:ext cx="2542032" cy="2926080"/>
            </a:xfrm>
            <a:prstGeom prst="roundRect">
              <a:avLst>
                <a:gd name="adj" fmla="val 7913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5" name="Oval 24"/>
            <p:cNvSpPr/>
            <p:nvPr/>
          </p:nvSpPr>
          <p:spPr>
            <a:xfrm>
              <a:off x="9317736" y="2514600"/>
              <a:ext cx="868680" cy="86868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6" name="Picture 25" descr="checklist_whit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00616" y="2697480"/>
              <a:ext cx="502920" cy="50292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9317736" y="3931920"/>
              <a:ext cx="214884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Design Requirements</a:t>
              </a:r>
            </a:p>
          </p:txBody>
        </p:sp>
      </p:grpSp>
      <p:sp>
        <p:nvSpPr>
          <p:cNvPr id="29" name="!!sec4"/>
          <p:cNvSpPr txBox="1"/>
          <p:nvPr/>
        </p:nvSpPr>
        <p:spPr>
          <a:xfrm>
            <a:off x="10415016" y="25146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4000" b="0" i="0">
                <a:solidFill>
                  <a:srgbClr val="B45309"/>
                </a:solidFill>
                <a:latin typeface="Bahnschrift Semi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8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ec1"/>
          <p:cNvSpPr txBox="1"/>
          <p:nvPr/>
        </p:nvSpPr>
        <p:spPr>
          <a:xfrm>
            <a:off x="822960" y="91440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0" b="0" i="0" dirty="0">
                <a:solidFill>
                  <a:srgbClr val="B45309"/>
                </a:solidFill>
                <a:latin typeface="Bahnschrift SemiBold"/>
              </a:rPr>
              <a:t>01</a:t>
            </a:r>
          </a:p>
        </p:txBody>
      </p:sp>
      <p:sp>
        <p:nvSpPr>
          <p:cNvPr id="3" name="dt"/>
          <p:cNvSpPr txBox="1"/>
          <p:nvPr/>
        </p:nvSpPr>
        <p:spPr>
          <a:xfrm>
            <a:off x="822960" y="34290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0" i="0" dirty="0">
                <a:solidFill>
                  <a:srgbClr val="0E1B2C"/>
                </a:solidFill>
                <a:latin typeface="Bahnschrift SemiBold"/>
              </a:rPr>
              <a:t>Introduction</a:t>
            </a:r>
          </a:p>
        </p:txBody>
      </p:sp>
      <p:sp>
        <p:nvSpPr>
          <p:cNvPr id="4" name="ds"/>
          <p:cNvSpPr txBox="1"/>
          <p:nvPr/>
        </p:nvSpPr>
        <p:spPr>
          <a:xfrm>
            <a:off x="822960" y="44348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5B6B7F"/>
                </a:solidFill>
                <a:latin typeface="Segoe UI"/>
              </a:rPr>
              <a:t>Why household energy needs managing</a:t>
            </a:r>
          </a:p>
        </p:txBody>
      </p:sp>
      <p:pic>
        <p:nvPicPr>
          <p:cNvPr id="5" name="dicon" descr="home_s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463040"/>
            <a:ext cx="3108960" cy="3108960"/>
          </a:xfrm>
          <a:prstGeom prst="rect">
            <a:avLst/>
          </a:prstGeom>
        </p:spPr>
      </p:pic>
      <p:sp>
        <p:nvSpPr>
          <p:cNvPr id="6" name="rail0"/>
          <p:cNvSpPr txBox="1"/>
          <p:nvPr/>
        </p:nvSpPr>
        <p:spPr>
          <a:xfrm>
            <a:off x="82296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45309"/>
                </a:solidFill>
                <a:latin typeface="Bahnschrift SemiBold"/>
              </a:rPr>
              <a:t>01</a:t>
            </a:r>
          </a:p>
        </p:txBody>
      </p:sp>
      <p:sp>
        <p:nvSpPr>
          <p:cNvPr id="7" name="rail1"/>
          <p:cNvSpPr txBox="1"/>
          <p:nvPr/>
        </p:nvSpPr>
        <p:spPr>
          <a:xfrm>
            <a:off x="160020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02</a:t>
            </a:r>
          </a:p>
        </p:txBody>
      </p:sp>
      <p:sp>
        <p:nvSpPr>
          <p:cNvPr id="8" name="rail2"/>
          <p:cNvSpPr txBox="1"/>
          <p:nvPr/>
        </p:nvSpPr>
        <p:spPr>
          <a:xfrm>
            <a:off x="237744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03</a:t>
            </a:r>
          </a:p>
        </p:txBody>
      </p:sp>
      <p:sp>
        <p:nvSpPr>
          <p:cNvPr id="9" name="rail3"/>
          <p:cNvSpPr txBox="1"/>
          <p:nvPr/>
        </p:nvSpPr>
        <p:spPr>
          <a:xfrm>
            <a:off x="3154679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_intro" descr="Opening: tower windows spell the team names and university IDs">
            <a:hlinkClick r:id="" action="ppaction://media"/>
          </p:cNvPr>
          <p:cNvPicPr>
            <a:picLocks noChangeAspect="1"/>
          </p:cNvPicPr>
          <p:nvPr>
            <a:videoFile r:link="rIdV"/>
            <p:extLst>
              <p:ext uri="{DAA4B4D4-6D71-4841-9C94-3DE7FCFB9230}">
                <p14:media xmlns:p14="http://schemas.microsoft.com/office/powerpoint/2010/main" r:embed="rIdM"/>
              </p:ext>
            </p:extLst>
          </p:nvPr>
        </p:nvPicPr>
        <p:blipFill>
          <a:blip r:embed="rIdP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" dur="112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6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i="0" dirty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2284E7FD-955E-40B1-AA08-3BBC943646A1}" type="slidenum">
              <a:rPr lang="en-US" sz="1100" b="0" i="0">
                <a:solidFill>
                  <a:srgbClr val="5B6B7F"/>
                </a:solidFill>
                <a:latin typeface="Bahnschrift"/>
              </a:rPr>
              <a:t>5</a:t>
            </a:fld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0" i="0" spc="250" dirty="0">
                <a:solidFill>
                  <a:srgbClr val="B45309"/>
                </a:solidFill>
                <a:latin typeface="Segoe UI Semibold"/>
              </a:rPr>
              <a:t>01 · INTRODUCTION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0" i="0" dirty="0">
                <a:solidFill>
                  <a:srgbClr val="0E1B2C"/>
                </a:solidFill>
                <a:latin typeface="Bahnschrift SemiBold"/>
              </a:rPr>
              <a:t>Where household electricity goes</a:t>
            </a:r>
          </a:p>
        </p:txBody>
      </p:sp>
      <p:grpSp>
        <p:nvGrpSpPr>
          <p:cNvPr id="10" name="stat0"/>
          <p:cNvGrpSpPr/>
          <p:nvPr/>
        </p:nvGrpSpPr>
        <p:grpSpPr>
          <a:xfrm>
            <a:off x="685800" y="1783080"/>
            <a:ext cx="3422904" cy="3794760"/>
            <a:chOff x="685800" y="1783080"/>
            <a:chExt cx="3422904" cy="3794760"/>
          </a:xfrm>
        </p:grpSpPr>
        <p:sp>
          <p:nvSpPr>
            <p:cNvPr id="11" name="card0"/>
            <p:cNvSpPr/>
            <p:nvPr/>
          </p:nvSpPr>
          <p:spPr>
            <a:xfrm>
              <a:off x="685800" y="1783080"/>
              <a:ext cx="3422904" cy="3794760"/>
            </a:xfrm>
            <a:prstGeom prst="roundRect">
              <a:avLst>
                <a:gd name="adj" fmla="val 666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oval0"/>
            <p:cNvSpPr/>
            <p:nvPr/>
          </p:nvSpPr>
          <p:spPr>
            <a:xfrm>
              <a:off x="1005840" y="2103120"/>
              <a:ext cx="777240" cy="77724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pic>
          <p:nvPicPr>
            <p:cNvPr id="13" name="icon0" descr="home_amberd.png"/>
            <p:cNvPicPr>
              <a:picLocks noChangeAspect="1"/>
            </p:cNvPicPr>
            <p:nvPr/>
          </p:nvPicPr>
          <p:blipFill>
            <a:blip r:embed="rIdI0"/>
            <a:stretch>
              <a:fillRect/>
            </a:stretch>
          </p:blipFill>
          <p:spPr>
            <a:xfrm>
              <a:off x="1175004" y="2272284"/>
              <a:ext cx="438912" cy="438912"/>
            </a:xfrm>
            <a:prstGeom prst="rect">
              <a:avLst/>
            </a:prstGeom>
          </p:spPr>
        </p:pic>
        <p:sp>
          <p:nvSpPr>
            <p:cNvPr id="14" name="big0"/>
            <p:cNvSpPr txBox="1"/>
            <p:nvPr/>
          </p:nvSpPr>
          <p:spPr>
            <a:xfrm>
              <a:off x="1005840" y="3063240"/>
              <a:ext cx="2874264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5400" b="0" i="0" dirty="0">
                  <a:solidFill>
                    <a:srgbClr val="B45309"/>
                  </a:solidFill>
                  <a:latin typeface="Bahnschrift SemiBold"/>
                </a:rPr>
                <a:t>47 %</a:t>
              </a:r>
            </a:p>
          </p:txBody>
        </p:sp>
        <p:sp>
          <p:nvSpPr>
            <p:cNvPr id="15" name="label0"/>
            <p:cNvSpPr txBox="1"/>
            <p:nvPr/>
          </p:nvSpPr>
          <p:spPr>
            <a:xfrm>
              <a:off x="1005840" y="4069080"/>
              <a:ext cx="2874264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2000" b="0" i="0" dirty="0">
                  <a:solidFill>
                    <a:srgbClr val="0E1B2C"/>
                  </a:solidFill>
                  <a:latin typeface="Segoe UI Semibold"/>
                </a:rPr>
                <a:t>of Saudi electricity → homes</a:t>
              </a:r>
            </a:p>
          </p:txBody>
        </p:sp>
        <p:sp>
          <p:nvSpPr>
            <p:cNvPr id="16" name="sub0"/>
            <p:cNvSpPr txBox="1"/>
            <p:nvPr/>
          </p:nvSpPr>
          <p:spPr>
            <a:xfrm>
              <a:off x="1005840" y="4846320"/>
              <a:ext cx="2874264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500" b="0" i="0" dirty="0">
                  <a:solidFill>
                    <a:srgbClr val="5B6B7F"/>
                  </a:solidFill>
                  <a:latin typeface="Segoe UI"/>
                </a:rPr>
                <a:t>Residential share of national consumption</a:t>
              </a:r>
            </a:p>
          </p:txBody>
        </p:sp>
      </p:grpSp>
      <p:grpSp>
        <p:nvGrpSpPr>
          <p:cNvPr id="20" name="stat1"/>
          <p:cNvGrpSpPr/>
          <p:nvPr/>
        </p:nvGrpSpPr>
        <p:grpSpPr>
          <a:xfrm>
            <a:off x="4383024" y="1783080"/>
            <a:ext cx="3422904" cy="3794760"/>
            <a:chOff x="4383024" y="1783080"/>
            <a:chExt cx="3422904" cy="3794760"/>
          </a:xfrm>
        </p:grpSpPr>
        <p:sp>
          <p:nvSpPr>
            <p:cNvPr id="21" name="card1"/>
            <p:cNvSpPr/>
            <p:nvPr/>
          </p:nvSpPr>
          <p:spPr>
            <a:xfrm>
              <a:off x="4383024" y="1783080"/>
              <a:ext cx="3422904" cy="3794760"/>
            </a:xfrm>
            <a:prstGeom prst="roundRect">
              <a:avLst>
                <a:gd name="adj" fmla="val 666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oval1"/>
            <p:cNvSpPr/>
            <p:nvPr/>
          </p:nvSpPr>
          <p:spPr>
            <a:xfrm>
              <a:off x="4703064" y="2103120"/>
              <a:ext cx="777240" cy="77724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pic>
          <p:nvPicPr>
            <p:cNvPr id="23" name="icon1" descr="ac_amberd.png"/>
            <p:cNvPicPr>
              <a:picLocks noChangeAspect="1"/>
            </p:cNvPicPr>
            <p:nvPr/>
          </p:nvPicPr>
          <p:blipFill>
            <a:blip r:embed="rIdI1"/>
            <a:stretch>
              <a:fillRect/>
            </a:stretch>
          </p:blipFill>
          <p:spPr>
            <a:xfrm>
              <a:off x="4872228" y="2272284"/>
              <a:ext cx="438912" cy="438912"/>
            </a:xfrm>
            <a:prstGeom prst="rect">
              <a:avLst/>
            </a:prstGeom>
          </p:spPr>
        </p:pic>
        <p:sp>
          <p:nvSpPr>
            <p:cNvPr id="24" name="big1"/>
            <p:cNvSpPr txBox="1"/>
            <p:nvPr/>
          </p:nvSpPr>
          <p:spPr>
            <a:xfrm>
              <a:off x="4703064" y="3063240"/>
              <a:ext cx="2874264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5400" b="0" i="0" dirty="0">
                  <a:solidFill>
                    <a:srgbClr val="B45309"/>
                  </a:solidFill>
                  <a:latin typeface="Bahnschrift SemiBold"/>
                </a:rPr>
                <a:t>≈ 70 %</a:t>
              </a:r>
            </a:p>
          </p:txBody>
        </p:sp>
        <p:sp>
          <p:nvSpPr>
            <p:cNvPr id="25" name="label1"/>
            <p:cNvSpPr txBox="1"/>
            <p:nvPr/>
          </p:nvSpPr>
          <p:spPr>
            <a:xfrm>
              <a:off x="4703064" y="4069080"/>
              <a:ext cx="2874264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2000" b="0" i="0" dirty="0">
                  <a:solidFill>
                    <a:srgbClr val="0E1B2C"/>
                  </a:solidFill>
                  <a:latin typeface="Segoe UI Semibold"/>
                </a:rPr>
                <a:t>of home electricity → air-conditioning</a:t>
              </a:r>
            </a:p>
          </p:txBody>
        </p:sp>
        <p:sp>
          <p:nvSpPr>
            <p:cNvPr id="26" name="sub1"/>
            <p:cNvSpPr txBox="1"/>
            <p:nvPr/>
          </p:nvSpPr>
          <p:spPr>
            <a:xfrm>
              <a:off x="4703064" y="4846320"/>
              <a:ext cx="2874264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500" b="0" i="0" dirty="0">
                  <a:solidFill>
                    <a:srgbClr val="5B6B7F"/>
                  </a:solidFill>
                  <a:latin typeface="Segoe UI"/>
                </a:rPr>
                <a:t>Highest share worldwide</a:t>
              </a:r>
            </a:p>
          </p:txBody>
        </p:sp>
      </p:grpSp>
      <p:grpSp>
        <p:nvGrpSpPr>
          <p:cNvPr id="30" name="stat2"/>
          <p:cNvGrpSpPr/>
          <p:nvPr/>
        </p:nvGrpSpPr>
        <p:grpSpPr>
          <a:xfrm>
            <a:off x="8080248" y="1783080"/>
            <a:ext cx="3422904" cy="3794760"/>
            <a:chOff x="8080248" y="1783080"/>
            <a:chExt cx="3422904" cy="3794760"/>
          </a:xfrm>
        </p:grpSpPr>
        <p:sp>
          <p:nvSpPr>
            <p:cNvPr id="31" name="card2"/>
            <p:cNvSpPr/>
            <p:nvPr/>
          </p:nvSpPr>
          <p:spPr>
            <a:xfrm>
              <a:off x="8080248" y="1783080"/>
              <a:ext cx="3422904" cy="3794760"/>
            </a:xfrm>
            <a:prstGeom prst="roundRect">
              <a:avLst>
                <a:gd name="adj" fmla="val 666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oval2"/>
            <p:cNvSpPr/>
            <p:nvPr/>
          </p:nvSpPr>
          <p:spPr>
            <a:xfrm>
              <a:off x="8400288" y="2103120"/>
              <a:ext cx="777240" cy="77724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pic>
          <p:nvPicPr>
            <p:cNvPr id="33" name="icon2" descr="trend_redd.png"/>
            <p:cNvPicPr>
              <a:picLocks noChangeAspect="1"/>
            </p:cNvPicPr>
            <p:nvPr/>
          </p:nvPicPr>
          <p:blipFill>
            <a:blip r:embed="rIdI2"/>
            <a:stretch>
              <a:fillRect/>
            </a:stretch>
          </p:blipFill>
          <p:spPr>
            <a:xfrm>
              <a:off x="8569452" y="2272284"/>
              <a:ext cx="438912" cy="438912"/>
            </a:xfrm>
            <a:prstGeom prst="rect">
              <a:avLst/>
            </a:prstGeom>
          </p:spPr>
        </p:pic>
        <p:sp>
          <p:nvSpPr>
            <p:cNvPr id="34" name="big2"/>
            <p:cNvSpPr txBox="1"/>
            <p:nvPr/>
          </p:nvSpPr>
          <p:spPr>
            <a:xfrm>
              <a:off x="8400288" y="3063240"/>
              <a:ext cx="2874264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5400" b="0" i="0" dirty="0">
                  <a:solidFill>
                    <a:srgbClr val="DC2626"/>
                  </a:solidFill>
                  <a:latin typeface="Bahnschrift SemiBold"/>
                </a:rPr>
                <a:t>+67 %</a:t>
              </a:r>
            </a:p>
          </p:txBody>
        </p:sp>
        <p:sp>
          <p:nvSpPr>
            <p:cNvPr id="35" name="label2"/>
            <p:cNvSpPr txBox="1"/>
            <p:nvPr/>
          </p:nvSpPr>
          <p:spPr>
            <a:xfrm>
              <a:off x="8400288" y="4069080"/>
              <a:ext cx="2874264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2000" b="0" i="0" dirty="0">
                  <a:solidFill>
                    <a:srgbClr val="0E1B2C"/>
                  </a:solidFill>
                  <a:latin typeface="Segoe UI Semibold"/>
                </a:rPr>
                <a:t>per extra kWh above 6,000 kWh / month</a:t>
              </a:r>
            </a:p>
          </p:txBody>
        </p:sp>
        <p:sp>
          <p:nvSpPr>
            <p:cNvPr id="36" name="sub2"/>
            <p:cNvSpPr txBox="1"/>
            <p:nvPr/>
          </p:nvSpPr>
          <p:spPr>
            <a:xfrm>
              <a:off x="8400288" y="4846320"/>
              <a:ext cx="2874264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500" b="0" i="0" dirty="0">
                  <a:solidFill>
                    <a:srgbClr val="5B6B7F"/>
                  </a:solidFill>
                  <a:latin typeface="Segoe UI"/>
                </a:rPr>
                <a:t>18 → 30 halalas / kWh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5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i="0" dirty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DBFF5A5C-9412-4BFA-8798-B1C69774FA0C}" type="slidenum">
              <a:rPr lang="en-US" sz="1100" b="0" i="0">
                <a:solidFill>
                  <a:srgbClr val="5B6B7F"/>
                </a:solidFill>
                <a:latin typeface="Bahnschrift"/>
              </a:rPr>
              <a:t>6</a:t>
            </a:fld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0" i="0" spc="250" dirty="0">
                <a:solidFill>
                  <a:srgbClr val="B45309"/>
                </a:solidFill>
                <a:latin typeface="Segoe UI Semibold"/>
              </a:rPr>
              <a:t>01 · INTRODUCTION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0" i="0" dirty="0">
                <a:solidFill>
                  <a:srgbClr val="0E1B2C"/>
                </a:solidFill>
                <a:latin typeface="Bahnschrift SemiBold"/>
              </a:rPr>
              <a:t>What the single total hides</a:t>
            </a:r>
          </a:p>
        </p:txBody>
      </p:sp>
      <p:grpSp>
        <p:nvGrpSpPr>
          <p:cNvPr id="10" name="stat0"/>
          <p:cNvGrpSpPr/>
          <p:nvPr/>
        </p:nvGrpSpPr>
        <p:grpSpPr>
          <a:xfrm>
            <a:off x="685800" y="1783080"/>
            <a:ext cx="3422904" cy="3794760"/>
            <a:chOff x="685800" y="1783080"/>
            <a:chExt cx="3422904" cy="3794760"/>
          </a:xfrm>
        </p:grpSpPr>
        <p:sp>
          <p:nvSpPr>
            <p:cNvPr id="11" name="card0"/>
            <p:cNvSpPr/>
            <p:nvPr/>
          </p:nvSpPr>
          <p:spPr>
            <a:xfrm>
              <a:off x="685800" y="1783080"/>
              <a:ext cx="3422904" cy="3794760"/>
            </a:xfrm>
            <a:prstGeom prst="roundRect">
              <a:avLst>
                <a:gd name="adj" fmla="val 666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oval0"/>
            <p:cNvSpPr/>
            <p:nvPr/>
          </p:nvSpPr>
          <p:spPr>
            <a:xfrm>
              <a:off x="1005840" y="2103120"/>
              <a:ext cx="777240" cy="77724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pic>
          <p:nvPicPr>
            <p:cNvPr id="13" name="icon0" descr="chart_teald.png"/>
            <p:cNvPicPr>
              <a:picLocks noChangeAspect="1"/>
            </p:cNvPicPr>
            <p:nvPr/>
          </p:nvPicPr>
          <p:blipFill>
            <a:blip r:embed="rIdI0"/>
            <a:stretch>
              <a:fillRect/>
            </a:stretch>
          </p:blipFill>
          <p:spPr>
            <a:xfrm>
              <a:off x="1175004" y="2272284"/>
              <a:ext cx="438912" cy="438912"/>
            </a:xfrm>
            <a:prstGeom prst="rect">
              <a:avLst/>
            </a:prstGeom>
          </p:spPr>
        </p:pic>
        <p:sp>
          <p:nvSpPr>
            <p:cNvPr id="14" name="big0"/>
            <p:cNvSpPr txBox="1"/>
            <p:nvPr/>
          </p:nvSpPr>
          <p:spPr>
            <a:xfrm>
              <a:off x="1005840" y="3063240"/>
              <a:ext cx="2874264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5400" b="0" i="0" dirty="0">
                  <a:solidFill>
                    <a:srgbClr val="0F766E"/>
                  </a:solidFill>
                  <a:latin typeface="Bahnschrift SemiBold"/>
                </a:rPr>
                <a:t>14 %</a:t>
              </a:r>
            </a:p>
          </p:txBody>
        </p:sp>
        <p:sp>
          <p:nvSpPr>
            <p:cNvPr id="15" name="label0"/>
            <p:cNvSpPr txBox="1"/>
            <p:nvPr/>
          </p:nvSpPr>
          <p:spPr>
            <a:xfrm>
              <a:off x="1005840" y="4069080"/>
              <a:ext cx="2874264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2000" b="0" i="0" dirty="0">
                  <a:solidFill>
                    <a:srgbClr val="0E1B2C"/>
                  </a:solidFill>
                  <a:latin typeface="Segoe UI Semibold"/>
                </a:rPr>
                <a:t>median electricity saved</a:t>
              </a:r>
            </a:p>
          </p:txBody>
        </p:sp>
        <p:sp>
          <p:nvSpPr>
            <p:cNvPr id="16" name="sub0"/>
            <p:cNvSpPr txBox="1"/>
            <p:nvPr/>
          </p:nvSpPr>
          <p:spPr>
            <a:xfrm>
              <a:off x="1005840" y="4846320"/>
              <a:ext cx="2874264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500" b="0" i="0" dirty="0">
                  <a:solidFill>
                    <a:srgbClr val="5B6B7F"/>
                  </a:solidFill>
                  <a:latin typeface="Segoe UI"/>
                </a:rPr>
                <a:t>with real-time, per-appliance feedback</a:t>
              </a:r>
            </a:p>
          </p:txBody>
        </p:sp>
      </p:grpSp>
      <p:grpSp>
        <p:nvGrpSpPr>
          <p:cNvPr id="20" name="stat1"/>
          <p:cNvGrpSpPr/>
          <p:nvPr/>
        </p:nvGrpSpPr>
        <p:grpSpPr>
          <a:xfrm>
            <a:off x="4383024" y="1783080"/>
            <a:ext cx="3422904" cy="3794760"/>
            <a:chOff x="4383024" y="1783080"/>
            <a:chExt cx="3422904" cy="3794760"/>
          </a:xfrm>
        </p:grpSpPr>
        <p:sp>
          <p:nvSpPr>
            <p:cNvPr id="21" name="card1"/>
            <p:cNvSpPr/>
            <p:nvPr/>
          </p:nvSpPr>
          <p:spPr>
            <a:xfrm>
              <a:off x="4383024" y="1783080"/>
              <a:ext cx="3422904" cy="3794760"/>
            </a:xfrm>
            <a:prstGeom prst="roundRect">
              <a:avLst>
                <a:gd name="adj" fmla="val 666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oval1"/>
            <p:cNvSpPr/>
            <p:nvPr/>
          </p:nvSpPr>
          <p:spPr>
            <a:xfrm>
              <a:off x="4703064" y="2103120"/>
              <a:ext cx="777240" cy="77724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pic>
          <p:nvPicPr>
            <p:cNvPr id="23" name="icon1" descr="pulse_amberd.png"/>
            <p:cNvPicPr>
              <a:picLocks noChangeAspect="1"/>
            </p:cNvPicPr>
            <p:nvPr/>
          </p:nvPicPr>
          <p:blipFill>
            <a:blip r:embed="rIdI1"/>
            <a:stretch>
              <a:fillRect/>
            </a:stretch>
          </p:blipFill>
          <p:spPr>
            <a:xfrm>
              <a:off x="4872228" y="2272284"/>
              <a:ext cx="438912" cy="438912"/>
            </a:xfrm>
            <a:prstGeom prst="rect">
              <a:avLst/>
            </a:prstGeom>
          </p:spPr>
        </p:pic>
        <p:sp>
          <p:nvSpPr>
            <p:cNvPr id="24" name="big1"/>
            <p:cNvSpPr txBox="1"/>
            <p:nvPr/>
          </p:nvSpPr>
          <p:spPr>
            <a:xfrm>
              <a:off x="4703064" y="3063240"/>
              <a:ext cx="2874264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5400" b="0" i="0" dirty="0">
                  <a:solidFill>
                    <a:srgbClr val="B45309"/>
                  </a:solidFill>
                  <a:latin typeface="Bahnschrift SemiBold"/>
                </a:rPr>
                <a:t>5–15 %</a:t>
              </a:r>
            </a:p>
          </p:txBody>
        </p:sp>
        <p:sp>
          <p:nvSpPr>
            <p:cNvPr id="25" name="label1"/>
            <p:cNvSpPr txBox="1"/>
            <p:nvPr/>
          </p:nvSpPr>
          <p:spPr>
            <a:xfrm>
              <a:off x="4703064" y="4069080"/>
              <a:ext cx="2874264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2000" b="0" i="0" dirty="0">
                  <a:solidFill>
                    <a:srgbClr val="0E1B2C"/>
                  </a:solidFill>
                  <a:latin typeface="Segoe UI Semibold"/>
                </a:rPr>
                <a:t>extra AC energy from a dirty filter</a:t>
              </a:r>
            </a:p>
          </p:txBody>
        </p:sp>
        <p:sp>
          <p:nvSpPr>
            <p:cNvPr id="26" name="sub1"/>
            <p:cNvSpPr txBox="1"/>
            <p:nvPr/>
          </p:nvSpPr>
          <p:spPr>
            <a:xfrm>
              <a:off x="4703064" y="4846320"/>
              <a:ext cx="2874264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500" b="0" i="0" dirty="0">
                  <a:solidFill>
                    <a:srgbClr val="5B6B7F"/>
                  </a:solidFill>
                  <a:latin typeface="Segoe UI"/>
                </a:rPr>
                <a:t>Hidden in the total — visible per appliance</a:t>
              </a:r>
            </a:p>
          </p:txBody>
        </p:sp>
      </p:grpSp>
      <p:grpSp>
        <p:nvGrpSpPr>
          <p:cNvPr id="30" name="stat2"/>
          <p:cNvGrpSpPr/>
          <p:nvPr/>
        </p:nvGrpSpPr>
        <p:grpSpPr>
          <a:xfrm>
            <a:off x="8080248" y="1783080"/>
            <a:ext cx="3422904" cy="3794760"/>
            <a:chOff x="8080248" y="1783080"/>
            <a:chExt cx="3422904" cy="3794760"/>
          </a:xfrm>
        </p:grpSpPr>
        <p:sp>
          <p:nvSpPr>
            <p:cNvPr id="31" name="card2"/>
            <p:cNvSpPr/>
            <p:nvPr/>
          </p:nvSpPr>
          <p:spPr>
            <a:xfrm>
              <a:off x="8080248" y="1783080"/>
              <a:ext cx="3422904" cy="3794760"/>
            </a:xfrm>
            <a:prstGeom prst="roundRect">
              <a:avLst>
                <a:gd name="adj" fmla="val 666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oval2"/>
            <p:cNvSpPr/>
            <p:nvPr/>
          </p:nvSpPr>
          <p:spPr>
            <a:xfrm>
              <a:off x="8400288" y="2103120"/>
              <a:ext cx="777240" cy="77724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pic>
          <p:nvPicPr>
            <p:cNvPr id="33" name="icon2" descr="shield_redd.png"/>
            <p:cNvPicPr>
              <a:picLocks noChangeAspect="1"/>
            </p:cNvPicPr>
            <p:nvPr/>
          </p:nvPicPr>
          <p:blipFill>
            <a:blip r:embed="rIdI2"/>
            <a:stretch>
              <a:fillRect/>
            </a:stretch>
          </p:blipFill>
          <p:spPr>
            <a:xfrm>
              <a:off x="8569452" y="2272284"/>
              <a:ext cx="438912" cy="438912"/>
            </a:xfrm>
            <a:prstGeom prst="rect">
              <a:avLst/>
            </a:prstGeom>
          </p:spPr>
        </p:pic>
        <p:sp>
          <p:nvSpPr>
            <p:cNvPr id="34" name="big2"/>
            <p:cNvSpPr txBox="1"/>
            <p:nvPr/>
          </p:nvSpPr>
          <p:spPr>
            <a:xfrm>
              <a:off x="8400288" y="3063240"/>
              <a:ext cx="2874264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5400" b="0" i="0" dirty="0">
                  <a:solidFill>
                    <a:srgbClr val="DC2626"/>
                  </a:solidFill>
                  <a:latin typeface="Bahnschrift SemiBold"/>
                </a:rPr>
                <a:t>≈ 53</a:t>
              </a:r>
            </a:p>
          </p:txBody>
        </p:sp>
        <p:sp>
          <p:nvSpPr>
            <p:cNvPr id="35" name="label2"/>
            <p:cNvSpPr txBox="1"/>
            <p:nvPr/>
          </p:nvSpPr>
          <p:spPr>
            <a:xfrm>
              <a:off x="8400288" y="4069080"/>
              <a:ext cx="2874264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lang="en-US" sz="2000" b="0" i="0" dirty="0">
                  <a:solidFill>
                    <a:srgbClr val="0E1B2C"/>
                  </a:solidFill>
                  <a:latin typeface="Segoe UI Semibold"/>
                </a:rPr>
                <a:t>house fires / day in KSA</a:t>
              </a:r>
            </a:p>
          </p:txBody>
        </p:sp>
        <p:sp>
          <p:nvSpPr>
            <p:cNvPr id="36" name="sub2"/>
            <p:cNvSpPr txBox="1"/>
            <p:nvPr/>
          </p:nvSpPr>
          <p:spPr>
            <a:xfrm>
              <a:off x="8400288" y="4846320"/>
              <a:ext cx="2874264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500" b="0" i="0" dirty="0">
                  <a:solidFill>
                    <a:srgbClr val="5B6B7F"/>
                  </a:solidFill>
                  <a:latin typeface="Segoe UI"/>
                </a:rPr>
                <a:t>#1 cause: electrical incidents</a:t>
              </a:r>
            </a:p>
          </p:txBody>
        </p:sp>
      </p:grpSp>
      <p:sp>
        <p:nvSpPr>
          <p:cNvPr id="50" name="src"/>
          <p:cNvSpPr txBox="1"/>
          <p:nvPr/>
        </p:nvSpPr>
        <p:spPr>
          <a:xfrm>
            <a:off x="685800" y="574243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1" dirty="0">
                <a:solidFill>
                  <a:srgbClr val="5B6B7F"/>
                </a:solidFill>
                <a:latin typeface="Segoe UI"/>
              </a:rPr>
              <a:t>14 %: ACEEE meta-review, 57 studies (2010) — an indication, not a promise.  ·  5–15 %: U.S. DOE, Energy Saver, “Maintaining your air conditioner”.</a:t>
            </a:r>
          </a:p>
          <a:p>
            <a:pPr algn="l"/>
            <a:r>
              <a:rPr lang="en-US" sz="1050" b="0" i="1" dirty="0">
                <a:solidFill>
                  <a:srgbClr val="5B6B7F"/>
                </a:solidFill>
                <a:latin typeface="Segoe UI"/>
              </a:rPr>
              <a:t>53 / day: 193,437 house fires in 10 years (Civil Defense via Arab News, 2015) ÷ 3,650 days.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5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i="0" dirty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91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D5AD1198-C963-434A-B9C4-E8FBB8BE7F21}" type="slidenum">
              <a:rPr lang="en-US" sz="1100" b="0" i="0">
                <a:solidFill>
                  <a:srgbClr val="5B6B7F"/>
                </a:solidFill>
                <a:latin typeface="Bahnschrift"/>
              </a:rPr>
              <a:t>7</a:t>
            </a:fld>
          </a:p>
        </p:txBody>
      </p:sp>
      <p:sp>
        <p:nvSpPr>
          <p:cNvPr id="92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0" i="0" spc="250" dirty="0">
                <a:solidFill>
                  <a:srgbClr val="B45309"/>
                </a:solidFill>
                <a:latin typeface="Segoe UI Semibold"/>
              </a:rPr>
              <a:t>01 · INTRODUCTION</a:t>
            </a:r>
          </a:p>
        </p:txBody>
      </p:sp>
      <p:sp>
        <p:nvSpPr>
          <p:cNvPr id="93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0" i="0" dirty="0">
                <a:solidFill>
                  <a:srgbClr val="0E1B2C"/>
                </a:solidFill>
                <a:latin typeface="Bahnschrift SemiBold"/>
              </a:rPr>
              <a:t>One meter. One number.</a:t>
            </a:r>
          </a:p>
        </p:txBody>
      </p:sp>
      <p:grpSp>
        <p:nvGrpSpPr>
          <p:cNvPr id="8" name="meter"/>
          <p:cNvGrpSpPr/>
          <p:nvPr/>
        </p:nvGrpSpPr>
        <p:grpSpPr>
          <a:xfrm>
            <a:off x="2766060" y="2560320"/>
            <a:ext cx="2057400" cy="2228850"/>
            <a:chOff x="4727448" y="1554480"/>
            <a:chExt cx="2743200" cy="2971800"/>
          </a:xfrm>
        </p:grpSpPr>
        <p:sp>
          <p:nvSpPr>
            <p:cNvPr id="3" name="m_body"/>
            <p:cNvSpPr/>
            <p:nvPr/>
          </p:nvSpPr>
          <p:spPr>
            <a:xfrm>
              <a:off x="4727448" y="1554480"/>
              <a:ext cx="2743200" cy="29718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9050">
              <a:solidFill>
                <a:srgbClr val="DCE3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" name="m_lcd"/>
            <p:cNvSpPr/>
            <p:nvPr/>
          </p:nvSpPr>
          <p:spPr>
            <a:xfrm>
              <a:off x="5001768" y="1874519"/>
              <a:ext cx="2194560" cy="1143000"/>
            </a:xfrm>
            <a:prstGeom prst="roundRect">
              <a:avLst>
                <a:gd name="adj" fmla="val 9600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5" name="m_l1"/>
            <p:cNvSpPr txBox="1"/>
            <p:nvPr/>
          </p:nvSpPr>
          <p:spPr>
            <a:xfrm>
              <a:off x="5001768" y="1947672"/>
              <a:ext cx="219456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600" b="0" i="0" spc="300">
                  <a:solidFill>
                    <a:srgbClr val="7EE2B8"/>
                  </a:solidFill>
                  <a:latin typeface="Segoe UI Semibold"/>
                </a:rPr>
                <a:t>TOTAL</a:t>
              </a:r>
            </a:p>
          </p:txBody>
        </p:sp>
        <p:sp>
          <p:nvSpPr>
            <p:cNvPr id="6" name="m_l2"/>
            <p:cNvSpPr txBox="1"/>
            <p:nvPr/>
          </p:nvSpPr>
          <p:spPr>
            <a:xfrm>
              <a:off x="5001768" y="2258568"/>
              <a:ext cx="2194560" cy="6400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3400" b="0" i="0">
                  <a:solidFill>
                    <a:srgbClr val="7EE2B8"/>
                  </a:solidFill>
                  <a:latin typeface="Bahnschrift SemiBold"/>
                </a:rPr>
                <a:t>kWh</a:t>
              </a:r>
            </a:p>
          </p:txBody>
        </p:sp>
        <p:sp>
          <p:nvSpPr>
            <p:cNvPr id="7" name="m_dial"/>
            <p:cNvSpPr/>
            <p:nvPr/>
          </p:nvSpPr>
          <p:spPr>
            <a:xfrm>
              <a:off x="5824728" y="3383280"/>
              <a:ext cx="548640" cy="548640"/>
            </a:xfrm>
            <a:prstGeom prst="ellipse">
              <a:avLst/>
            </a:prstGeom>
            <a:noFill/>
            <a:ln w="31750">
              <a:solidFill>
                <a:srgbClr val="5B6B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</p:grpSp>
      <p:grpSp>
        <p:nvGrpSpPr>
          <p:cNvPr id="14" name="app0"/>
          <p:cNvGrpSpPr/>
          <p:nvPr/>
        </p:nvGrpSpPr>
        <p:grpSpPr>
          <a:xfrm>
            <a:off x="685800" y="2240280"/>
            <a:ext cx="1851660" cy="1357884"/>
            <a:chOff x="731520" y="1325880"/>
            <a:chExt cx="2468880" cy="1810512"/>
          </a:xfrm>
        </p:grpSpPr>
        <p:sp>
          <p:nvSpPr>
            <p:cNvPr id="9" name="Oval 8"/>
            <p:cNvSpPr/>
            <p:nvPr/>
          </p:nvSpPr>
          <p:spPr>
            <a:xfrm>
              <a:off x="1325880" y="1417320"/>
              <a:ext cx="1280160" cy="1280160"/>
            </a:xfrm>
            <a:prstGeom prst="ellipse">
              <a:avLst/>
            </a:prstGeom>
            <a:solidFill>
              <a:srgbClr val="F1F5F9"/>
            </a:solidFill>
            <a:ln w="19050">
              <a:solidFill>
                <a:srgbClr val="DCE3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0" name="Picture 9" descr="ac_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0200" y="1691640"/>
              <a:ext cx="731520" cy="731520"/>
            </a:xfrm>
            <a:prstGeom prst="rect">
              <a:avLst/>
            </a:prstGeom>
          </p:spPr>
        </p:pic>
        <p:sp>
          <p:nvSpPr>
            <p:cNvPr id="11" name="Oval 10"/>
            <p:cNvSpPr/>
            <p:nvPr/>
          </p:nvSpPr>
          <p:spPr>
            <a:xfrm>
              <a:off x="2286000" y="1325880"/>
              <a:ext cx="502920" cy="50292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86000" y="1353312"/>
              <a:ext cx="5029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?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31520" y="2770632"/>
              <a:ext cx="246888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800" b="0" i="0">
                  <a:solidFill>
                    <a:srgbClr val="5B6B7F"/>
                  </a:solidFill>
                  <a:latin typeface="Segoe UI"/>
                </a:rPr>
                <a:t>Air conditioner</a:t>
              </a:r>
            </a:p>
          </p:txBody>
        </p:sp>
      </p:grpSp>
      <p:grpSp>
        <p:nvGrpSpPr>
          <p:cNvPr id="20" name="app1"/>
          <p:cNvGrpSpPr/>
          <p:nvPr/>
        </p:nvGrpSpPr>
        <p:grpSpPr>
          <a:xfrm>
            <a:off x="685800" y="3927348"/>
            <a:ext cx="1851660" cy="1357884"/>
            <a:chOff x="731520" y="3154679"/>
            <a:chExt cx="2468880" cy="1810512"/>
          </a:xfrm>
        </p:grpSpPr>
        <p:sp>
          <p:nvSpPr>
            <p:cNvPr id="15" name="Oval 14"/>
            <p:cNvSpPr/>
            <p:nvPr/>
          </p:nvSpPr>
          <p:spPr>
            <a:xfrm>
              <a:off x="1325880" y="3246120"/>
              <a:ext cx="1280160" cy="1280160"/>
            </a:xfrm>
            <a:prstGeom prst="ellipse">
              <a:avLst/>
            </a:prstGeom>
            <a:solidFill>
              <a:srgbClr val="F1F5F9"/>
            </a:solidFill>
            <a:ln w="19050">
              <a:solidFill>
                <a:srgbClr val="DCE3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6" name="Picture 15" descr="fridge_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0200" y="3520439"/>
              <a:ext cx="731520" cy="731520"/>
            </a:xfrm>
            <a:prstGeom prst="rect">
              <a:avLst/>
            </a:prstGeom>
          </p:spPr>
        </p:pic>
        <p:sp>
          <p:nvSpPr>
            <p:cNvPr id="17" name="Oval 16"/>
            <p:cNvSpPr/>
            <p:nvPr/>
          </p:nvSpPr>
          <p:spPr>
            <a:xfrm>
              <a:off x="2286000" y="3154679"/>
              <a:ext cx="502920" cy="50292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286000" y="3182112"/>
              <a:ext cx="5029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?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31520" y="4599431"/>
              <a:ext cx="246888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800" b="0" i="0">
                  <a:solidFill>
                    <a:srgbClr val="5B6B7F"/>
                  </a:solidFill>
                  <a:latin typeface="Segoe UI"/>
                </a:rPr>
                <a:t>Refrigerator</a:t>
              </a:r>
            </a:p>
          </p:txBody>
        </p:sp>
      </p:grpSp>
      <p:grpSp>
        <p:nvGrpSpPr>
          <p:cNvPr id="26" name="app2"/>
          <p:cNvGrpSpPr/>
          <p:nvPr/>
        </p:nvGrpSpPr>
        <p:grpSpPr>
          <a:xfrm>
            <a:off x="5052060" y="2240280"/>
            <a:ext cx="1851660" cy="1357884"/>
            <a:chOff x="8988552" y="1325880"/>
            <a:chExt cx="2468880" cy="1810512"/>
          </a:xfrm>
        </p:grpSpPr>
        <p:sp>
          <p:nvSpPr>
            <p:cNvPr id="21" name="Oval 20"/>
            <p:cNvSpPr/>
            <p:nvPr/>
          </p:nvSpPr>
          <p:spPr>
            <a:xfrm>
              <a:off x="9582911" y="1417320"/>
              <a:ext cx="1280160" cy="1280160"/>
            </a:xfrm>
            <a:prstGeom prst="ellipse">
              <a:avLst/>
            </a:prstGeom>
            <a:solidFill>
              <a:srgbClr val="F1F5F9"/>
            </a:solidFill>
            <a:ln w="19050">
              <a:solidFill>
                <a:srgbClr val="DCE3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2" name="Picture 21" descr="heater_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57232" y="1691640"/>
              <a:ext cx="731520" cy="731520"/>
            </a:xfrm>
            <a:prstGeom prst="rect">
              <a:avLst/>
            </a:prstGeom>
          </p:spPr>
        </p:pic>
        <p:sp>
          <p:nvSpPr>
            <p:cNvPr id="23" name="Oval 22"/>
            <p:cNvSpPr/>
            <p:nvPr/>
          </p:nvSpPr>
          <p:spPr>
            <a:xfrm>
              <a:off x="10543032" y="1325880"/>
              <a:ext cx="502920" cy="50292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543032" y="1353312"/>
              <a:ext cx="5029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?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988552" y="2770632"/>
              <a:ext cx="246888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800" b="0" i="0">
                  <a:solidFill>
                    <a:srgbClr val="5B6B7F"/>
                  </a:solidFill>
                  <a:latin typeface="Segoe UI"/>
                </a:rPr>
                <a:t>Water heater</a:t>
              </a:r>
            </a:p>
          </p:txBody>
        </p:sp>
      </p:grpSp>
      <p:grpSp>
        <p:nvGrpSpPr>
          <p:cNvPr id="32" name="app3"/>
          <p:cNvGrpSpPr/>
          <p:nvPr/>
        </p:nvGrpSpPr>
        <p:grpSpPr>
          <a:xfrm>
            <a:off x="5052060" y="3927348"/>
            <a:ext cx="1851660" cy="1357884"/>
            <a:chOff x="8988552" y="3154679"/>
            <a:chExt cx="2468880" cy="1810512"/>
          </a:xfrm>
        </p:grpSpPr>
        <p:sp>
          <p:nvSpPr>
            <p:cNvPr id="27" name="Oval 26"/>
            <p:cNvSpPr/>
            <p:nvPr/>
          </p:nvSpPr>
          <p:spPr>
            <a:xfrm>
              <a:off x="9582911" y="3246120"/>
              <a:ext cx="1280160" cy="1280160"/>
            </a:xfrm>
            <a:prstGeom prst="ellipse">
              <a:avLst/>
            </a:prstGeom>
            <a:solidFill>
              <a:srgbClr val="F1F5F9"/>
            </a:solidFill>
            <a:ln w="19050">
              <a:solidFill>
                <a:srgbClr val="DCE3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8" name="Picture 27" descr="washer_in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57232" y="3520439"/>
              <a:ext cx="731520" cy="731520"/>
            </a:xfrm>
            <a:prstGeom prst="rect">
              <a:avLst/>
            </a:prstGeom>
          </p:spPr>
        </p:pic>
        <p:sp>
          <p:nvSpPr>
            <p:cNvPr id="29" name="Oval 28"/>
            <p:cNvSpPr/>
            <p:nvPr/>
          </p:nvSpPr>
          <p:spPr>
            <a:xfrm>
              <a:off x="10543032" y="3154679"/>
              <a:ext cx="502920" cy="50292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543032" y="3182112"/>
              <a:ext cx="5029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?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988552" y="4599431"/>
              <a:ext cx="246888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800" b="0" i="0">
                  <a:solidFill>
                    <a:srgbClr val="5B6B7F"/>
                  </a:solidFill>
                  <a:latin typeface="Segoe UI"/>
                </a:rPr>
                <a:t>Washing machine</a:t>
              </a:r>
            </a:p>
          </p:txBody>
        </p:sp>
      </p:grpSp>
      <p:grpSp>
        <p:nvGrpSpPr>
          <p:cNvPr id="60" name="need"/>
          <p:cNvGrpSpPr/>
          <p:nvPr/>
        </p:nvGrpSpPr>
        <p:grpSpPr>
          <a:xfrm>
            <a:off x="7178040" y="1783080"/>
            <a:ext cx="4325112" cy="4069080"/>
            <a:chOff x="7178040" y="1783080"/>
            <a:chExt cx="4325112" cy="4069080"/>
          </a:xfrm>
        </p:grpSpPr>
        <p:sp>
          <p:nvSpPr>
            <p:cNvPr id="61" name="need_card"/>
            <p:cNvSpPr/>
            <p:nvPr/>
          </p:nvSpPr>
          <p:spPr>
            <a:xfrm>
              <a:off x="7178040" y="1783080"/>
              <a:ext cx="4325112" cy="4069080"/>
            </a:xfrm>
            <a:prstGeom prst="roundRect">
              <a:avLst>
                <a:gd name="adj" fmla="val 666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need_title"/>
            <p:cNvSpPr txBox="1"/>
            <p:nvPr/>
          </p:nvSpPr>
          <p:spPr>
            <a:xfrm>
              <a:off x="7498080" y="2057400"/>
              <a:ext cx="3776472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2600" b="0" i="0" dirty="0">
                  <a:solidFill>
                    <a:srgbClr val="0E1B2C"/>
                  </a:solidFill>
                  <a:latin typeface="Bahnschrift SemiBold"/>
                </a:rPr>
                <a:t xml:space="preserve">Not a luxury. </a:t>
              </a:r>
              <a:r>
                <a:rPr lang="en-US" sz="2600" b="0" i="0" dirty="0">
                  <a:solidFill>
                    <a:srgbClr val="B45309"/>
                  </a:solidFill>
                  <a:latin typeface="Bahnschrift SemiBold"/>
                </a:rPr>
                <a:t>A need.</a:t>
              </a:r>
            </a:p>
          </p:txBody>
        </p:sp>
        <p:sp>
          <p:nvSpPr>
            <p:cNvPr id="70" name="need_oval0"/>
            <p:cNvSpPr/>
            <p:nvPr/>
          </p:nvSpPr>
          <p:spPr>
            <a:xfrm>
              <a:off x="7498080" y="2788920"/>
              <a:ext cx="685800" cy="6858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pic>
          <p:nvPicPr>
            <p:cNvPr id="71" name="need_icon0" descr="card_amberd.png"/>
            <p:cNvPicPr>
              <a:picLocks noChangeAspect="1"/>
            </p:cNvPicPr>
            <p:nvPr/>
          </p:nvPicPr>
          <p:blipFill>
            <a:blip r:embed="rIdX0"/>
            <a:stretch>
              <a:fillRect/>
            </a:stretch>
          </p:blipFill>
          <p:spPr>
            <a:xfrm>
              <a:off x="7648956" y="2939796"/>
              <a:ext cx="384048" cy="384048"/>
            </a:xfrm>
            <a:prstGeom prst="rect">
              <a:avLst/>
            </a:prstGeom>
          </p:spPr>
        </p:pic>
        <p:sp>
          <p:nvSpPr>
            <p:cNvPr id="72" name="need_t0"/>
            <p:cNvSpPr txBox="1"/>
            <p:nvPr/>
          </p:nvSpPr>
          <p:spPr>
            <a:xfrm>
              <a:off x="8366760" y="2770632"/>
              <a:ext cx="290779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2000" b="0" i="0" dirty="0">
                  <a:solidFill>
                    <a:srgbClr val="0E1B2C"/>
                  </a:solidFill>
                  <a:latin typeface="Bahnschrift SemiBold"/>
                </a:rPr>
                <a:t>Cost</a:t>
              </a:r>
            </a:p>
          </p:txBody>
        </p:sp>
        <p:sp>
          <p:nvSpPr>
            <p:cNvPr id="73" name="need_s0"/>
            <p:cNvSpPr txBox="1"/>
            <p:nvPr/>
          </p:nvSpPr>
          <p:spPr>
            <a:xfrm>
              <a:off x="8366760" y="3136392"/>
              <a:ext cx="2907792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400" b="0" i="0" dirty="0">
                  <a:solidFill>
                    <a:srgbClr val="5B6B7F"/>
                  </a:solidFill>
                  <a:latin typeface="Segoe UI"/>
                </a:rPr>
                <a:t>Which appliance? → see the bill, stay in budget</a:t>
              </a:r>
            </a:p>
          </p:txBody>
        </p:sp>
        <p:sp>
          <p:nvSpPr>
            <p:cNvPr id="75" name="need_oval1"/>
            <p:cNvSpPr/>
            <p:nvPr/>
          </p:nvSpPr>
          <p:spPr>
            <a:xfrm>
              <a:off x="7498080" y="3776472"/>
              <a:ext cx="685800" cy="68580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pic>
          <p:nvPicPr>
            <p:cNvPr id="76" name="need_icon1" descr="power_teald.png"/>
            <p:cNvPicPr>
              <a:picLocks noChangeAspect="1"/>
            </p:cNvPicPr>
            <p:nvPr/>
          </p:nvPicPr>
          <p:blipFill>
            <a:blip r:embed="rIdX1"/>
            <a:stretch>
              <a:fillRect/>
            </a:stretch>
          </p:blipFill>
          <p:spPr>
            <a:xfrm>
              <a:off x="7648956" y="3927348"/>
              <a:ext cx="384048" cy="384048"/>
            </a:xfrm>
            <a:prstGeom prst="rect">
              <a:avLst/>
            </a:prstGeom>
          </p:spPr>
        </p:pic>
        <p:sp>
          <p:nvSpPr>
            <p:cNvPr id="77" name="need_t1"/>
            <p:cNvSpPr txBox="1"/>
            <p:nvPr/>
          </p:nvSpPr>
          <p:spPr>
            <a:xfrm>
              <a:off x="8366760" y="3758184"/>
              <a:ext cx="290779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2000" b="0" i="0" dirty="0">
                  <a:solidFill>
                    <a:srgbClr val="0E1B2C"/>
                  </a:solidFill>
                  <a:latin typeface="Bahnschrift SemiBold"/>
                </a:rPr>
                <a:t>Continuity</a:t>
              </a:r>
            </a:p>
          </p:txBody>
        </p:sp>
        <p:sp>
          <p:nvSpPr>
            <p:cNvPr id="78" name="need_s1"/>
            <p:cNvSpPr txBox="1"/>
            <p:nvPr/>
          </p:nvSpPr>
          <p:spPr>
            <a:xfrm>
              <a:off x="8366760" y="4123944"/>
              <a:ext cx="2907792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400" b="0" i="0" dirty="0">
                  <a:solidFill>
                    <a:srgbClr val="5B6B7F"/>
                  </a:solidFill>
                  <a:latin typeface="Segoe UI"/>
                </a:rPr>
                <a:t>Which can wait? → essentials stay ON</a:t>
              </a:r>
            </a:p>
          </p:txBody>
        </p:sp>
        <p:sp>
          <p:nvSpPr>
            <p:cNvPr id="80" name="need_oval2"/>
            <p:cNvSpPr/>
            <p:nvPr/>
          </p:nvSpPr>
          <p:spPr>
            <a:xfrm>
              <a:off x="7498080" y="4764024"/>
              <a:ext cx="685800" cy="6858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pic>
          <p:nvPicPr>
            <p:cNvPr id="81" name="need_icon2" descr="shield_redd.png"/>
            <p:cNvPicPr>
              <a:picLocks noChangeAspect="1"/>
            </p:cNvPicPr>
            <p:nvPr/>
          </p:nvPicPr>
          <p:blipFill>
            <a:blip r:embed="rIdX2"/>
            <a:stretch>
              <a:fillRect/>
            </a:stretch>
          </p:blipFill>
          <p:spPr>
            <a:xfrm>
              <a:off x="7648956" y="4914900"/>
              <a:ext cx="384048" cy="384048"/>
            </a:xfrm>
            <a:prstGeom prst="rect">
              <a:avLst/>
            </a:prstGeom>
          </p:spPr>
        </p:pic>
        <p:sp>
          <p:nvSpPr>
            <p:cNvPr id="82" name="need_t2"/>
            <p:cNvSpPr txBox="1"/>
            <p:nvPr/>
          </p:nvSpPr>
          <p:spPr>
            <a:xfrm>
              <a:off x="8366760" y="4745736"/>
              <a:ext cx="290779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2000" b="0" i="0" dirty="0">
                  <a:solidFill>
                    <a:srgbClr val="0E1B2C"/>
                  </a:solidFill>
                  <a:latin typeface="Bahnschrift SemiBold"/>
                </a:rPr>
                <a:t>Safety</a:t>
              </a:r>
            </a:p>
          </p:txBody>
        </p:sp>
        <p:sp>
          <p:nvSpPr>
            <p:cNvPr id="83" name="need_s2"/>
            <p:cNvSpPr txBox="1"/>
            <p:nvPr/>
          </p:nvSpPr>
          <p:spPr>
            <a:xfrm>
              <a:off x="8366760" y="5111496"/>
              <a:ext cx="2907792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400" b="0" i="0" dirty="0">
                  <a:solidFill>
                    <a:srgbClr val="5B6B7F"/>
                  </a:solidFill>
                  <a:latin typeface="Segoe UI"/>
                </a:rPr>
                <a:t>Which misbehaves? → warn early, fail safe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5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95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5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01 · INTRODUCTION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 dirty="0">
                <a:solidFill>
                  <a:srgbClr val="0E1B2C"/>
                </a:solidFill>
                <a:latin typeface="Bahnschrift SemiBold"/>
              </a:rPr>
              <a:t>From one total to per-appliance visibility</a:t>
            </a:r>
          </a:p>
        </p:txBody>
      </p:sp>
      <p:grpSp>
        <p:nvGrpSpPr>
          <p:cNvPr id="10" name="left"/>
          <p:cNvGrpSpPr/>
          <p:nvPr/>
        </p:nvGrpSpPr>
        <p:grpSpPr>
          <a:xfrm>
            <a:off x="685800" y="1828800"/>
            <a:ext cx="3931920" cy="4023360"/>
            <a:chOff x="685800" y="1828800"/>
            <a:chExt cx="3931920" cy="4023360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28800"/>
              <a:ext cx="3931920" cy="4023360"/>
            </a:xfrm>
            <a:prstGeom prst="roundRect">
              <a:avLst>
                <a:gd name="adj" fmla="val 511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05840" y="2103120"/>
              <a:ext cx="329184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Conventional meter</a:t>
              </a:r>
            </a:p>
          </p:txBody>
        </p:sp>
        <p:pic>
          <p:nvPicPr>
            <p:cNvPr id="8" name="Picture 7" descr="meter_slat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5960" y="2743200"/>
              <a:ext cx="1371600" cy="137160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05840" y="4389120"/>
              <a:ext cx="329184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5B6B7F"/>
                  </a:solidFill>
                  <a:latin typeface="Bahnschrift SemiBold"/>
                </a:rPr>
                <a:t>Whole-house total only</a:t>
              </a:r>
            </a:p>
          </p:txBody>
        </p:sp>
      </p:grpSp>
      <p:sp>
        <p:nvSpPr>
          <p:cNvPr id="11" name="arrow"/>
          <p:cNvSpPr/>
          <p:nvPr/>
        </p:nvSpPr>
        <p:spPr>
          <a:xfrm>
            <a:off x="4800600" y="3611880"/>
            <a:ext cx="914400" cy="548640"/>
          </a:xfrm>
          <a:prstGeom prst="right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14" name="right"/>
          <p:cNvGrpSpPr/>
          <p:nvPr/>
        </p:nvGrpSpPr>
        <p:grpSpPr>
          <a:xfrm>
            <a:off x="5897880" y="1828800"/>
            <a:ext cx="5605272" cy="4023360"/>
            <a:chOff x="5897880" y="1828800"/>
            <a:chExt cx="5605272" cy="4023360"/>
          </a:xfrm>
        </p:grpSpPr>
        <p:sp>
          <p:nvSpPr>
            <p:cNvPr id="12" name="Rounded Rectangle 11"/>
            <p:cNvSpPr/>
            <p:nvPr/>
          </p:nvSpPr>
          <p:spPr>
            <a:xfrm>
              <a:off x="5897880" y="1828800"/>
              <a:ext cx="5605272" cy="4023360"/>
            </a:xfrm>
            <a:prstGeom prst="roundRect">
              <a:avLst>
                <a:gd name="adj" fmla="val 5000"/>
              </a:avLst>
            </a:prstGeom>
            <a:solidFill>
              <a:srgbClr val="E6F7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17920" y="2103120"/>
              <a:ext cx="50292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F766E"/>
                  </a:solidFill>
                  <a:latin typeface="Bahnschrift SemiBold"/>
                </a:rPr>
                <a:t>Per-appliance monitoring</a:t>
              </a:r>
            </a:p>
          </p:txBody>
        </p:sp>
      </p:grpSp>
      <p:grpSp>
        <p:nvGrpSpPr>
          <p:cNvPr id="40" name="monitoring"/>
          <p:cNvGrpSpPr/>
          <p:nvPr/>
        </p:nvGrpSpPr>
        <p:grpSpPr>
          <a:xfrm>
            <a:off x="6217920" y="2697480"/>
            <a:ext cx="5166360" cy="2971800"/>
            <a:chOff x="6217920" y="2697480"/>
            <a:chExt cx="5166360" cy="2971800"/>
          </a:xfrm>
        </p:grpSpPr>
        <p:pic>
          <p:nvPicPr>
            <p:cNvPr id="41" name="app_icon0" descr="ac_teald.png"/>
            <p:cNvPicPr>
              <a:picLocks noChangeAspect="1"/>
            </p:cNvPicPr>
            <p:nvPr/>
          </p:nvPicPr>
          <p:blipFill>
            <a:blip r:embed="rIdA0"/>
            <a:stretch>
              <a:fillRect/>
            </a:stretch>
          </p:blipFill>
          <p:spPr>
            <a:xfrm>
              <a:off x="6217920" y="2697480"/>
              <a:ext cx="457200" cy="457200"/>
            </a:xfrm>
            <a:prstGeom prst="rect">
              <a:avLst/>
            </a:prstGeom>
          </p:spPr>
        </p:pic>
        <p:sp>
          <p:nvSpPr>
            <p:cNvPr id="42" name="app_name0"/>
            <p:cNvSpPr txBox="1"/>
            <p:nvPr/>
          </p:nvSpPr>
          <p:spPr>
            <a:xfrm>
              <a:off x="6812280" y="2761488"/>
              <a:ext cx="19202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700" b="0" i="0" dirty="0">
                  <a:solidFill>
                    <a:srgbClr val="0E1B2C"/>
                  </a:solidFill>
                  <a:latin typeface="Segoe UI Semibold"/>
                </a:rPr>
                <a:t>Air conditioner</a:t>
              </a:r>
            </a:p>
          </p:txBody>
        </p:sp>
        <p:pic>
          <p:nvPicPr>
            <p:cNvPr id="43" name="app_icon1" descr="fridge_teald.png"/>
            <p:cNvPicPr>
              <a:picLocks noChangeAspect="1"/>
            </p:cNvPicPr>
            <p:nvPr/>
          </p:nvPicPr>
          <p:blipFill>
            <a:blip r:embed="rIdA1"/>
            <a:stretch>
              <a:fillRect/>
            </a:stretch>
          </p:blipFill>
          <p:spPr>
            <a:xfrm>
              <a:off x="8823960" y="2697480"/>
              <a:ext cx="457200" cy="457200"/>
            </a:xfrm>
            <a:prstGeom prst="rect">
              <a:avLst/>
            </a:prstGeom>
          </p:spPr>
        </p:pic>
        <p:sp>
          <p:nvSpPr>
            <p:cNvPr id="44" name="app_name1"/>
            <p:cNvSpPr txBox="1"/>
            <p:nvPr/>
          </p:nvSpPr>
          <p:spPr>
            <a:xfrm>
              <a:off x="9418320" y="2761488"/>
              <a:ext cx="19202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700" b="0" i="0" dirty="0">
                  <a:solidFill>
                    <a:srgbClr val="0E1B2C"/>
                  </a:solidFill>
                  <a:latin typeface="Segoe UI Semibold"/>
                </a:rPr>
                <a:t>Refrigerator</a:t>
              </a:r>
            </a:p>
          </p:txBody>
        </p:sp>
        <p:pic>
          <p:nvPicPr>
            <p:cNvPr id="45" name="app_icon2" descr="heater_teald.png"/>
            <p:cNvPicPr>
              <a:picLocks noChangeAspect="1"/>
            </p:cNvPicPr>
            <p:nvPr/>
          </p:nvPicPr>
          <p:blipFill>
            <a:blip r:embed="rIdA2"/>
            <a:stretch>
              <a:fillRect/>
            </a:stretch>
          </p:blipFill>
          <p:spPr>
            <a:xfrm>
              <a:off x="6217920" y="3319272"/>
              <a:ext cx="457200" cy="457200"/>
            </a:xfrm>
            <a:prstGeom prst="rect">
              <a:avLst/>
            </a:prstGeom>
          </p:spPr>
        </p:pic>
        <p:sp>
          <p:nvSpPr>
            <p:cNvPr id="46" name="app_name2"/>
            <p:cNvSpPr txBox="1"/>
            <p:nvPr/>
          </p:nvSpPr>
          <p:spPr>
            <a:xfrm>
              <a:off x="6812280" y="3383280"/>
              <a:ext cx="19202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700" b="0" i="0" dirty="0">
                  <a:solidFill>
                    <a:srgbClr val="0E1B2C"/>
                  </a:solidFill>
                  <a:latin typeface="Segoe UI Semibold"/>
                </a:rPr>
                <a:t>Water heater</a:t>
              </a:r>
            </a:p>
          </p:txBody>
        </p:sp>
        <p:pic>
          <p:nvPicPr>
            <p:cNvPr id="47" name="app_icon3" descr="washer_teald.png"/>
            <p:cNvPicPr>
              <a:picLocks noChangeAspect="1"/>
            </p:cNvPicPr>
            <p:nvPr/>
          </p:nvPicPr>
          <p:blipFill>
            <a:blip r:embed="rIdA3"/>
            <a:stretch>
              <a:fillRect/>
            </a:stretch>
          </p:blipFill>
          <p:spPr>
            <a:xfrm>
              <a:off x="8823960" y="3319272"/>
              <a:ext cx="457200" cy="457200"/>
            </a:xfrm>
            <a:prstGeom prst="rect">
              <a:avLst/>
            </a:prstGeom>
          </p:spPr>
        </p:pic>
        <p:sp>
          <p:nvSpPr>
            <p:cNvPr id="48" name="app_name3"/>
            <p:cNvSpPr txBox="1"/>
            <p:nvPr/>
          </p:nvSpPr>
          <p:spPr>
            <a:xfrm>
              <a:off x="9418320" y="3383280"/>
              <a:ext cx="19202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700" b="0" i="0" dirty="0">
                  <a:solidFill>
                    <a:srgbClr val="0E1B2C"/>
                  </a:solidFill>
                  <a:latin typeface="Segoe UI Semibold"/>
                </a:rPr>
                <a:t>Washing machine</a:t>
              </a:r>
            </a:p>
          </p:txBody>
        </p:sp>
        <p:sp>
          <p:nvSpPr>
            <p:cNvPr id="55" name="measured_k"/>
            <p:cNvSpPr txBox="1"/>
            <p:nvPr/>
          </p:nvSpPr>
          <p:spPr>
            <a:xfrm>
              <a:off x="6217920" y="4069080"/>
              <a:ext cx="493776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200" b="0" i="0" spc="200" dirty="0">
                  <a:solidFill>
                    <a:srgbClr val="0F766E"/>
                  </a:solidFill>
                  <a:latin typeface="Segoe UI Semibold"/>
                </a:rPr>
                <a:t>MEASURED FOR EACH APPLIANCE</a:t>
              </a:r>
            </a:p>
          </p:txBody>
        </p:sp>
        <p:sp>
          <p:nvSpPr>
            <p:cNvPr id="56" name="measured"/>
            <p:cNvSpPr txBox="1"/>
            <p:nvPr/>
          </p:nvSpPr>
          <p:spPr>
            <a:xfrm>
              <a:off x="6217920" y="4434840"/>
              <a:ext cx="4937760" cy="1234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500"/>
                </a:spcAft>
              </a:pPr>
              <a:r>
                <a:rPr lang="en-US" sz="1700" b="0" i="0" dirty="0">
                  <a:solidFill>
                    <a:srgbClr val="0E1B2C"/>
                  </a:solidFill>
                  <a:latin typeface="Segoe UI"/>
                </a:rPr>
                <a:t>–  Voltage (V) and current (I)</a:t>
              </a:r>
            </a:p>
            <a:p>
              <a:pPr algn="l">
                <a:spcAft>
                  <a:spcPts val="500"/>
                </a:spcAft>
              </a:pPr>
              <a:r>
                <a:rPr lang="en-US" sz="1700" b="0" i="0" dirty="0">
                  <a:solidFill>
                    <a:srgbClr val="0E1B2C"/>
                  </a:solidFill>
                  <a:latin typeface="Segoe UI"/>
                </a:rPr>
                <a:t>–  Power (P) and energy (kWh)</a:t>
              </a:r>
            </a:p>
            <a:p>
              <a:pPr algn="l"/>
              <a:r>
                <a:rPr lang="en-US" sz="1700" b="0" i="0" dirty="0">
                  <a:solidFill>
                    <a:srgbClr val="0E1B2C"/>
                  </a:solidFill>
                  <a:latin typeface="Segoe UI"/>
                </a:rPr>
                <a:t>–  ON / OFF status</a:t>
              </a:r>
            </a:p>
          </p:txBody>
        </p:sp>
      </p:grp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4ADF9BC6-63B7-4A38-B13C-8CE8E6D67996}" type="slidenum">
              <a:rPr lang="en-US" sz="1100" b="0" i="0">
                <a:solidFill>
                  <a:srgbClr val="5B6B7F"/>
                </a:solidFill>
                <a:latin typeface="Bahnschrift"/>
              </a:rPr>
              <a:t>8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7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9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1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48390F0F-1E08-4916-8FAF-4A84580AA66D}" type="slidenum">
              <a:rPr lang="en-US" sz="1100" b="0" i="0">
                <a:solidFill>
                  <a:srgbClr val="5B6B7F"/>
                </a:solidFill>
                <a:latin typeface="Bahnschrift"/>
              </a:rPr>
              <a:t>9</a:t>
            </a:fld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01 · INTRODUCTION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Priority-based load management</a:t>
            </a:r>
          </a:p>
        </p:txBody>
      </p:sp>
      <p:pic>
        <p:nvPicPr>
          <p:cNvPr id="6" name="fig" descr="p9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5760720" cy="3755100"/>
          </a:xfrm>
          <a:prstGeom prst="rect">
            <a:avLst/>
          </a:prstGeom>
        </p:spPr>
      </p:pic>
      <p:sp>
        <p:nvSpPr>
          <p:cNvPr id="7" name="figcap"/>
          <p:cNvSpPr txBox="1"/>
          <p:nvPr/>
        </p:nvSpPr>
        <p:spPr>
          <a:xfrm>
            <a:off x="685800" y="566928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B6B7F"/>
                </a:solidFill>
                <a:latin typeface="Segoe UI"/>
              </a:rPr>
              <a:t>Demand-side management concept. Reproduced from [4].</a:t>
            </a:r>
          </a:p>
        </p:txBody>
      </p:sp>
      <p:grpSp>
        <p:nvGrpSpPr>
          <p:cNvPr id="11" name="st0"/>
          <p:cNvGrpSpPr/>
          <p:nvPr/>
        </p:nvGrpSpPr>
        <p:grpSpPr>
          <a:xfrm>
            <a:off x="6766560" y="1965960"/>
            <a:ext cx="4754880" cy="731520"/>
            <a:chOff x="6766560" y="1965960"/>
            <a:chExt cx="4754880" cy="731520"/>
          </a:xfrm>
        </p:grpSpPr>
        <p:sp>
          <p:nvSpPr>
            <p:cNvPr id="8" name="Oval 7"/>
            <p:cNvSpPr/>
            <p:nvPr/>
          </p:nvSpPr>
          <p:spPr>
            <a:xfrm>
              <a:off x="6766560" y="1965960"/>
              <a:ext cx="685800" cy="68580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66560" y="2057400"/>
              <a:ext cx="68580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680960" y="2057400"/>
              <a:ext cx="3840480" cy="6400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User sets priorities</a:t>
              </a:r>
            </a:p>
          </p:txBody>
        </p:sp>
      </p:grpSp>
      <p:grpSp>
        <p:nvGrpSpPr>
          <p:cNvPr id="15" name="st1"/>
          <p:cNvGrpSpPr/>
          <p:nvPr/>
        </p:nvGrpSpPr>
        <p:grpSpPr>
          <a:xfrm>
            <a:off x="6766560" y="3200400"/>
            <a:ext cx="4754880" cy="731520"/>
            <a:chOff x="6766560" y="3200400"/>
            <a:chExt cx="4754880" cy="731520"/>
          </a:xfrm>
        </p:grpSpPr>
        <p:sp>
          <p:nvSpPr>
            <p:cNvPr id="12" name="Oval 11"/>
            <p:cNvSpPr/>
            <p:nvPr/>
          </p:nvSpPr>
          <p:spPr>
            <a:xfrm>
              <a:off x="6766560" y="3200400"/>
              <a:ext cx="685800" cy="68580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66560" y="3291840"/>
              <a:ext cx="68580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680960" y="3291840"/>
              <a:ext cx="3840480" cy="6400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Demand &gt; limit </a:t>
              </a:r>
              <a:r>
                <a:rPr sz="2600" b="0" i="0">
                  <a:solidFill>
                    <a:srgbClr val="0E1B2C"/>
                  </a:solidFill>
                  <a:latin typeface="Segoe UI Semibold"/>
                </a:rPr>
                <a:t>→</a:t>
              </a: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 shed lowest</a:t>
              </a:r>
            </a:p>
          </p:txBody>
        </p:sp>
      </p:grpSp>
      <p:grpSp>
        <p:nvGrpSpPr>
          <p:cNvPr id="19" name="st2"/>
          <p:cNvGrpSpPr/>
          <p:nvPr/>
        </p:nvGrpSpPr>
        <p:grpSpPr>
          <a:xfrm>
            <a:off x="6766560" y="4434840"/>
            <a:ext cx="4754880" cy="731519"/>
            <a:chOff x="6766560" y="4434840"/>
            <a:chExt cx="4754880" cy="731519"/>
          </a:xfrm>
        </p:grpSpPr>
        <p:sp>
          <p:nvSpPr>
            <p:cNvPr id="16" name="Oval 15"/>
            <p:cNvSpPr/>
            <p:nvPr/>
          </p:nvSpPr>
          <p:spPr>
            <a:xfrm>
              <a:off x="6766560" y="4434840"/>
              <a:ext cx="685800" cy="68580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66560" y="4526279"/>
              <a:ext cx="68580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680960" y="4526279"/>
              <a:ext cx="3840480" cy="6400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Essentials stay 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EBDFCFB1-C668-476D-B75B-44C7AA481AA8}" type="slidenum">
              <a:rPr lang="en-US" sz="1100" b="0" i="0">
                <a:solidFill>
                  <a:srgbClr val="5B6B7F"/>
                </a:solidFill>
                <a:latin typeface="Bahnschrift"/>
              </a:rPr>
              <a:t>10</a:t>
            </a:fld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01 · INTRODUCTION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Abnormal operation — a supporting function</a:t>
            </a:r>
          </a:p>
        </p:txBody>
      </p:sp>
      <p:grpSp>
        <p:nvGrpSpPr>
          <p:cNvPr id="9" name="pt0"/>
          <p:cNvGrpSpPr/>
          <p:nvPr/>
        </p:nvGrpSpPr>
        <p:grpSpPr>
          <a:xfrm>
            <a:off x="685800" y="1874519"/>
            <a:ext cx="5120640" cy="777240"/>
            <a:chOff x="685800" y="1874519"/>
            <a:chExt cx="5120640" cy="777240"/>
          </a:xfrm>
        </p:grpSpPr>
        <p:sp>
          <p:nvSpPr>
            <p:cNvPr id="6" name="Oval 5"/>
            <p:cNvSpPr/>
            <p:nvPr/>
          </p:nvSpPr>
          <p:spPr>
            <a:xfrm>
              <a:off x="685800" y="1874519"/>
              <a:ext cx="777240" cy="77724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7" name="Picture 6" descr="pulse_amber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6792" y="2045512"/>
              <a:ext cx="435254" cy="435254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691640" y="2029967"/>
              <a:ext cx="411480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Deviation from baseline</a:t>
              </a:r>
            </a:p>
          </p:txBody>
        </p:sp>
      </p:grpSp>
      <p:grpSp>
        <p:nvGrpSpPr>
          <p:cNvPr id="13" name="pt1"/>
          <p:cNvGrpSpPr/>
          <p:nvPr/>
        </p:nvGrpSpPr>
        <p:grpSpPr>
          <a:xfrm>
            <a:off x="685800" y="3063239"/>
            <a:ext cx="5120640" cy="777240"/>
            <a:chOff x="685800" y="3063239"/>
            <a:chExt cx="5120640" cy="777240"/>
          </a:xfrm>
        </p:grpSpPr>
        <p:sp>
          <p:nvSpPr>
            <p:cNvPr id="10" name="Oval 9"/>
            <p:cNvSpPr/>
            <p:nvPr/>
          </p:nvSpPr>
          <p:spPr>
            <a:xfrm>
              <a:off x="685800" y="3063239"/>
              <a:ext cx="777240" cy="77724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1" name="Picture 10" descr="bell_red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6792" y="3234232"/>
              <a:ext cx="435254" cy="435254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691640" y="3218687"/>
              <a:ext cx="411480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User warning</a:t>
              </a:r>
            </a:p>
          </p:txBody>
        </p:sp>
      </p:grpSp>
      <p:grpSp>
        <p:nvGrpSpPr>
          <p:cNvPr id="17" name="pt2"/>
          <p:cNvGrpSpPr/>
          <p:nvPr/>
        </p:nvGrpSpPr>
        <p:grpSpPr>
          <a:xfrm>
            <a:off x="685800" y="4251960"/>
            <a:ext cx="5120640" cy="777240"/>
            <a:chOff x="685800" y="4251960"/>
            <a:chExt cx="5120640" cy="777240"/>
          </a:xfrm>
        </p:grpSpPr>
        <p:sp>
          <p:nvSpPr>
            <p:cNvPr id="14" name="Oval 13"/>
            <p:cNvSpPr/>
            <p:nvPr/>
          </p:nvSpPr>
          <p:spPr>
            <a:xfrm>
              <a:off x="685800" y="4251960"/>
              <a:ext cx="777240" cy="77724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5" name="Picture 14" descr="check_teal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6792" y="4422952"/>
              <a:ext cx="435254" cy="435254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1691640" y="4407408"/>
              <a:ext cx="411480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Supports — not replaces — control</a:t>
              </a:r>
            </a:p>
          </p:txBody>
        </p:sp>
      </p:grpSp>
      <p:sp>
        <p:nvSpPr>
          <p:cNvPr id="18" name="ev"/>
          <p:cNvSpPr txBox="1"/>
          <p:nvPr/>
        </p:nvSpPr>
        <p:spPr>
          <a:xfrm>
            <a:off x="6355080" y="1828800"/>
            <a:ext cx="51206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 dirty="0">
                <a:solidFill>
                  <a:srgbClr val="B45309"/>
                </a:solidFill>
                <a:latin typeface="Segoe UI Semibold"/>
              </a:rPr>
              <a:t>EVIDENCE  </a:t>
            </a:r>
          </a:p>
        </p:txBody>
      </p:sp>
      <p:grpSp>
        <p:nvGrpSpPr>
          <p:cNvPr id="23" name="cmp0"/>
          <p:cNvGrpSpPr/>
          <p:nvPr/>
        </p:nvGrpSpPr>
        <p:grpSpPr>
          <a:xfrm>
            <a:off x="6355080" y="2331720"/>
            <a:ext cx="5148072" cy="1554480"/>
            <a:chOff x="6355080" y="2331720"/>
            <a:chExt cx="5148072" cy="1554480"/>
          </a:xfrm>
        </p:grpSpPr>
        <p:sp>
          <p:nvSpPr>
            <p:cNvPr id="19" name="Rounded Rectangle 18"/>
            <p:cNvSpPr/>
            <p:nvPr/>
          </p:nvSpPr>
          <p:spPr>
            <a:xfrm>
              <a:off x="6355080" y="2331720"/>
              <a:ext cx="5148072" cy="1554480"/>
            </a:xfrm>
            <a:prstGeom prst="roundRect">
              <a:avLst>
                <a:gd name="adj" fmla="val 11764"/>
              </a:avLst>
            </a:prstGeom>
            <a:solidFill>
              <a:srgbClr val="FDEC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0" name="Picture 19" descr="home_red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75120" y="2743200"/>
              <a:ext cx="731520" cy="73152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7680960" y="2606039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200" b="0" i="0">
                  <a:solidFill>
                    <a:srgbClr val="0E1B2C"/>
                  </a:solidFill>
                  <a:latin typeface="Bahnschrift SemiBold"/>
                </a:rPr>
                <a:t>Whole-house estimate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680960" y="3136391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0" i="0">
                  <a:solidFill>
                    <a:srgbClr val="B91C1C"/>
                  </a:solidFill>
                  <a:latin typeface="Segoe UI Semibold"/>
                </a:rPr>
                <a:t>less reliable</a:t>
              </a:r>
            </a:p>
          </p:txBody>
        </p:sp>
      </p:grpSp>
      <p:grpSp>
        <p:nvGrpSpPr>
          <p:cNvPr id="28" name="cmp1"/>
          <p:cNvGrpSpPr/>
          <p:nvPr/>
        </p:nvGrpSpPr>
        <p:grpSpPr>
          <a:xfrm>
            <a:off x="6355080" y="4114800"/>
            <a:ext cx="5148072" cy="1554480"/>
            <a:chOff x="6355080" y="4114800"/>
            <a:chExt cx="5148072" cy="1554480"/>
          </a:xfrm>
        </p:grpSpPr>
        <p:sp>
          <p:nvSpPr>
            <p:cNvPr id="24" name="Rounded Rectangle 23"/>
            <p:cNvSpPr/>
            <p:nvPr/>
          </p:nvSpPr>
          <p:spPr>
            <a:xfrm>
              <a:off x="6355080" y="4114800"/>
              <a:ext cx="5148072" cy="1554480"/>
            </a:xfrm>
            <a:prstGeom prst="roundRect">
              <a:avLst>
                <a:gd name="adj" fmla="val 11764"/>
              </a:avLst>
            </a:prstGeom>
            <a:solidFill>
              <a:srgbClr val="E6F7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5" name="Picture 24" descr="plug_teal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75120" y="4526280"/>
              <a:ext cx="731520" cy="73152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7680960" y="4389120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200" b="0" i="0">
                  <a:solidFill>
                    <a:srgbClr val="0E1B2C"/>
                  </a:solidFill>
                  <a:latin typeface="Bahnschrift SemiBold"/>
                </a:rPr>
                <a:t>Direct sub-metering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680960" y="4919472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0" i="0">
                  <a:solidFill>
                    <a:srgbClr val="0F766E"/>
                  </a:solidFill>
                  <a:latin typeface="Segoe UI Semibold"/>
                </a:rPr>
                <a:t>more reliable</a:t>
              </a:r>
            </a:p>
          </p:txBody>
        </p:sp>
      </p:grpSp>
      <p:sp>
        <p:nvSpPr>
          <p:cNvPr id="29" name="src"/>
          <p:cNvSpPr txBox="1"/>
          <p:nvPr/>
        </p:nvSpPr>
        <p:spPr>
          <a:xfrm>
            <a:off x="685800" y="589788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B6B7F"/>
                </a:solidFill>
                <a:latin typeface="Segoe UI"/>
              </a:rPr>
              <a:t>Anomaly detection on appliance data — Rashid et al., Applied Energy, 2019.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15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5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ec2"/>
          <p:cNvSpPr txBox="1"/>
          <p:nvPr/>
        </p:nvSpPr>
        <p:spPr>
          <a:xfrm>
            <a:off x="822960" y="91440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0" b="0" i="0">
                <a:solidFill>
                  <a:srgbClr val="B45309"/>
                </a:solidFill>
                <a:latin typeface="Bahnschrift SemiBold"/>
              </a:rPr>
              <a:t>02</a:t>
            </a:r>
          </a:p>
        </p:txBody>
      </p:sp>
      <p:sp>
        <p:nvSpPr>
          <p:cNvPr id="3" name="dt"/>
          <p:cNvSpPr txBox="1"/>
          <p:nvPr/>
        </p:nvSpPr>
        <p:spPr>
          <a:xfrm>
            <a:off x="822960" y="34290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0" i="0">
                <a:solidFill>
                  <a:srgbClr val="0E1B2C"/>
                </a:solidFill>
                <a:latin typeface="Bahnschrift SemiBold"/>
              </a:rPr>
              <a:t>Problem Statement</a:t>
            </a:r>
          </a:p>
        </p:txBody>
      </p:sp>
      <p:sp>
        <p:nvSpPr>
          <p:cNvPr id="4" name="ds"/>
          <p:cNvSpPr txBox="1"/>
          <p:nvPr/>
        </p:nvSpPr>
        <p:spPr>
          <a:xfrm>
            <a:off x="822960" y="44348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5B6B7F"/>
                </a:solidFill>
                <a:latin typeface="Segoe UI"/>
              </a:rPr>
              <a:t>The engineering need</a:t>
            </a:r>
          </a:p>
        </p:txBody>
      </p:sp>
      <p:pic>
        <p:nvPicPr>
          <p:cNvPr id="5" name="dicon" descr="warning_s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463040"/>
            <a:ext cx="3108960" cy="3108960"/>
          </a:xfrm>
          <a:prstGeom prst="rect">
            <a:avLst/>
          </a:prstGeom>
        </p:spPr>
      </p:pic>
      <p:sp>
        <p:nvSpPr>
          <p:cNvPr id="6" name="rail0"/>
          <p:cNvSpPr txBox="1"/>
          <p:nvPr/>
        </p:nvSpPr>
        <p:spPr>
          <a:xfrm>
            <a:off x="82296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01</a:t>
            </a:r>
          </a:p>
        </p:txBody>
      </p:sp>
      <p:sp>
        <p:nvSpPr>
          <p:cNvPr id="7" name="rail1"/>
          <p:cNvSpPr txBox="1"/>
          <p:nvPr/>
        </p:nvSpPr>
        <p:spPr>
          <a:xfrm>
            <a:off x="160020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45309"/>
                </a:solidFill>
                <a:latin typeface="Bahnschrift SemiBold"/>
              </a:rPr>
              <a:t>02</a:t>
            </a:r>
          </a:p>
        </p:txBody>
      </p:sp>
      <p:sp>
        <p:nvSpPr>
          <p:cNvPr id="8" name="rail2"/>
          <p:cNvSpPr txBox="1"/>
          <p:nvPr/>
        </p:nvSpPr>
        <p:spPr>
          <a:xfrm>
            <a:off x="237744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03</a:t>
            </a:r>
          </a:p>
        </p:txBody>
      </p:sp>
      <p:sp>
        <p:nvSpPr>
          <p:cNvPr id="9" name="rail3"/>
          <p:cNvSpPr txBox="1"/>
          <p:nvPr/>
        </p:nvSpPr>
        <p:spPr>
          <a:xfrm>
            <a:off x="3154679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7EF8DF0C-72B8-4DE4-852B-5D2F28E20A99}" type="slidenum">
              <a:rPr lang="en-US" sz="1100" b="0" i="0">
                <a:solidFill>
                  <a:srgbClr val="5B6B7F"/>
                </a:solidFill>
                <a:latin typeface="Bahnschrift"/>
              </a:rPr>
              <a:t>12</a:t>
            </a:fld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02 · PROBLEM STATEMENT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What households face today</a:t>
            </a:r>
          </a:p>
        </p:txBody>
      </p:sp>
      <p:grpSp>
        <p:nvGrpSpPr>
          <p:cNvPr id="10" name="pb0"/>
          <p:cNvGrpSpPr/>
          <p:nvPr/>
        </p:nvGrpSpPr>
        <p:grpSpPr>
          <a:xfrm>
            <a:off x="685800" y="1810512"/>
            <a:ext cx="10817352" cy="749808"/>
            <a:chOff x="685800" y="1810512"/>
            <a:chExt cx="10817352" cy="749808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10512"/>
              <a:ext cx="10817352" cy="749808"/>
            </a:xfrm>
            <a:prstGeom prst="roundRect">
              <a:avLst>
                <a:gd name="adj" fmla="val 1951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Oval 6"/>
            <p:cNvSpPr/>
            <p:nvPr/>
          </p:nvSpPr>
          <p:spPr>
            <a:xfrm>
              <a:off x="868680" y="1911095"/>
              <a:ext cx="548640" cy="54864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8" name="Picture 7" descr="eye_red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9380" y="2031796"/>
              <a:ext cx="307238" cy="307238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691640" y="1965960"/>
              <a:ext cx="91440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No per-appliance visibility</a:t>
              </a:r>
            </a:p>
          </p:txBody>
        </p:sp>
      </p:grpSp>
      <p:grpSp>
        <p:nvGrpSpPr>
          <p:cNvPr id="15" name="pb1"/>
          <p:cNvGrpSpPr/>
          <p:nvPr/>
        </p:nvGrpSpPr>
        <p:grpSpPr>
          <a:xfrm>
            <a:off x="685800" y="2697480"/>
            <a:ext cx="10817352" cy="749808"/>
            <a:chOff x="685800" y="2697480"/>
            <a:chExt cx="10817352" cy="749808"/>
          </a:xfrm>
        </p:grpSpPr>
        <p:sp>
          <p:nvSpPr>
            <p:cNvPr id="11" name="Rounded Rectangle 10"/>
            <p:cNvSpPr/>
            <p:nvPr/>
          </p:nvSpPr>
          <p:spPr>
            <a:xfrm>
              <a:off x="685800" y="2697480"/>
              <a:ext cx="10817352" cy="749808"/>
            </a:xfrm>
            <a:prstGeom prst="roundRect">
              <a:avLst>
                <a:gd name="adj" fmla="val 1951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2" name="Oval 11"/>
            <p:cNvSpPr/>
            <p:nvPr/>
          </p:nvSpPr>
          <p:spPr>
            <a:xfrm>
              <a:off x="868680" y="2798064"/>
              <a:ext cx="548640" cy="54864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3" name="Picture 12" descr="bolt_red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9380" y="2918764"/>
              <a:ext cx="307238" cy="307238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691640" y="2852928"/>
              <a:ext cx="91440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Heavy loads overlap</a:t>
              </a:r>
            </a:p>
          </p:txBody>
        </p:sp>
      </p:grpSp>
      <p:grpSp>
        <p:nvGrpSpPr>
          <p:cNvPr id="20" name="pb2"/>
          <p:cNvGrpSpPr/>
          <p:nvPr/>
        </p:nvGrpSpPr>
        <p:grpSpPr>
          <a:xfrm>
            <a:off x="685800" y="3584448"/>
            <a:ext cx="10817352" cy="749808"/>
            <a:chOff x="685800" y="3584448"/>
            <a:chExt cx="10817352" cy="749808"/>
          </a:xfrm>
        </p:grpSpPr>
        <p:sp>
          <p:nvSpPr>
            <p:cNvPr id="16" name="Rounded Rectangle 15"/>
            <p:cNvSpPr/>
            <p:nvPr/>
          </p:nvSpPr>
          <p:spPr>
            <a:xfrm>
              <a:off x="685800" y="3584448"/>
              <a:ext cx="10817352" cy="749808"/>
            </a:xfrm>
            <a:prstGeom prst="roundRect">
              <a:avLst>
                <a:gd name="adj" fmla="val 1951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" name="Oval 16"/>
            <p:cNvSpPr/>
            <p:nvPr/>
          </p:nvSpPr>
          <p:spPr>
            <a:xfrm>
              <a:off x="868680" y="3685032"/>
              <a:ext cx="548640" cy="54864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8" name="Picture 17" descr="trend_red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9380" y="3805732"/>
              <a:ext cx="307238" cy="307238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691640" y="3739896"/>
              <a:ext cx="91440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Costs rise unnoticed</a:t>
              </a:r>
            </a:p>
          </p:txBody>
        </p:sp>
      </p:grpSp>
      <p:grpSp>
        <p:nvGrpSpPr>
          <p:cNvPr id="25" name="pb3"/>
          <p:cNvGrpSpPr/>
          <p:nvPr/>
        </p:nvGrpSpPr>
        <p:grpSpPr>
          <a:xfrm>
            <a:off x="685800" y="4471416"/>
            <a:ext cx="10817352" cy="749808"/>
            <a:chOff x="685800" y="4471416"/>
            <a:chExt cx="10817352" cy="749808"/>
          </a:xfrm>
        </p:grpSpPr>
        <p:sp>
          <p:nvSpPr>
            <p:cNvPr id="21" name="Rounded Rectangle 20"/>
            <p:cNvSpPr/>
            <p:nvPr/>
          </p:nvSpPr>
          <p:spPr>
            <a:xfrm>
              <a:off x="685800" y="4471416"/>
              <a:ext cx="10817352" cy="749808"/>
            </a:xfrm>
            <a:prstGeom prst="roundRect">
              <a:avLst>
                <a:gd name="adj" fmla="val 1951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2" name="Oval 21"/>
            <p:cNvSpPr/>
            <p:nvPr/>
          </p:nvSpPr>
          <p:spPr>
            <a:xfrm>
              <a:off x="868680" y="4572000"/>
              <a:ext cx="548640" cy="54864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3" name="Picture 22" descr="sort_red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9380" y="4692700"/>
              <a:ext cx="307238" cy="307238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1691640" y="4626864"/>
              <a:ext cx="91440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Essentials not prioritised</a:t>
              </a:r>
            </a:p>
          </p:txBody>
        </p:sp>
      </p:grpSp>
      <p:grpSp>
        <p:nvGrpSpPr>
          <p:cNvPr id="30" name="pb4"/>
          <p:cNvGrpSpPr/>
          <p:nvPr/>
        </p:nvGrpSpPr>
        <p:grpSpPr>
          <a:xfrm>
            <a:off x="685800" y="5358383"/>
            <a:ext cx="10817352" cy="749808"/>
            <a:chOff x="685800" y="5358383"/>
            <a:chExt cx="10817352" cy="749808"/>
          </a:xfrm>
        </p:grpSpPr>
        <p:sp>
          <p:nvSpPr>
            <p:cNvPr id="26" name="Rounded Rectangle 25"/>
            <p:cNvSpPr/>
            <p:nvPr/>
          </p:nvSpPr>
          <p:spPr>
            <a:xfrm>
              <a:off x="685800" y="5358383"/>
              <a:ext cx="10817352" cy="749808"/>
            </a:xfrm>
            <a:prstGeom prst="roundRect">
              <a:avLst>
                <a:gd name="adj" fmla="val 1951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7" name="Oval 26"/>
            <p:cNvSpPr/>
            <p:nvPr/>
          </p:nvSpPr>
          <p:spPr>
            <a:xfrm>
              <a:off x="868680" y="5458968"/>
              <a:ext cx="548640" cy="54864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8" name="Picture 27" descr="pulse_red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9380" y="5579668"/>
              <a:ext cx="307238" cy="307238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1691640" y="5513831"/>
              <a:ext cx="91440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Abnormal behaviour hidden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ADE2078E-64C3-44B8-892C-38710C1F7952}" type="slidenum">
              <a:rPr lang="en-US" sz="1100" b="0" i="0">
                <a:solidFill>
                  <a:srgbClr val="5B6B7F"/>
                </a:solidFill>
                <a:latin typeface="Bahnschrift"/>
              </a:rPr>
              <a:t>13</a:t>
            </a:fld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02 · PROBLEM STATEMENT — RESIDENTIAL ENERGY MANAGEMENT WITH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The need</a:t>
            </a:r>
          </a:p>
        </p:txBody>
      </p:sp>
      <p:grpSp>
        <p:nvGrpSpPr>
          <p:cNvPr id="10" name="nd0"/>
          <p:cNvGrpSpPr/>
          <p:nvPr/>
        </p:nvGrpSpPr>
        <p:grpSpPr>
          <a:xfrm>
            <a:off x="685800" y="1920240"/>
            <a:ext cx="5276088" cy="1737360"/>
            <a:chOff x="685800" y="1920240"/>
            <a:chExt cx="5276088" cy="1737360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920240"/>
              <a:ext cx="5276088" cy="1737360"/>
            </a:xfrm>
            <a:prstGeom prst="roundRect">
              <a:avLst>
                <a:gd name="adj" fmla="val 11578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Oval 6"/>
            <p:cNvSpPr/>
            <p:nvPr/>
          </p:nvSpPr>
          <p:spPr>
            <a:xfrm>
              <a:off x="1051560" y="2331720"/>
              <a:ext cx="914400" cy="91440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8" name="Picture 7" descr="gauge_teal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2728" y="2532888"/>
              <a:ext cx="512064" cy="512064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2240280" y="2468880"/>
              <a:ext cx="356616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Appliance-level monitoring</a:t>
              </a:r>
            </a:p>
          </p:txBody>
        </p:sp>
      </p:grpSp>
      <p:grpSp>
        <p:nvGrpSpPr>
          <p:cNvPr id="15" name="nd1"/>
          <p:cNvGrpSpPr/>
          <p:nvPr/>
        </p:nvGrpSpPr>
        <p:grpSpPr>
          <a:xfrm>
            <a:off x="6227064" y="1920240"/>
            <a:ext cx="5276088" cy="1737360"/>
            <a:chOff x="6227064" y="1920240"/>
            <a:chExt cx="5276088" cy="1737360"/>
          </a:xfrm>
        </p:grpSpPr>
        <p:sp>
          <p:nvSpPr>
            <p:cNvPr id="11" name="Rounded Rectangle 10"/>
            <p:cNvSpPr/>
            <p:nvPr/>
          </p:nvSpPr>
          <p:spPr>
            <a:xfrm>
              <a:off x="6227064" y="1920240"/>
              <a:ext cx="5276088" cy="1737360"/>
            </a:xfrm>
            <a:prstGeom prst="roundRect">
              <a:avLst>
                <a:gd name="adj" fmla="val 11578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2" name="Oval 11"/>
            <p:cNvSpPr/>
            <p:nvPr/>
          </p:nvSpPr>
          <p:spPr>
            <a:xfrm>
              <a:off x="6592824" y="2331720"/>
              <a:ext cx="914400" cy="9144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3" name="Picture 12" descr="sort_amber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93992" y="2532888"/>
              <a:ext cx="512064" cy="512064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7781544" y="2468880"/>
              <a:ext cx="356616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Priority-based load control</a:t>
              </a:r>
            </a:p>
          </p:txBody>
        </p:sp>
      </p:grpSp>
      <p:grpSp>
        <p:nvGrpSpPr>
          <p:cNvPr id="20" name="nd2"/>
          <p:cNvGrpSpPr/>
          <p:nvPr/>
        </p:nvGrpSpPr>
        <p:grpSpPr>
          <a:xfrm>
            <a:off x="685800" y="3931920"/>
            <a:ext cx="5276088" cy="1737360"/>
            <a:chOff x="685800" y="3931920"/>
            <a:chExt cx="5276088" cy="1737360"/>
          </a:xfrm>
        </p:grpSpPr>
        <p:sp>
          <p:nvSpPr>
            <p:cNvPr id="16" name="Rounded Rectangle 15"/>
            <p:cNvSpPr/>
            <p:nvPr/>
          </p:nvSpPr>
          <p:spPr>
            <a:xfrm>
              <a:off x="685800" y="3931920"/>
              <a:ext cx="5276088" cy="1737360"/>
            </a:xfrm>
            <a:prstGeom prst="roundRect">
              <a:avLst>
                <a:gd name="adj" fmla="val 11578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" name="Oval 16"/>
            <p:cNvSpPr/>
            <p:nvPr/>
          </p:nvSpPr>
          <p:spPr>
            <a:xfrm>
              <a:off x="1051560" y="4343400"/>
              <a:ext cx="914400" cy="9144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8" name="Picture 17" descr="calc_sky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52728" y="4544568"/>
              <a:ext cx="512064" cy="512064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2240280" y="4480560"/>
              <a:ext cx="356616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Consumption &amp; cost management</a:t>
              </a:r>
            </a:p>
          </p:txBody>
        </p:sp>
      </p:grpSp>
      <p:grpSp>
        <p:nvGrpSpPr>
          <p:cNvPr id="25" name="nd3"/>
          <p:cNvGrpSpPr/>
          <p:nvPr/>
        </p:nvGrpSpPr>
        <p:grpSpPr>
          <a:xfrm>
            <a:off x="6227064" y="3931920"/>
            <a:ext cx="5276088" cy="1737360"/>
            <a:chOff x="6227064" y="3931920"/>
            <a:chExt cx="5276088" cy="1737360"/>
          </a:xfrm>
        </p:grpSpPr>
        <p:sp>
          <p:nvSpPr>
            <p:cNvPr id="21" name="Rounded Rectangle 20"/>
            <p:cNvSpPr/>
            <p:nvPr/>
          </p:nvSpPr>
          <p:spPr>
            <a:xfrm>
              <a:off x="6227064" y="3931920"/>
              <a:ext cx="5276088" cy="1737360"/>
            </a:xfrm>
            <a:prstGeom prst="roundRect">
              <a:avLst>
                <a:gd name="adj" fmla="val 11578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2" name="Oval 21"/>
            <p:cNvSpPr/>
            <p:nvPr/>
          </p:nvSpPr>
          <p:spPr>
            <a:xfrm>
              <a:off x="6592824" y="4343400"/>
              <a:ext cx="914400" cy="9144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3" name="Picture 22" descr="power_red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93992" y="4544568"/>
              <a:ext cx="512064" cy="512064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7781544" y="4480560"/>
              <a:ext cx="356616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Essential loads kept supplied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7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4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1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ec3"/>
          <p:cNvSpPr txBox="1"/>
          <p:nvPr/>
        </p:nvSpPr>
        <p:spPr>
          <a:xfrm>
            <a:off x="822960" y="91440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0" b="0" i="0">
                <a:solidFill>
                  <a:srgbClr val="B45309"/>
                </a:solidFill>
                <a:latin typeface="Bahnschrift SemiBold"/>
              </a:rPr>
              <a:t>03</a:t>
            </a:r>
          </a:p>
        </p:txBody>
      </p:sp>
      <p:sp>
        <p:nvSpPr>
          <p:cNvPr id="3" name="dt"/>
          <p:cNvSpPr txBox="1"/>
          <p:nvPr/>
        </p:nvSpPr>
        <p:spPr>
          <a:xfrm>
            <a:off x="822960" y="34290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0" i="0">
                <a:solidFill>
                  <a:srgbClr val="0E1B2C"/>
                </a:solidFill>
                <a:latin typeface="Bahnschrift SemiBold"/>
              </a:rPr>
              <a:t>Objectives</a:t>
            </a:r>
          </a:p>
        </p:txBody>
      </p:sp>
      <p:sp>
        <p:nvSpPr>
          <p:cNvPr id="4" name="ds"/>
          <p:cNvSpPr txBox="1"/>
          <p:nvPr/>
        </p:nvSpPr>
        <p:spPr>
          <a:xfrm>
            <a:off x="822960" y="44348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5B6B7F"/>
                </a:solidFill>
                <a:latin typeface="Segoe UI"/>
              </a:rPr>
              <a:t>Higher-level goals · lower-level behaviours</a:t>
            </a:r>
          </a:p>
        </p:txBody>
      </p:sp>
      <p:pic>
        <p:nvPicPr>
          <p:cNvPr id="5" name="dicon" descr="target_s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463040"/>
            <a:ext cx="3108960" cy="3108960"/>
          </a:xfrm>
          <a:prstGeom prst="rect">
            <a:avLst/>
          </a:prstGeom>
        </p:spPr>
      </p:pic>
      <p:sp>
        <p:nvSpPr>
          <p:cNvPr id="6" name="rail0"/>
          <p:cNvSpPr txBox="1"/>
          <p:nvPr/>
        </p:nvSpPr>
        <p:spPr>
          <a:xfrm>
            <a:off x="82296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01</a:t>
            </a:r>
          </a:p>
        </p:txBody>
      </p:sp>
      <p:sp>
        <p:nvSpPr>
          <p:cNvPr id="7" name="rail1"/>
          <p:cNvSpPr txBox="1"/>
          <p:nvPr/>
        </p:nvSpPr>
        <p:spPr>
          <a:xfrm>
            <a:off x="160020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02</a:t>
            </a:r>
          </a:p>
        </p:txBody>
      </p:sp>
      <p:sp>
        <p:nvSpPr>
          <p:cNvPr id="8" name="rail2"/>
          <p:cNvSpPr txBox="1"/>
          <p:nvPr/>
        </p:nvSpPr>
        <p:spPr>
          <a:xfrm>
            <a:off x="237744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45309"/>
                </a:solidFill>
                <a:latin typeface="Bahnschrift SemiBold"/>
              </a:rPr>
              <a:t>03</a:t>
            </a:r>
          </a:p>
        </p:txBody>
      </p:sp>
      <p:sp>
        <p:nvSpPr>
          <p:cNvPr id="9" name="rail3"/>
          <p:cNvSpPr txBox="1"/>
          <p:nvPr/>
        </p:nvSpPr>
        <p:spPr>
          <a:xfrm>
            <a:off x="3154679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6BE8F6D3-EF21-4B45-9E0A-3C2075338163}" type="slidenum">
              <a:rPr lang="en-US" sz="1100" b="0" i="0">
                <a:solidFill>
                  <a:srgbClr val="5B6B7F"/>
                </a:solidFill>
                <a:latin typeface="Bahnschrift"/>
              </a:rPr>
              <a:t>15</a:t>
            </a:fld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03 · OBJECTIVES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Higher-level objectives</a:t>
            </a:r>
          </a:p>
        </p:txBody>
      </p:sp>
      <p:grpSp>
        <p:nvGrpSpPr>
          <p:cNvPr id="12" name="h0"/>
          <p:cNvGrpSpPr/>
          <p:nvPr/>
        </p:nvGrpSpPr>
        <p:grpSpPr>
          <a:xfrm>
            <a:off x="685800" y="1828800"/>
            <a:ext cx="3429000" cy="4023360"/>
            <a:chOff x="685800" y="1828800"/>
            <a:chExt cx="3429000" cy="4023360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28800"/>
              <a:ext cx="3429000" cy="4023360"/>
            </a:xfrm>
            <a:prstGeom prst="roundRect">
              <a:avLst>
                <a:gd name="adj" fmla="val 666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Oval 6"/>
            <p:cNvSpPr/>
            <p:nvPr/>
          </p:nvSpPr>
          <p:spPr>
            <a:xfrm>
              <a:off x="1051560" y="2194560"/>
              <a:ext cx="1005840" cy="100584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8" name="Picture 7" descr="card_amber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2844" y="2415844"/>
              <a:ext cx="563270" cy="56327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2240280" y="2514600"/>
              <a:ext cx="164592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00" b="0" i="0" spc="150">
                  <a:solidFill>
                    <a:srgbClr val="5B6B7F"/>
                  </a:solidFill>
                  <a:latin typeface="Segoe UI Semibold"/>
                </a:rPr>
                <a:t>HLO-1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51560" y="3474720"/>
              <a:ext cx="274320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800" b="0" i="0">
                  <a:solidFill>
                    <a:srgbClr val="0E1B2C"/>
                  </a:solidFill>
                  <a:latin typeface="Bahnschrift SemiBold"/>
                </a:rPr>
                <a:t>Economic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51560" y="4343400"/>
              <a:ext cx="2743200" cy="12801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2200" b="0" i="0">
                  <a:solidFill>
                    <a:srgbClr val="5B6B7F"/>
                  </a:solidFill>
                  <a:latin typeface="Segoe UI Semibold"/>
                </a:rPr>
                <a:t>Lower consumption</a:t>
              </a:r>
            </a:p>
            <a:p>
              <a:pPr algn="l">
                <a:spcAft>
                  <a:spcPts val="400"/>
                </a:spcAft>
              </a:pPr>
              <a:r>
                <a:rPr sz="2200" b="0" i="0">
                  <a:solidFill>
                    <a:srgbClr val="5B6B7F"/>
                  </a:solidFill>
                  <a:latin typeface="Segoe UI Semibold"/>
                </a:rPr>
                <a:t>Lower cost</a:t>
              </a:r>
            </a:p>
          </p:txBody>
        </p:sp>
      </p:grpSp>
      <p:grpSp>
        <p:nvGrpSpPr>
          <p:cNvPr id="19" name="h1"/>
          <p:cNvGrpSpPr/>
          <p:nvPr/>
        </p:nvGrpSpPr>
        <p:grpSpPr>
          <a:xfrm>
            <a:off x="4379976" y="1828800"/>
            <a:ext cx="3429000" cy="4023360"/>
            <a:chOff x="4379976" y="1828800"/>
            <a:chExt cx="3429000" cy="4023360"/>
          </a:xfrm>
        </p:grpSpPr>
        <p:sp>
          <p:nvSpPr>
            <p:cNvPr id="13" name="Rounded Rectangle 12"/>
            <p:cNvSpPr/>
            <p:nvPr/>
          </p:nvSpPr>
          <p:spPr>
            <a:xfrm>
              <a:off x="4379976" y="1828800"/>
              <a:ext cx="3429000" cy="4023360"/>
            </a:xfrm>
            <a:prstGeom prst="roundRect">
              <a:avLst>
                <a:gd name="adj" fmla="val 666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" name="Oval 13"/>
            <p:cNvSpPr/>
            <p:nvPr/>
          </p:nvSpPr>
          <p:spPr>
            <a:xfrm>
              <a:off x="4745736" y="2194560"/>
              <a:ext cx="1005840" cy="100584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5" name="Picture 14" descr="power_teal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7020" y="2415844"/>
              <a:ext cx="563270" cy="56327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5934456" y="2514600"/>
              <a:ext cx="164592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00" b="0" i="0" spc="150">
                  <a:solidFill>
                    <a:srgbClr val="5B6B7F"/>
                  </a:solidFill>
                  <a:latin typeface="Segoe UI Semibold"/>
                </a:rPr>
                <a:t>HLO-2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745736" y="3474720"/>
              <a:ext cx="274320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800" b="0" i="0">
                  <a:solidFill>
                    <a:srgbClr val="0E1B2C"/>
                  </a:solidFill>
                  <a:latin typeface="Bahnschrift SemiBold"/>
                </a:rPr>
                <a:t>Reliability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45736" y="4343400"/>
              <a:ext cx="2743200" cy="12801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2200" b="0" i="0">
                  <a:solidFill>
                    <a:srgbClr val="5B6B7F"/>
                  </a:solidFill>
                  <a:latin typeface="Segoe UI Semibold"/>
                </a:rPr>
                <a:t>Essentials stay</a:t>
              </a:r>
            </a:p>
            <a:p>
              <a:pPr algn="l">
                <a:spcAft>
                  <a:spcPts val="400"/>
                </a:spcAft>
              </a:pPr>
              <a:r>
                <a:rPr sz="2200" b="0" i="0">
                  <a:solidFill>
                    <a:srgbClr val="5B6B7F"/>
                  </a:solidFill>
                  <a:latin typeface="Segoe UI Semibold"/>
                </a:rPr>
                <a:t>supplied</a:t>
              </a:r>
            </a:p>
          </p:txBody>
        </p:sp>
      </p:grpSp>
      <p:grpSp>
        <p:nvGrpSpPr>
          <p:cNvPr id="26" name="h2"/>
          <p:cNvGrpSpPr/>
          <p:nvPr/>
        </p:nvGrpSpPr>
        <p:grpSpPr>
          <a:xfrm>
            <a:off x="8074152" y="1828800"/>
            <a:ext cx="3429000" cy="4023360"/>
            <a:chOff x="8074152" y="1828800"/>
            <a:chExt cx="3429000" cy="4023360"/>
          </a:xfrm>
        </p:grpSpPr>
        <p:sp>
          <p:nvSpPr>
            <p:cNvPr id="20" name="Rounded Rectangle 19"/>
            <p:cNvSpPr/>
            <p:nvPr/>
          </p:nvSpPr>
          <p:spPr>
            <a:xfrm>
              <a:off x="8074152" y="1828800"/>
              <a:ext cx="3429000" cy="4023360"/>
            </a:xfrm>
            <a:prstGeom prst="roundRect">
              <a:avLst>
                <a:gd name="adj" fmla="val 666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1" name="Oval 20"/>
            <p:cNvSpPr/>
            <p:nvPr/>
          </p:nvSpPr>
          <p:spPr>
            <a:xfrm>
              <a:off x="8439912" y="2194560"/>
              <a:ext cx="1005840" cy="100584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2" name="Picture 21" descr="shield_red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61196" y="2415844"/>
              <a:ext cx="563270" cy="56327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9628632" y="2514600"/>
              <a:ext cx="164592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00" b="0" i="0" spc="150">
                  <a:solidFill>
                    <a:srgbClr val="5B6B7F"/>
                  </a:solidFill>
                  <a:latin typeface="Segoe UI Semibold"/>
                </a:rPr>
                <a:t>HLO-3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439912" y="3474720"/>
              <a:ext cx="274320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800" b="0" i="0">
                  <a:solidFill>
                    <a:srgbClr val="0E1B2C"/>
                  </a:solidFill>
                  <a:latin typeface="Bahnschrift SemiBold"/>
                </a:rPr>
                <a:t>Safety &amp; efficiency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439912" y="4343400"/>
              <a:ext cx="2743200" cy="12801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2200" b="0" i="0">
                  <a:solidFill>
                    <a:srgbClr val="5B6B7F"/>
                  </a:solidFill>
                  <a:latin typeface="Segoe UI Semibold"/>
                </a:rPr>
                <a:t>Safer operation</a:t>
              </a:r>
            </a:p>
            <a:p>
              <a:pPr algn="l">
                <a:spcAft>
                  <a:spcPts val="400"/>
                </a:spcAft>
              </a:pPr>
              <a:r>
                <a:rPr sz="2200" b="0" i="0">
                  <a:solidFill>
                    <a:srgbClr val="5B6B7F"/>
                  </a:solidFill>
                  <a:latin typeface="Segoe UI Semibold"/>
                </a:rPr>
                <a:t>Efficient use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8FA5A993-7249-497C-98AD-05B2555FBDC7}" type="slidenum">
              <a:rPr lang="en-US" sz="1100" b="0" i="0">
                <a:solidFill>
                  <a:srgbClr val="5B6B7F"/>
                </a:solidFill>
                <a:latin typeface="Bahnschrift"/>
              </a:rPr>
              <a:t>16</a:t>
            </a:fld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03 · OBJECTIVES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Lower-level objectives</a:t>
            </a:r>
          </a:p>
        </p:txBody>
      </p:sp>
      <p:grpSp>
        <p:nvGrpSpPr>
          <p:cNvPr id="12" name="l0"/>
          <p:cNvGrpSpPr/>
          <p:nvPr/>
        </p:nvGrpSpPr>
        <p:grpSpPr>
          <a:xfrm>
            <a:off x="685800" y="1828800"/>
            <a:ext cx="3429000" cy="1874519"/>
            <a:chOff x="685800" y="1828800"/>
            <a:chExt cx="3429000" cy="1874519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2880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Oval 6"/>
            <p:cNvSpPr/>
            <p:nvPr/>
          </p:nvSpPr>
          <p:spPr>
            <a:xfrm>
              <a:off x="960120" y="2103120"/>
              <a:ext cx="731520" cy="7315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8" name="Picture 7" descr="gauge_whit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4712" y="2267712"/>
              <a:ext cx="402336" cy="402336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874519" y="2084832"/>
              <a:ext cx="210312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LLO-1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74519" y="2359152"/>
              <a:ext cx="21945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Monitor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60120" y="3017520"/>
              <a:ext cx="301752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00" b="0" i="0">
                  <a:solidFill>
                    <a:srgbClr val="5B6B7F"/>
                  </a:solidFill>
                  <a:latin typeface="Segoe UI Semibold"/>
                </a:rPr>
                <a:t>Each load + total</a:t>
              </a:r>
            </a:p>
          </p:txBody>
        </p:sp>
      </p:grpSp>
      <p:grpSp>
        <p:nvGrpSpPr>
          <p:cNvPr id="19" name="l1"/>
          <p:cNvGrpSpPr/>
          <p:nvPr/>
        </p:nvGrpSpPr>
        <p:grpSpPr>
          <a:xfrm>
            <a:off x="4379976" y="1828800"/>
            <a:ext cx="3429000" cy="1874519"/>
            <a:chOff x="4379976" y="1828800"/>
            <a:chExt cx="3429000" cy="1874519"/>
          </a:xfrm>
        </p:grpSpPr>
        <p:sp>
          <p:nvSpPr>
            <p:cNvPr id="13" name="Rounded Rectangle 12"/>
            <p:cNvSpPr/>
            <p:nvPr/>
          </p:nvSpPr>
          <p:spPr>
            <a:xfrm>
              <a:off x="4379976" y="182880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" name="Oval 13"/>
            <p:cNvSpPr/>
            <p:nvPr/>
          </p:nvSpPr>
          <p:spPr>
            <a:xfrm>
              <a:off x="4654296" y="2103120"/>
              <a:ext cx="731520" cy="7315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5" name="Picture 14" descr="pulse_whit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18888" y="2267712"/>
              <a:ext cx="402336" cy="402336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5568696" y="2084832"/>
              <a:ext cx="210312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LLO-2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568696" y="2359152"/>
              <a:ext cx="21945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Detect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654296" y="3017520"/>
              <a:ext cx="301752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00" b="0" i="0">
                  <a:solidFill>
                    <a:srgbClr val="5B6B7F"/>
                  </a:solidFill>
                  <a:latin typeface="Segoe UI Semibold"/>
                </a:rPr>
                <a:t>Abnormal → warn</a:t>
              </a:r>
            </a:p>
          </p:txBody>
        </p:sp>
      </p:grpSp>
      <p:grpSp>
        <p:nvGrpSpPr>
          <p:cNvPr id="26" name="l2"/>
          <p:cNvGrpSpPr/>
          <p:nvPr/>
        </p:nvGrpSpPr>
        <p:grpSpPr>
          <a:xfrm>
            <a:off x="8074152" y="1828800"/>
            <a:ext cx="3429000" cy="1874519"/>
            <a:chOff x="8074152" y="1828800"/>
            <a:chExt cx="3429000" cy="1874519"/>
          </a:xfrm>
        </p:grpSpPr>
        <p:sp>
          <p:nvSpPr>
            <p:cNvPr id="20" name="Rounded Rectangle 19"/>
            <p:cNvSpPr/>
            <p:nvPr/>
          </p:nvSpPr>
          <p:spPr>
            <a:xfrm>
              <a:off x="8074152" y="182880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1" name="Oval 20"/>
            <p:cNvSpPr/>
            <p:nvPr/>
          </p:nvSpPr>
          <p:spPr>
            <a:xfrm>
              <a:off x="8348472" y="2103120"/>
              <a:ext cx="731520" cy="7315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2" name="Picture 21" descr="sort_whit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13064" y="2267712"/>
              <a:ext cx="402336" cy="402336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9262872" y="2084832"/>
              <a:ext cx="210312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LLO-3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262872" y="2359152"/>
              <a:ext cx="21945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Prioritise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348472" y="3017520"/>
              <a:ext cx="301752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00" b="0" i="0">
                  <a:solidFill>
                    <a:srgbClr val="5B6B7F"/>
                  </a:solidFill>
                  <a:latin typeface="Segoe UI Semibold"/>
                </a:rPr>
                <a:t>Shed lowest above limit</a:t>
              </a:r>
            </a:p>
          </p:txBody>
        </p:sp>
      </p:grpSp>
      <p:grpSp>
        <p:nvGrpSpPr>
          <p:cNvPr id="33" name="l3"/>
          <p:cNvGrpSpPr/>
          <p:nvPr/>
        </p:nvGrpSpPr>
        <p:grpSpPr>
          <a:xfrm>
            <a:off x="685800" y="3931920"/>
            <a:ext cx="3429000" cy="1874519"/>
            <a:chOff x="685800" y="3931920"/>
            <a:chExt cx="3429000" cy="1874519"/>
          </a:xfrm>
        </p:grpSpPr>
        <p:sp>
          <p:nvSpPr>
            <p:cNvPr id="27" name="Rounded Rectangle 26"/>
            <p:cNvSpPr/>
            <p:nvPr/>
          </p:nvSpPr>
          <p:spPr>
            <a:xfrm>
              <a:off x="685800" y="393192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8" name="Oval 27"/>
            <p:cNvSpPr/>
            <p:nvPr/>
          </p:nvSpPr>
          <p:spPr>
            <a:xfrm>
              <a:off x="960120" y="4206240"/>
              <a:ext cx="731520" cy="7315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9" name="Picture 28" descr="calc_whit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4712" y="4370831"/>
              <a:ext cx="402336" cy="402336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1874519" y="4187952"/>
              <a:ext cx="210312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LLO-4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874519" y="4462272"/>
              <a:ext cx="21945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Budget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60120" y="5120640"/>
              <a:ext cx="301752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00" b="0" i="0">
                  <a:solidFill>
                    <a:srgbClr val="5B6B7F"/>
                  </a:solidFill>
                  <a:latin typeface="Segoe UI Semibold"/>
                </a:rPr>
                <a:t>Energy &amp; cost vs. budget</a:t>
              </a:r>
            </a:p>
          </p:txBody>
        </p:sp>
      </p:grpSp>
      <p:grpSp>
        <p:nvGrpSpPr>
          <p:cNvPr id="40" name="l4"/>
          <p:cNvGrpSpPr/>
          <p:nvPr/>
        </p:nvGrpSpPr>
        <p:grpSpPr>
          <a:xfrm>
            <a:off x="4379976" y="3931920"/>
            <a:ext cx="3429000" cy="1874519"/>
            <a:chOff x="4379976" y="3931920"/>
            <a:chExt cx="3429000" cy="1874519"/>
          </a:xfrm>
        </p:grpSpPr>
        <p:sp>
          <p:nvSpPr>
            <p:cNvPr id="34" name="Rounded Rectangle 33"/>
            <p:cNvSpPr/>
            <p:nvPr/>
          </p:nvSpPr>
          <p:spPr>
            <a:xfrm>
              <a:off x="4379976" y="393192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5" name="Oval 34"/>
            <p:cNvSpPr/>
            <p:nvPr/>
          </p:nvSpPr>
          <p:spPr>
            <a:xfrm>
              <a:off x="4654296" y="4206240"/>
              <a:ext cx="731520" cy="7315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36" name="Picture 35" descr="monitor_whit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18888" y="4370831"/>
              <a:ext cx="402336" cy="402336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5568696" y="4187952"/>
              <a:ext cx="210312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LLO-5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568696" y="4462272"/>
              <a:ext cx="21945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Inform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654296" y="5120640"/>
              <a:ext cx="301752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00" b="0" i="0">
                  <a:solidFill>
                    <a:srgbClr val="5B6B7F"/>
                  </a:solidFill>
                  <a:latin typeface="Segoe UI Semibold"/>
                </a:rPr>
                <a:t>Status · cost · warnings</a:t>
              </a:r>
            </a:p>
          </p:txBody>
        </p:sp>
      </p:grpSp>
      <p:grpSp>
        <p:nvGrpSpPr>
          <p:cNvPr id="47" name="l5"/>
          <p:cNvGrpSpPr/>
          <p:nvPr/>
        </p:nvGrpSpPr>
        <p:grpSpPr>
          <a:xfrm>
            <a:off x="8074152" y="3931920"/>
            <a:ext cx="3429000" cy="1874519"/>
            <a:chOff x="8074152" y="3931920"/>
            <a:chExt cx="3429000" cy="1874519"/>
          </a:xfrm>
        </p:grpSpPr>
        <p:sp>
          <p:nvSpPr>
            <p:cNvPr id="41" name="Rounded Rectangle 40"/>
            <p:cNvSpPr/>
            <p:nvPr/>
          </p:nvSpPr>
          <p:spPr>
            <a:xfrm>
              <a:off x="8074152" y="393192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2" name="Oval 41"/>
            <p:cNvSpPr/>
            <p:nvPr/>
          </p:nvSpPr>
          <p:spPr>
            <a:xfrm>
              <a:off x="8348472" y="4206240"/>
              <a:ext cx="731520" cy="7315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43" name="Picture 42" descr="shield_whit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13064" y="4370831"/>
              <a:ext cx="402336" cy="402336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9262872" y="4187952"/>
              <a:ext cx="210312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LLO-6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262872" y="4462272"/>
              <a:ext cx="21945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Stay safe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348472" y="5120640"/>
              <a:ext cx="301752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00" b="0" i="0">
                  <a:solidFill>
                    <a:srgbClr val="5B6B7F"/>
                  </a:solidFill>
                  <a:latin typeface="Segoe UI Semibold"/>
                </a:rPr>
                <a:t>Fail-safe · override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3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6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9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2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65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ec4"/>
          <p:cNvSpPr txBox="1"/>
          <p:nvPr/>
        </p:nvSpPr>
        <p:spPr>
          <a:xfrm>
            <a:off x="822960" y="91440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0" b="0" i="0">
                <a:solidFill>
                  <a:srgbClr val="B45309"/>
                </a:solidFill>
                <a:latin typeface="Bahnschrift SemiBold"/>
              </a:rPr>
              <a:t>04</a:t>
            </a:r>
          </a:p>
        </p:txBody>
      </p:sp>
      <p:sp>
        <p:nvSpPr>
          <p:cNvPr id="3" name="dt"/>
          <p:cNvSpPr txBox="1"/>
          <p:nvPr/>
        </p:nvSpPr>
        <p:spPr>
          <a:xfrm>
            <a:off x="822960" y="34290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0" i="0">
                <a:solidFill>
                  <a:srgbClr val="0E1B2C"/>
                </a:solidFill>
                <a:latin typeface="Bahnschrift SemiBold"/>
              </a:rPr>
              <a:t>Design Requirements</a:t>
            </a:r>
          </a:p>
        </p:txBody>
      </p:sp>
      <p:sp>
        <p:nvSpPr>
          <p:cNvPr id="4" name="ds"/>
          <p:cNvSpPr txBox="1"/>
          <p:nvPr/>
        </p:nvSpPr>
        <p:spPr>
          <a:xfrm>
            <a:off x="815585" y="5277956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dirty="0">
                <a:solidFill>
                  <a:srgbClr val="5B6B7F"/>
                </a:solidFill>
                <a:latin typeface="Segoe UI"/>
              </a:rPr>
              <a:t>Specs · constraints · standards · assumptions · deliverables</a:t>
            </a:r>
          </a:p>
        </p:txBody>
      </p:sp>
      <p:pic>
        <p:nvPicPr>
          <p:cNvPr id="5" name="dicon" descr="checklist_s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463040"/>
            <a:ext cx="3108960" cy="3108960"/>
          </a:xfrm>
          <a:prstGeom prst="rect">
            <a:avLst/>
          </a:prstGeom>
        </p:spPr>
      </p:pic>
      <p:sp>
        <p:nvSpPr>
          <p:cNvPr id="6" name="rail0"/>
          <p:cNvSpPr txBox="1"/>
          <p:nvPr/>
        </p:nvSpPr>
        <p:spPr>
          <a:xfrm>
            <a:off x="82296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01</a:t>
            </a:r>
          </a:p>
        </p:txBody>
      </p:sp>
      <p:sp>
        <p:nvSpPr>
          <p:cNvPr id="7" name="rail1"/>
          <p:cNvSpPr txBox="1"/>
          <p:nvPr/>
        </p:nvSpPr>
        <p:spPr>
          <a:xfrm>
            <a:off x="160020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02</a:t>
            </a:r>
          </a:p>
        </p:txBody>
      </p:sp>
      <p:sp>
        <p:nvSpPr>
          <p:cNvPr id="8" name="rail2"/>
          <p:cNvSpPr txBox="1"/>
          <p:nvPr/>
        </p:nvSpPr>
        <p:spPr>
          <a:xfrm>
            <a:off x="237744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03</a:t>
            </a:r>
          </a:p>
        </p:txBody>
      </p:sp>
      <p:sp>
        <p:nvSpPr>
          <p:cNvPr id="9" name="rail3"/>
          <p:cNvSpPr txBox="1"/>
          <p:nvPr/>
        </p:nvSpPr>
        <p:spPr>
          <a:xfrm>
            <a:off x="3154679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45309"/>
                </a:solidFill>
                <a:latin typeface="Bahnschrift Semi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391373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8F3CDE6B-D08E-42FC-BD8A-93D7BF630E4B}" type="slidenum">
              <a:rPr lang="en-US" sz="1100" b="0" i="0">
                <a:solidFill>
                  <a:srgbClr val="5B6B7F"/>
                </a:solidFill>
                <a:latin typeface="Bahnschrift"/>
              </a:rPr>
              <a:t>18</a:t>
            </a:fld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04 · DESIGN REQUIREMENTS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Design specifications  (1/2)</a:t>
            </a:r>
          </a:p>
        </p:txBody>
      </p:sp>
      <p:grpSp>
        <p:nvGrpSpPr>
          <p:cNvPr id="13" name="ds0"/>
          <p:cNvGrpSpPr/>
          <p:nvPr/>
        </p:nvGrpSpPr>
        <p:grpSpPr>
          <a:xfrm>
            <a:off x="685800" y="1810512"/>
            <a:ext cx="5276088" cy="2084831"/>
            <a:chOff x="685800" y="1810512"/>
            <a:chExt cx="5276088" cy="2084831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10512"/>
              <a:ext cx="5276088" cy="2084831"/>
            </a:xfrm>
            <a:prstGeom prst="roundRect">
              <a:avLst>
                <a:gd name="adj" fmla="val 877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60120" y="2084831"/>
              <a:ext cx="960120" cy="384048"/>
            </a:xfrm>
            <a:prstGeom prst="roundRect">
              <a:avLst>
                <a:gd name="adj" fmla="val 23809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60120" y="2112264"/>
              <a:ext cx="960120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  <a:latin typeface="Segoe UI Semibold"/>
                </a:rPr>
                <a:t>DS-01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03120" y="2048256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Accuracy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60120" y="2587752"/>
              <a:ext cx="21945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800" b="0" i="0">
                  <a:solidFill>
                    <a:srgbClr val="0F766E"/>
                  </a:solidFill>
                  <a:latin typeface="Bahnschrift SemiBold"/>
                </a:rPr>
                <a:t>±5 %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00400" y="2724912"/>
              <a:ext cx="2606040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V · I · P · energy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60120" y="3438144"/>
              <a:ext cx="21945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B45309"/>
                  </a:solidFill>
                  <a:latin typeface="Segoe UI Semibold"/>
                </a:rPr>
                <a:t>→ LLO-1</a:t>
              </a:r>
            </a:p>
          </p:txBody>
        </p:sp>
      </p:grpSp>
      <p:grpSp>
        <p:nvGrpSpPr>
          <p:cNvPr id="21" name="ds1"/>
          <p:cNvGrpSpPr/>
          <p:nvPr/>
        </p:nvGrpSpPr>
        <p:grpSpPr>
          <a:xfrm>
            <a:off x="6227064" y="1810512"/>
            <a:ext cx="5276088" cy="2084831"/>
            <a:chOff x="6227064" y="1810512"/>
            <a:chExt cx="5276088" cy="2084831"/>
          </a:xfrm>
        </p:grpSpPr>
        <p:sp>
          <p:nvSpPr>
            <p:cNvPr id="14" name="Rounded Rectangle 13"/>
            <p:cNvSpPr/>
            <p:nvPr/>
          </p:nvSpPr>
          <p:spPr>
            <a:xfrm>
              <a:off x="6227064" y="1810512"/>
              <a:ext cx="5276088" cy="2084831"/>
            </a:xfrm>
            <a:prstGeom prst="roundRect">
              <a:avLst>
                <a:gd name="adj" fmla="val 877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501383" y="2084831"/>
              <a:ext cx="960120" cy="384048"/>
            </a:xfrm>
            <a:prstGeom prst="roundRect">
              <a:avLst>
                <a:gd name="adj" fmla="val 23809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501383" y="2112264"/>
              <a:ext cx="960120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  <a:latin typeface="Segoe UI Semibold"/>
                </a:rPr>
                <a:t>DS-02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644383" y="2048256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Update rate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01383" y="2587752"/>
              <a:ext cx="21945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800" b="0" i="0">
                  <a:solidFill>
                    <a:srgbClr val="0F766E"/>
                  </a:solidFill>
                  <a:latin typeface="Segoe UI Semibold"/>
                </a:rPr>
                <a:t>≤</a:t>
              </a:r>
              <a:r>
                <a:rPr sz="4800" b="0" i="0">
                  <a:solidFill>
                    <a:srgbClr val="0F766E"/>
                  </a:solidFill>
                  <a:latin typeface="Bahnschrift SemiBold"/>
                </a:rPr>
                <a:t> 3 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741663" y="2724912"/>
              <a:ext cx="2606040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Readings + status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01383" y="3438144"/>
              <a:ext cx="21945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B45309"/>
                  </a:solidFill>
                  <a:latin typeface="Segoe UI Semibold"/>
                </a:rPr>
                <a:t>→ LLO-1 · 5</a:t>
              </a:r>
            </a:p>
          </p:txBody>
        </p:sp>
      </p:grpSp>
      <p:grpSp>
        <p:nvGrpSpPr>
          <p:cNvPr id="29" name="ds2"/>
          <p:cNvGrpSpPr/>
          <p:nvPr/>
        </p:nvGrpSpPr>
        <p:grpSpPr>
          <a:xfrm>
            <a:off x="685800" y="4078224"/>
            <a:ext cx="5276088" cy="2084831"/>
            <a:chOff x="685800" y="4078224"/>
            <a:chExt cx="5276088" cy="2084831"/>
          </a:xfrm>
        </p:grpSpPr>
        <p:sp>
          <p:nvSpPr>
            <p:cNvPr id="22" name="Rounded Rectangle 21"/>
            <p:cNvSpPr/>
            <p:nvPr/>
          </p:nvSpPr>
          <p:spPr>
            <a:xfrm>
              <a:off x="685800" y="4078224"/>
              <a:ext cx="5276088" cy="2084831"/>
            </a:xfrm>
            <a:prstGeom prst="roundRect">
              <a:avLst>
                <a:gd name="adj" fmla="val 877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60120" y="4352544"/>
              <a:ext cx="960120" cy="384048"/>
            </a:xfrm>
            <a:prstGeom prst="roundRect">
              <a:avLst>
                <a:gd name="adj" fmla="val 23809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60120" y="4379976"/>
              <a:ext cx="960120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  <a:latin typeface="Segoe UI Semibold"/>
                </a:rPr>
                <a:t>DS-03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03120" y="4315968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Abnormal detection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60120" y="4855464"/>
              <a:ext cx="21945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800" b="0" i="0">
                  <a:solidFill>
                    <a:srgbClr val="0F766E"/>
                  </a:solidFill>
                  <a:latin typeface="Segoe UI Semibold"/>
                </a:rPr>
                <a:t>≥</a:t>
              </a:r>
              <a:r>
                <a:rPr sz="4800" b="0" i="0">
                  <a:solidFill>
                    <a:srgbClr val="0F766E"/>
                  </a:solidFill>
                  <a:latin typeface="Bahnschrift SemiBold"/>
                </a:rPr>
                <a:t> 90 %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00400" y="4992624"/>
              <a:ext cx="2606040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120 / 80 % · 5 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60120" y="5705856"/>
              <a:ext cx="21945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B45309"/>
                  </a:solidFill>
                  <a:latin typeface="Segoe UI Semibold"/>
                </a:rPr>
                <a:t>→ LLO-2</a:t>
              </a:r>
            </a:p>
          </p:txBody>
        </p:sp>
      </p:grpSp>
      <p:grpSp>
        <p:nvGrpSpPr>
          <p:cNvPr id="37" name="ds3"/>
          <p:cNvGrpSpPr/>
          <p:nvPr/>
        </p:nvGrpSpPr>
        <p:grpSpPr>
          <a:xfrm>
            <a:off x="6227064" y="4078224"/>
            <a:ext cx="5276088" cy="2084831"/>
            <a:chOff x="6227064" y="4078224"/>
            <a:chExt cx="5276088" cy="2084831"/>
          </a:xfrm>
        </p:grpSpPr>
        <p:sp>
          <p:nvSpPr>
            <p:cNvPr id="30" name="Rounded Rectangle 29"/>
            <p:cNvSpPr/>
            <p:nvPr/>
          </p:nvSpPr>
          <p:spPr>
            <a:xfrm>
              <a:off x="6227064" y="4078224"/>
              <a:ext cx="5276088" cy="2084831"/>
            </a:xfrm>
            <a:prstGeom prst="roundRect">
              <a:avLst>
                <a:gd name="adj" fmla="val 877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501383" y="4352544"/>
              <a:ext cx="960120" cy="384048"/>
            </a:xfrm>
            <a:prstGeom prst="roundRect">
              <a:avLst>
                <a:gd name="adj" fmla="val 23809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501383" y="4379976"/>
              <a:ext cx="960120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  <a:latin typeface="Segoe UI Semibold"/>
                </a:rPr>
                <a:t>DS-04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644383" y="4315968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Load control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501383" y="4855464"/>
              <a:ext cx="21945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800" b="0" i="0">
                  <a:solidFill>
                    <a:srgbClr val="0F766E"/>
                  </a:solidFill>
                  <a:latin typeface="Segoe UI Semibold"/>
                </a:rPr>
                <a:t>≤</a:t>
              </a:r>
              <a:r>
                <a:rPr sz="4800" b="0" i="0">
                  <a:solidFill>
                    <a:srgbClr val="0F766E"/>
                  </a:solidFill>
                  <a:latin typeface="Bahnschrift SemiBold"/>
                </a:rPr>
                <a:t> 1 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741663" y="4992624"/>
              <a:ext cx="2606040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≥ 4 channels · ≥ 3 levels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501383" y="5705856"/>
              <a:ext cx="21945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B45309"/>
                  </a:solidFill>
                  <a:latin typeface="Segoe UI Semibold"/>
                </a:rPr>
                <a:t>→ LLO-3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30733E8C-912C-4836-9A90-21F306643935}" type="slidenum">
              <a:rPr lang="en-US" sz="1100" b="0" i="0">
                <a:solidFill>
                  <a:srgbClr val="5B6B7F"/>
                </a:solidFill>
                <a:latin typeface="Bahnschrift"/>
              </a:rPr>
              <a:t>19</a:t>
            </a:fld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04 · DESIGN REQUIREMENTS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Design specifications  (2/2)</a:t>
            </a:r>
          </a:p>
        </p:txBody>
      </p:sp>
      <p:grpSp>
        <p:nvGrpSpPr>
          <p:cNvPr id="13" name="ds0"/>
          <p:cNvGrpSpPr/>
          <p:nvPr/>
        </p:nvGrpSpPr>
        <p:grpSpPr>
          <a:xfrm>
            <a:off x="685800" y="1810512"/>
            <a:ext cx="5276088" cy="2084831"/>
            <a:chOff x="685800" y="1810512"/>
            <a:chExt cx="5276088" cy="2084831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10512"/>
              <a:ext cx="5276088" cy="2084831"/>
            </a:xfrm>
            <a:prstGeom prst="roundRect">
              <a:avLst>
                <a:gd name="adj" fmla="val 877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60120" y="2084831"/>
              <a:ext cx="960120" cy="384048"/>
            </a:xfrm>
            <a:prstGeom prst="roundRect">
              <a:avLst>
                <a:gd name="adj" fmla="val 23809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60120" y="2112264"/>
              <a:ext cx="960120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  <a:latin typeface="Segoe UI Semibold"/>
                </a:rPr>
                <a:t>DS-05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03120" y="2048256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 dirty="0">
                  <a:solidFill>
                    <a:srgbClr val="0E1B2C"/>
                  </a:solidFill>
                  <a:latin typeface="Bahnschrift SemiBold"/>
                </a:rPr>
                <a:t>Reconnection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60120" y="2587752"/>
              <a:ext cx="21945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800" b="0" i="0">
                  <a:solidFill>
                    <a:srgbClr val="0F766E"/>
                  </a:solidFill>
                  <a:latin typeface="Bahnschrift SemiBold"/>
                </a:rPr>
                <a:t>5 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00400" y="2724912"/>
              <a:ext cx="2606040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900" b="0" i="0" dirty="0">
                  <a:solidFill>
                    <a:srgbClr val="0E1B2C"/>
                  </a:solidFill>
                  <a:latin typeface="Segoe UI Semibold"/>
                </a:rPr>
                <a:t>Stable margin · highest first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60120" y="3438144"/>
              <a:ext cx="21945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B45309"/>
                  </a:solidFill>
                  <a:latin typeface="Segoe UI Semibold"/>
                </a:rPr>
                <a:t>→ LLO-3 · 6</a:t>
              </a:r>
            </a:p>
          </p:txBody>
        </p:sp>
      </p:grpSp>
      <p:grpSp>
        <p:nvGrpSpPr>
          <p:cNvPr id="21" name="ds1"/>
          <p:cNvGrpSpPr/>
          <p:nvPr/>
        </p:nvGrpSpPr>
        <p:grpSpPr>
          <a:xfrm>
            <a:off x="6227064" y="1810512"/>
            <a:ext cx="5276088" cy="2084831"/>
            <a:chOff x="6227064" y="1810512"/>
            <a:chExt cx="5276088" cy="2084831"/>
          </a:xfrm>
        </p:grpSpPr>
        <p:sp>
          <p:nvSpPr>
            <p:cNvPr id="14" name="Rounded Rectangle 13"/>
            <p:cNvSpPr/>
            <p:nvPr/>
          </p:nvSpPr>
          <p:spPr>
            <a:xfrm>
              <a:off x="6227064" y="1810512"/>
              <a:ext cx="5276088" cy="2084831"/>
            </a:xfrm>
            <a:prstGeom prst="roundRect">
              <a:avLst>
                <a:gd name="adj" fmla="val 877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501383" y="2084831"/>
              <a:ext cx="960120" cy="384048"/>
            </a:xfrm>
            <a:prstGeom prst="roundRect">
              <a:avLst>
                <a:gd name="adj" fmla="val 23809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501383" y="2112264"/>
              <a:ext cx="960120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  <a:latin typeface="Segoe UI Semibold"/>
                </a:rPr>
                <a:t>DS-06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644383" y="2048256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Cost &amp; budget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01383" y="2587752"/>
              <a:ext cx="21945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800" b="0" i="0">
                  <a:solidFill>
                    <a:srgbClr val="0F766E"/>
                  </a:solidFill>
                  <a:latin typeface="Bahnschrift SemiBold"/>
                </a:rPr>
                <a:t>±5 %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741663" y="2724912"/>
              <a:ext cx="2606040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Alerts 50 · 80 · 100 %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01383" y="3438144"/>
              <a:ext cx="21945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B45309"/>
                  </a:solidFill>
                  <a:latin typeface="Segoe UI Semibold"/>
                </a:rPr>
                <a:t>→ LLO-4</a:t>
              </a:r>
            </a:p>
          </p:txBody>
        </p:sp>
      </p:grpSp>
      <p:grpSp>
        <p:nvGrpSpPr>
          <p:cNvPr id="29" name="ds2"/>
          <p:cNvGrpSpPr/>
          <p:nvPr/>
        </p:nvGrpSpPr>
        <p:grpSpPr>
          <a:xfrm>
            <a:off x="685800" y="4078224"/>
            <a:ext cx="5276088" cy="2084831"/>
            <a:chOff x="685800" y="4078224"/>
            <a:chExt cx="5276088" cy="2084831"/>
          </a:xfrm>
        </p:grpSpPr>
        <p:sp>
          <p:nvSpPr>
            <p:cNvPr id="22" name="Rounded Rectangle 21"/>
            <p:cNvSpPr/>
            <p:nvPr/>
          </p:nvSpPr>
          <p:spPr>
            <a:xfrm>
              <a:off x="685800" y="4078224"/>
              <a:ext cx="5276088" cy="2084831"/>
            </a:xfrm>
            <a:prstGeom prst="roundRect">
              <a:avLst>
                <a:gd name="adj" fmla="val 877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60120" y="4352544"/>
              <a:ext cx="960120" cy="384048"/>
            </a:xfrm>
            <a:prstGeom prst="roundRect">
              <a:avLst>
                <a:gd name="adj" fmla="val 23809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60120" y="4379976"/>
              <a:ext cx="960120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  <a:latin typeface="Segoe UI Semibold"/>
                </a:rPr>
                <a:t>DS-07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03120" y="4315968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User warnings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60120" y="4855464"/>
              <a:ext cx="21945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800" b="0" i="0">
                  <a:solidFill>
                    <a:srgbClr val="0F766E"/>
                  </a:solidFill>
                  <a:latin typeface="Segoe UI Semibold"/>
                </a:rPr>
                <a:t>≤</a:t>
              </a:r>
              <a:r>
                <a:rPr sz="4800" b="0" i="0">
                  <a:solidFill>
                    <a:srgbClr val="0F766E"/>
                  </a:solidFill>
                  <a:latin typeface="Bahnschrift SemiBold"/>
                </a:rPr>
                <a:t> 5 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00400" y="4992624"/>
              <a:ext cx="2606040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7-day log · 1 h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60120" y="5705856"/>
              <a:ext cx="21945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B45309"/>
                  </a:solidFill>
                  <a:latin typeface="Segoe UI Semibold"/>
                </a:rPr>
                <a:t>→ LLO-2 · 5</a:t>
              </a:r>
            </a:p>
          </p:txBody>
        </p:sp>
      </p:grpSp>
      <p:grpSp>
        <p:nvGrpSpPr>
          <p:cNvPr id="37" name="ds3"/>
          <p:cNvGrpSpPr/>
          <p:nvPr/>
        </p:nvGrpSpPr>
        <p:grpSpPr>
          <a:xfrm>
            <a:off x="6227064" y="4078224"/>
            <a:ext cx="5276088" cy="2084831"/>
            <a:chOff x="6227064" y="4078224"/>
            <a:chExt cx="5276088" cy="2084831"/>
          </a:xfrm>
        </p:grpSpPr>
        <p:sp>
          <p:nvSpPr>
            <p:cNvPr id="30" name="Rounded Rectangle 29"/>
            <p:cNvSpPr/>
            <p:nvPr/>
          </p:nvSpPr>
          <p:spPr>
            <a:xfrm>
              <a:off x="6227064" y="4078224"/>
              <a:ext cx="5276088" cy="2084831"/>
            </a:xfrm>
            <a:prstGeom prst="roundRect">
              <a:avLst>
                <a:gd name="adj" fmla="val 877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501383" y="4352544"/>
              <a:ext cx="960120" cy="384048"/>
            </a:xfrm>
            <a:prstGeom prst="roundRect">
              <a:avLst>
                <a:gd name="adj" fmla="val 23809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501383" y="4379976"/>
              <a:ext cx="960120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  <a:latin typeface="Segoe UI Semibold"/>
                </a:rPr>
                <a:t>DS-08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644383" y="4315968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Fail-safe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501383" y="4855464"/>
              <a:ext cx="21945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800" b="0" i="0">
                  <a:solidFill>
                    <a:srgbClr val="0F766E"/>
                  </a:solidFill>
                  <a:latin typeface="Segoe UI Semibold"/>
                </a:rPr>
                <a:t>≤</a:t>
              </a:r>
              <a:r>
                <a:rPr sz="4800" b="0" i="0">
                  <a:solidFill>
                    <a:srgbClr val="0F766E"/>
                  </a:solidFill>
                  <a:latin typeface="Bahnschrift SemiBold"/>
                </a:rPr>
                <a:t> 2 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741663" y="4992624"/>
              <a:ext cx="2606040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De-energize · override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501383" y="5705856"/>
              <a:ext cx="21945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B45309"/>
                  </a:solidFill>
                  <a:latin typeface="Segoe UI Semibold"/>
                </a:rPr>
                <a:t>→ LLO-6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 dirty="0">
                <a:solidFill>
                  <a:srgbClr val="B45309"/>
                </a:solidFill>
                <a:latin typeface="Segoe UI Semibold"/>
              </a:rPr>
              <a:t>REQUIRED BEHAVIOUR · DS-03 / DS-07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Abnormal-operation warning</a:t>
            </a:r>
          </a:p>
        </p:txBody>
      </p:sp>
      <p:sp>
        <p:nvSpPr>
          <p:cNvPr id="4" name="frame"/>
          <p:cNvSpPr/>
          <p:nvPr/>
        </p:nvSpPr>
        <p:spPr>
          <a:xfrm>
            <a:off x="621792" y="1673352"/>
            <a:ext cx="8540496" cy="4860036"/>
          </a:xfrm>
          <a:prstGeom prst="roundRect">
            <a:avLst>
              <a:gd name="adj" fmla="val 2634"/>
            </a:avLst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8" name="bd0"/>
          <p:cNvGrpSpPr/>
          <p:nvPr/>
        </p:nvGrpSpPr>
        <p:grpSpPr>
          <a:xfrm>
            <a:off x="9372600" y="1673352"/>
            <a:ext cx="2130552" cy="1088136"/>
            <a:chOff x="9372600" y="1673352"/>
            <a:chExt cx="2130552" cy="1088136"/>
          </a:xfrm>
        </p:grpSpPr>
        <p:sp>
          <p:nvSpPr>
            <p:cNvPr id="5" name="Rounded Rectangle 4"/>
            <p:cNvSpPr/>
            <p:nvPr/>
          </p:nvSpPr>
          <p:spPr>
            <a:xfrm>
              <a:off x="9372600" y="1673352"/>
              <a:ext cx="2130552" cy="1088136"/>
            </a:xfrm>
            <a:prstGeom prst="roundRect">
              <a:avLst>
                <a:gd name="adj" fmla="val 13445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528048" y="1764792"/>
              <a:ext cx="1874519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0" i="0">
                  <a:solidFill>
                    <a:srgbClr val="B45309"/>
                  </a:solidFill>
                  <a:latin typeface="Bahnschrift SemiBold"/>
                </a:rPr>
                <a:t>120 / 80 %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528048" y="2258568"/>
              <a:ext cx="1874519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1500" b="0" i="0">
                  <a:solidFill>
                    <a:srgbClr val="5B6B7F"/>
                  </a:solidFill>
                  <a:latin typeface="Segoe UI Semibold"/>
                </a:rPr>
                <a:t>of baseline</a:t>
              </a:r>
            </a:p>
          </p:txBody>
        </p:sp>
      </p:grpSp>
      <p:grpSp>
        <p:nvGrpSpPr>
          <p:cNvPr id="12" name="bd1"/>
          <p:cNvGrpSpPr/>
          <p:nvPr/>
        </p:nvGrpSpPr>
        <p:grpSpPr>
          <a:xfrm>
            <a:off x="9372600" y="2889504"/>
            <a:ext cx="2130552" cy="1088136"/>
            <a:chOff x="9372600" y="2889504"/>
            <a:chExt cx="2130552" cy="1088136"/>
          </a:xfrm>
        </p:grpSpPr>
        <p:sp>
          <p:nvSpPr>
            <p:cNvPr id="9" name="Rounded Rectangle 8"/>
            <p:cNvSpPr/>
            <p:nvPr/>
          </p:nvSpPr>
          <p:spPr>
            <a:xfrm>
              <a:off x="9372600" y="2889504"/>
              <a:ext cx="2130552" cy="1088136"/>
            </a:xfrm>
            <a:prstGeom prst="roundRect">
              <a:avLst>
                <a:gd name="adj" fmla="val 13445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528048" y="2980944"/>
              <a:ext cx="1874519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0" i="0">
                  <a:solidFill>
                    <a:srgbClr val="B45309"/>
                  </a:solidFill>
                  <a:latin typeface="Segoe UI Semibold"/>
                </a:rPr>
                <a:t>≥</a:t>
              </a:r>
              <a:r>
                <a:rPr sz="2800" b="0" i="0">
                  <a:solidFill>
                    <a:srgbClr val="B45309"/>
                  </a:solidFill>
                  <a:latin typeface="Bahnschrift SemiBold"/>
                </a:rPr>
                <a:t> 5 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528048" y="3474720"/>
              <a:ext cx="1874519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1500" b="0" i="0">
                  <a:solidFill>
                    <a:srgbClr val="5B6B7F"/>
                  </a:solidFill>
                  <a:latin typeface="Segoe UI Semibold"/>
                </a:rPr>
                <a:t>persistence</a:t>
              </a:r>
            </a:p>
          </p:txBody>
        </p:sp>
      </p:grpSp>
      <p:grpSp>
        <p:nvGrpSpPr>
          <p:cNvPr id="16" name="bd2"/>
          <p:cNvGrpSpPr/>
          <p:nvPr/>
        </p:nvGrpSpPr>
        <p:grpSpPr>
          <a:xfrm>
            <a:off x="9372600" y="4105656"/>
            <a:ext cx="2130552" cy="1088136"/>
            <a:chOff x="9372600" y="4105656"/>
            <a:chExt cx="2130552" cy="1088136"/>
          </a:xfrm>
        </p:grpSpPr>
        <p:sp>
          <p:nvSpPr>
            <p:cNvPr id="13" name="Rounded Rectangle 12"/>
            <p:cNvSpPr/>
            <p:nvPr/>
          </p:nvSpPr>
          <p:spPr>
            <a:xfrm>
              <a:off x="9372600" y="4105656"/>
              <a:ext cx="2130552" cy="1088136"/>
            </a:xfrm>
            <a:prstGeom prst="roundRect">
              <a:avLst>
                <a:gd name="adj" fmla="val 13445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528048" y="4197096"/>
              <a:ext cx="1874519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0" i="0">
                  <a:solidFill>
                    <a:srgbClr val="B45309"/>
                  </a:solidFill>
                  <a:latin typeface="Segoe UI Semibold"/>
                </a:rPr>
                <a:t>≥</a:t>
              </a:r>
              <a:r>
                <a:rPr sz="2800" b="0" i="0">
                  <a:solidFill>
                    <a:srgbClr val="B45309"/>
                  </a:solidFill>
                  <a:latin typeface="Bahnschrift SemiBold"/>
                </a:rPr>
                <a:t> 90 %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528048" y="4690872"/>
              <a:ext cx="1874519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1500" b="0" i="0">
                  <a:solidFill>
                    <a:srgbClr val="5B6B7F"/>
                  </a:solidFill>
                  <a:latin typeface="Segoe UI Semibold"/>
                </a:rPr>
                <a:t>detection rate</a:t>
              </a:r>
            </a:p>
          </p:txBody>
        </p:sp>
      </p:grpSp>
      <p:grpSp>
        <p:nvGrpSpPr>
          <p:cNvPr id="20" name="bd3"/>
          <p:cNvGrpSpPr/>
          <p:nvPr/>
        </p:nvGrpSpPr>
        <p:grpSpPr>
          <a:xfrm>
            <a:off x="9372600" y="5321808"/>
            <a:ext cx="2130552" cy="1088136"/>
            <a:chOff x="9372600" y="5321808"/>
            <a:chExt cx="2130552" cy="1088136"/>
          </a:xfrm>
        </p:grpSpPr>
        <p:sp>
          <p:nvSpPr>
            <p:cNvPr id="17" name="Rounded Rectangle 16"/>
            <p:cNvSpPr/>
            <p:nvPr/>
          </p:nvSpPr>
          <p:spPr>
            <a:xfrm>
              <a:off x="9372600" y="5321808"/>
              <a:ext cx="2130552" cy="1088136"/>
            </a:xfrm>
            <a:prstGeom prst="roundRect">
              <a:avLst>
                <a:gd name="adj" fmla="val 13445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528048" y="5413248"/>
              <a:ext cx="1874519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0" i="0">
                  <a:solidFill>
                    <a:srgbClr val="B45309"/>
                  </a:solidFill>
                  <a:latin typeface="Segoe UI Semibold"/>
                </a:rPr>
                <a:t>≤</a:t>
              </a:r>
              <a:r>
                <a:rPr sz="2800" b="0" i="0">
                  <a:solidFill>
                    <a:srgbClr val="B45309"/>
                  </a:solidFill>
                  <a:latin typeface="Bahnschrift SemiBold"/>
                </a:rPr>
                <a:t> 5 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528048" y="5907024"/>
              <a:ext cx="1874519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1500" b="0" i="0">
                  <a:solidFill>
                    <a:srgbClr val="5B6B7F"/>
                  </a:solidFill>
                  <a:latin typeface="Segoe UI Semibold"/>
                </a:rPr>
                <a:t>to warn</a:t>
              </a:r>
            </a:p>
          </p:txBody>
        </p:sp>
      </p:grpSp>
      <p:pic>
        <p:nvPicPr>
          <p:cNvPr id="21" name="vid_L_abnormal">
            <a:hlinkClick r:id="" action="ppaction://media"/>
            <a:extLst>
              <a:ext uri="{FF2B5EF4-FFF2-40B4-BE49-F238E27FC236}">
                <a16:creationId xmlns:a16="http://schemas.microsoft.com/office/drawing/2014/main" id="{66D61DCF-27B7-A388-9BBF-83BBFA7104B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5800" y="1737360"/>
            <a:ext cx="8412480" cy="473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1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930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3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8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5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vol="80000" mute="1">
                <p:cTn id="36" repeatCount="indefinite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6319156C-2D78-44AC-B65A-C9631A303291}" type="slidenum">
              <a:rPr lang="en-US" sz="1100" b="0" i="0">
                <a:solidFill>
                  <a:srgbClr val="5B6B7F"/>
                </a:solidFill>
                <a:latin typeface="Bahnschrift"/>
              </a:rPr>
              <a:t>21</a:t>
            </a:fld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04 · DESIGN REQUIREMENTS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 dirty="0">
                <a:solidFill>
                  <a:srgbClr val="0E1B2C"/>
                </a:solidFill>
                <a:latin typeface="Bahnschrift SemiBold"/>
              </a:rPr>
              <a:t>Realistic constraints</a:t>
            </a:r>
          </a:p>
        </p:txBody>
      </p:sp>
      <p:grpSp>
        <p:nvGrpSpPr>
          <p:cNvPr id="9" name="c0"/>
          <p:cNvGrpSpPr/>
          <p:nvPr/>
        </p:nvGrpSpPr>
        <p:grpSpPr>
          <a:xfrm>
            <a:off x="685800" y="1828800"/>
            <a:ext cx="3429000" cy="1874519"/>
            <a:chOff x="685800" y="1828800"/>
            <a:chExt cx="3429000" cy="1874519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2880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60120" y="2103120"/>
              <a:ext cx="292608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C-01  ·  BUDGET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60120" y="2606040"/>
              <a:ext cx="301752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000" b="0" i="0" dirty="0">
                  <a:solidFill>
                    <a:srgbClr val="0E1B2C"/>
                  </a:solidFill>
                  <a:latin typeface="Segoe UI Semibold"/>
                </a:rPr>
                <a:t>≤</a:t>
              </a:r>
              <a:r>
                <a:rPr sz="3000" b="0" i="0" dirty="0">
                  <a:solidFill>
                    <a:srgbClr val="0E1B2C"/>
                  </a:solidFill>
                  <a:latin typeface="Bahnschrift SemiBold"/>
                </a:rPr>
                <a:t> 1,000 SAR</a:t>
              </a:r>
            </a:p>
          </p:txBody>
        </p:sp>
      </p:grpSp>
      <p:grpSp>
        <p:nvGrpSpPr>
          <p:cNvPr id="13" name="c1"/>
          <p:cNvGrpSpPr/>
          <p:nvPr/>
        </p:nvGrpSpPr>
        <p:grpSpPr>
          <a:xfrm>
            <a:off x="685800" y="3931920"/>
            <a:ext cx="3429000" cy="1874519"/>
            <a:chOff x="4379976" y="1828800"/>
            <a:chExt cx="3429000" cy="1874519"/>
          </a:xfrm>
        </p:grpSpPr>
        <p:sp>
          <p:nvSpPr>
            <p:cNvPr id="10" name="Rounded Rectangle 9"/>
            <p:cNvSpPr/>
            <p:nvPr/>
          </p:nvSpPr>
          <p:spPr>
            <a:xfrm>
              <a:off x="4379976" y="182880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654296" y="2103120"/>
              <a:ext cx="292608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400" b="0" i="0" spc="150" dirty="0">
                  <a:solidFill>
                    <a:srgbClr val="B45309"/>
                  </a:solidFill>
                  <a:latin typeface="Segoe UI Semibold"/>
                </a:rPr>
                <a:t>C-04  ·  SCHEDULE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654296" y="2606040"/>
              <a:ext cx="3017520" cy="9233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3000" b="0" i="0" dirty="0">
                  <a:solidFill>
                    <a:srgbClr val="0E1B2C"/>
                  </a:solidFill>
                  <a:latin typeface="Bahnschrift SemiBold"/>
                </a:rPr>
                <a:t>Befor</a:t>
              </a:r>
              <a:r>
                <a:rPr lang="en-US" sz="3000" dirty="0">
                  <a:solidFill>
                    <a:srgbClr val="0E1B2C"/>
                  </a:solidFill>
                  <a:latin typeface="Bahnschrift SemiBold"/>
                </a:rPr>
                <a:t>e the deadline </a:t>
              </a:r>
              <a:endParaRPr sz="3000" b="0" i="0" dirty="0">
                <a:solidFill>
                  <a:srgbClr val="0E1B2C"/>
                </a:solidFill>
                <a:latin typeface="Bahnschrift SemiBold"/>
              </a:endParaRPr>
            </a:p>
          </p:txBody>
        </p:sp>
      </p:grpSp>
      <p:grpSp>
        <p:nvGrpSpPr>
          <p:cNvPr id="17" name="c2"/>
          <p:cNvGrpSpPr/>
          <p:nvPr/>
        </p:nvGrpSpPr>
        <p:grpSpPr>
          <a:xfrm>
            <a:off x="4379976" y="1828800"/>
            <a:ext cx="3429000" cy="1874519"/>
            <a:chOff x="8074152" y="1828800"/>
            <a:chExt cx="3429000" cy="1874519"/>
          </a:xfrm>
        </p:grpSpPr>
        <p:sp>
          <p:nvSpPr>
            <p:cNvPr id="14" name="Rounded Rectangle 13"/>
            <p:cNvSpPr/>
            <p:nvPr/>
          </p:nvSpPr>
          <p:spPr>
            <a:xfrm>
              <a:off x="8074152" y="182880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348472" y="2103120"/>
              <a:ext cx="292608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C-02  ·  SCOPE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48472" y="2606040"/>
              <a:ext cx="3017520" cy="9233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000" b="0" i="0" dirty="0">
                  <a:solidFill>
                    <a:srgbClr val="0E1B2C"/>
                  </a:solidFill>
                  <a:latin typeface="Bahnschrift SemiBold"/>
                </a:rPr>
                <a:t>Single-phase</a:t>
              </a:r>
              <a:endParaRPr lang="ar-SA" sz="3000" b="0" i="0" dirty="0">
                <a:solidFill>
                  <a:srgbClr val="0E1B2C"/>
                </a:solidFill>
                <a:latin typeface="Bahnschrift SemiBold"/>
              </a:endParaRPr>
            </a:p>
            <a:p>
              <a:pPr algn="l"/>
              <a:endParaRPr sz="3000" b="0" i="0" dirty="0">
                <a:solidFill>
                  <a:srgbClr val="0E1B2C"/>
                </a:solidFill>
                <a:latin typeface="Bahnschrift SemiBold"/>
              </a:endParaRPr>
            </a:p>
          </p:txBody>
        </p:sp>
      </p:grpSp>
      <p:grpSp>
        <p:nvGrpSpPr>
          <p:cNvPr id="21" name="c3"/>
          <p:cNvGrpSpPr/>
          <p:nvPr/>
        </p:nvGrpSpPr>
        <p:grpSpPr>
          <a:xfrm>
            <a:off x="8074152" y="1828800"/>
            <a:ext cx="3429000" cy="1874519"/>
            <a:chOff x="685800" y="3931920"/>
            <a:chExt cx="3429000" cy="1874519"/>
          </a:xfrm>
        </p:grpSpPr>
        <p:sp>
          <p:nvSpPr>
            <p:cNvPr id="18" name="Rounded Rectangle 17"/>
            <p:cNvSpPr/>
            <p:nvPr/>
          </p:nvSpPr>
          <p:spPr>
            <a:xfrm>
              <a:off x="685800" y="393192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60120" y="4206240"/>
              <a:ext cx="292608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C-03  ·  LAB POWER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60120" y="4709159"/>
              <a:ext cx="301752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000" b="0" i="0" dirty="0">
                  <a:solidFill>
                    <a:srgbClr val="0E1B2C"/>
                  </a:solidFill>
                  <a:latin typeface="Segoe UI Semibold"/>
                </a:rPr>
                <a:t>≤</a:t>
              </a:r>
              <a:r>
                <a:rPr sz="3000" b="0" i="0" dirty="0">
                  <a:solidFill>
                    <a:srgbClr val="0E1B2C"/>
                  </a:solidFill>
                  <a:latin typeface="Bahnschrift SemiBold"/>
                </a:rPr>
                <a:t> 2 kW</a:t>
              </a:r>
            </a:p>
          </p:txBody>
        </p:sp>
      </p:grpSp>
      <p:grpSp>
        <p:nvGrpSpPr>
          <p:cNvPr id="25" name="c4"/>
          <p:cNvGrpSpPr/>
          <p:nvPr/>
        </p:nvGrpSpPr>
        <p:grpSpPr>
          <a:xfrm>
            <a:off x="4379976" y="3931920"/>
            <a:ext cx="3429000" cy="1874519"/>
            <a:chOff x="4379976" y="3931920"/>
            <a:chExt cx="3429000" cy="1874519"/>
          </a:xfrm>
        </p:grpSpPr>
        <p:sp>
          <p:nvSpPr>
            <p:cNvPr id="22" name="Rounded Rectangle 21"/>
            <p:cNvSpPr/>
            <p:nvPr/>
          </p:nvSpPr>
          <p:spPr>
            <a:xfrm>
              <a:off x="4379976" y="393192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54296" y="4206240"/>
              <a:ext cx="292608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 dirty="0">
                  <a:solidFill>
                    <a:srgbClr val="B45309"/>
                  </a:solidFill>
                  <a:latin typeface="Segoe UI Semibold"/>
                </a:rPr>
                <a:t>C-05  ·  APPLIANCES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654296" y="4709159"/>
              <a:ext cx="301752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000" b="0" i="0" dirty="0">
                  <a:solidFill>
                    <a:srgbClr val="0E1B2C"/>
                  </a:solidFill>
                  <a:latin typeface="Bahnschrift SemiBold"/>
                </a:rPr>
                <a:t>No modification</a:t>
              </a:r>
            </a:p>
          </p:txBody>
        </p:sp>
      </p:grpSp>
      <p:grpSp>
        <p:nvGrpSpPr>
          <p:cNvPr id="29" name="c5"/>
          <p:cNvGrpSpPr/>
          <p:nvPr/>
        </p:nvGrpSpPr>
        <p:grpSpPr>
          <a:xfrm>
            <a:off x="8074152" y="3931920"/>
            <a:ext cx="3429000" cy="1874519"/>
            <a:chOff x="8074152" y="3931920"/>
            <a:chExt cx="3429000" cy="1874519"/>
          </a:xfrm>
        </p:grpSpPr>
        <p:sp>
          <p:nvSpPr>
            <p:cNvPr id="26" name="Rounded Rectangle 25"/>
            <p:cNvSpPr/>
            <p:nvPr/>
          </p:nvSpPr>
          <p:spPr>
            <a:xfrm>
              <a:off x="8074152" y="393192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348472" y="4206240"/>
              <a:ext cx="292608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C-06  ·  SAFETY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348472" y="4709159"/>
              <a:ext cx="301752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000" b="0" i="0" dirty="0">
                  <a:solidFill>
                    <a:srgbClr val="0E1B2C"/>
                  </a:solidFill>
                  <a:latin typeface="Bahnschrift SemiBold"/>
                </a:rPr>
                <a:t>Supervised lab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3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1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9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7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5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DA324B7D-0C6D-4F54-8FC3-11F0A3584A44}" type="slidenum">
              <a:rPr lang="en-US" sz="1100" b="0" i="0">
                <a:solidFill>
                  <a:srgbClr val="5B6B7F"/>
                </a:solidFill>
                <a:latin typeface="Bahnschrift"/>
              </a:rPr>
              <a:t>22</a:t>
            </a:fld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04 · DESIGN REQUIREMENTS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 dirty="0">
                <a:solidFill>
                  <a:srgbClr val="0E1B2C"/>
                </a:solidFill>
                <a:latin typeface="Bahnschrift SemiBold"/>
              </a:rPr>
              <a:t>Engineering standards</a:t>
            </a:r>
          </a:p>
        </p:txBody>
      </p:sp>
      <p:grpSp>
        <p:nvGrpSpPr>
          <p:cNvPr id="11" name="es0"/>
          <p:cNvGrpSpPr/>
          <p:nvPr/>
        </p:nvGrpSpPr>
        <p:grpSpPr>
          <a:xfrm>
            <a:off x="685800" y="1810512"/>
            <a:ext cx="5276088" cy="1783080"/>
            <a:chOff x="685800" y="1810512"/>
            <a:chExt cx="5276088" cy="1783080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10512"/>
              <a:ext cx="5276088" cy="1783080"/>
            </a:xfrm>
            <a:prstGeom prst="roundRect">
              <a:avLst>
                <a:gd name="adj" fmla="val 102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60120" y="2130552"/>
              <a:ext cx="1143000" cy="1143000"/>
            </a:xfrm>
            <a:prstGeom prst="roundRect">
              <a:avLst>
                <a:gd name="adj" fmla="val 16000"/>
              </a:avLst>
            </a:prstGeom>
            <a:solidFill>
              <a:srgbClr val="0369A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60120" y="2898648"/>
              <a:ext cx="114300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300" b="0" i="0">
                  <a:solidFill>
                    <a:srgbClr val="FFFFFF"/>
                  </a:solidFill>
                  <a:latin typeface="Bahnschrift SemiBold"/>
                </a:rPr>
                <a:t>IEC</a:t>
              </a:r>
            </a:p>
          </p:txBody>
        </p:sp>
        <p:pic>
          <p:nvPicPr>
            <p:cNvPr id="90" name="std_icon0" descr="std_controls.png"/>
            <p:cNvPicPr>
              <a:picLocks noChangeAspect="1"/>
            </p:cNvPicPr>
            <p:nvPr/>
          </p:nvPicPr>
          <p:blipFill>
            <a:blip r:embed="rIdS0"/>
            <a:stretch>
              <a:fillRect/>
            </a:stretch>
          </p:blipFill>
          <p:spPr>
            <a:xfrm>
              <a:off x="1284732" y="2313432"/>
              <a:ext cx="493776" cy="493776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2331720" y="2221992"/>
              <a:ext cx="34747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100" b="0" i="0" dirty="0">
                  <a:solidFill>
                    <a:srgbClr val="0E1B2C"/>
                  </a:solidFill>
                  <a:latin typeface="Bahnschrift SemiBold"/>
                </a:rPr>
                <a:t>IEC 60730-1:2022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31720" y="2724912"/>
              <a:ext cx="34747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0" i="0" dirty="0">
                  <a:solidFill>
                    <a:srgbClr val="5B6B7F"/>
                  </a:solidFill>
                  <a:latin typeface="Segoe UI Semibold"/>
                </a:rPr>
                <a:t>Automatic controls</a:t>
              </a:r>
            </a:p>
          </p:txBody>
        </p:sp>
      </p:grpSp>
      <p:grpSp>
        <p:nvGrpSpPr>
          <p:cNvPr id="17" name="es1"/>
          <p:cNvGrpSpPr/>
          <p:nvPr/>
        </p:nvGrpSpPr>
        <p:grpSpPr>
          <a:xfrm>
            <a:off x="6227064" y="1810512"/>
            <a:ext cx="5276088" cy="1783080"/>
            <a:chOff x="6227064" y="1810512"/>
            <a:chExt cx="5276088" cy="1783080"/>
          </a:xfrm>
        </p:grpSpPr>
        <p:sp>
          <p:nvSpPr>
            <p:cNvPr id="12" name="Rounded Rectangle 11"/>
            <p:cNvSpPr/>
            <p:nvPr/>
          </p:nvSpPr>
          <p:spPr>
            <a:xfrm>
              <a:off x="6227064" y="1810512"/>
              <a:ext cx="5276088" cy="1783080"/>
            </a:xfrm>
            <a:prstGeom prst="roundRect">
              <a:avLst>
                <a:gd name="adj" fmla="val 102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501383" y="2130552"/>
              <a:ext cx="1143000" cy="1143000"/>
            </a:xfrm>
            <a:prstGeom prst="roundRect">
              <a:avLst>
                <a:gd name="adj" fmla="val 16000"/>
              </a:avLst>
            </a:prstGeom>
            <a:solidFill>
              <a:srgbClr val="0369A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01384" y="2898648"/>
              <a:ext cx="114300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300" b="0" i="0">
                  <a:solidFill>
                    <a:srgbClr val="FFFFFF"/>
                  </a:solidFill>
                  <a:latin typeface="Bahnschrift SemiBold"/>
                </a:rPr>
                <a:t>IEC</a:t>
              </a:r>
            </a:p>
          </p:txBody>
        </p:sp>
        <p:pic>
          <p:nvPicPr>
            <p:cNvPr id="91" name="std_icon1" descr="std_meter.png"/>
            <p:cNvPicPr>
              <a:picLocks noChangeAspect="1"/>
            </p:cNvPicPr>
            <p:nvPr/>
          </p:nvPicPr>
          <p:blipFill>
            <a:blip r:embed="rIdS1"/>
            <a:stretch>
              <a:fillRect/>
            </a:stretch>
          </p:blipFill>
          <p:spPr>
            <a:xfrm>
              <a:off x="6825996" y="2313432"/>
              <a:ext cx="493776" cy="493776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7872983" y="2221992"/>
              <a:ext cx="34747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100" b="0" i="0">
                  <a:solidFill>
                    <a:srgbClr val="0E1B2C"/>
                  </a:solidFill>
                  <a:latin typeface="Bahnschrift SemiBold"/>
                </a:rPr>
                <a:t>IEC 62053-21:2020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872983" y="2724912"/>
              <a:ext cx="34747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0" i="0">
                  <a:solidFill>
                    <a:srgbClr val="5B6B7F"/>
                  </a:solidFill>
                  <a:latin typeface="Segoe UI Semibold"/>
                </a:rPr>
                <a:t>Energy-metering accuracy</a:t>
              </a:r>
            </a:p>
          </p:txBody>
        </p:sp>
      </p:grpSp>
      <p:grpSp>
        <p:nvGrpSpPr>
          <p:cNvPr id="23" name="es2"/>
          <p:cNvGrpSpPr/>
          <p:nvPr/>
        </p:nvGrpSpPr>
        <p:grpSpPr>
          <a:xfrm>
            <a:off x="685800" y="3822191"/>
            <a:ext cx="5276088" cy="1783080"/>
            <a:chOff x="685800" y="3822191"/>
            <a:chExt cx="5276088" cy="1783080"/>
          </a:xfrm>
        </p:grpSpPr>
        <p:sp>
          <p:nvSpPr>
            <p:cNvPr id="18" name="Rounded Rectangle 17"/>
            <p:cNvSpPr/>
            <p:nvPr/>
          </p:nvSpPr>
          <p:spPr>
            <a:xfrm>
              <a:off x="685800" y="3822191"/>
              <a:ext cx="5276088" cy="1783080"/>
            </a:xfrm>
            <a:prstGeom prst="roundRect">
              <a:avLst>
                <a:gd name="adj" fmla="val 102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60120" y="4142231"/>
              <a:ext cx="1143000" cy="1143000"/>
            </a:xfrm>
            <a:prstGeom prst="roundRect">
              <a:avLst>
                <a:gd name="adj" fmla="val 16000"/>
              </a:avLst>
            </a:prstGeom>
            <a:solidFill>
              <a:srgbClr val="0F76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60120" y="4910328"/>
              <a:ext cx="114300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300" b="0" i="0">
                  <a:solidFill>
                    <a:srgbClr val="FFFFFF"/>
                  </a:solidFill>
                  <a:latin typeface="Bahnschrift SemiBold"/>
                </a:rPr>
                <a:t>SBC</a:t>
              </a:r>
            </a:p>
          </p:txBody>
        </p:sp>
        <p:pic>
          <p:nvPicPr>
            <p:cNvPr id="92" name="std_icon2" descr="std_wiring.png"/>
            <p:cNvPicPr>
              <a:picLocks noChangeAspect="1"/>
            </p:cNvPicPr>
            <p:nvPr/>
          </p:nvPicPr>
          <p:blipFill>
            <a:blip r:embed="rIdS2"/>
            <a:stretch>
              <a:fillRect/>
            </a:stretch>
          </p:blipFill>
          <p:spPr>
            <a:xfrm>
              <a:off x="1284732" y="4325112"/>
              <a:ext cx="493776" cy="493776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331720" y="4233672"/>
              <a:ext cx="34747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100" b="0" i="0">
                  <a:solidFill>
                    <a:srgbClr val="0E1B2C"/>
                  </a:solidFill>
                  <a:latin typeface="Bahnschrift SemiBold"/>
                </a:rPr>
                <a:t>SBC 401 (2024)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331720" y="4736592"/>
              <a:ext cx="34747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0" i="0">
                  <a:solidFill>
                    <a:srgbClr val="5B6B7F"/>
                  </a:solidFill>
                  <a:latin typeface="Segoe UI Semibold"/>
                </a:rPr>
                <a:t>Wiring &amp; protection</a:t>
              </a:r>
            </a:p>
          </p:txBody>
        </p:sp>
      </p:grpSp>
      <p:grpSp>
        <p:nvGrpSpPr>
          <p:cNvPr id="29" name="es3"/>
          <p:cNvGrpSpPr/>
          <p:nvPr/>
        </p:nvGrpSpPr>
        <p:grpSpPr>
          <a:xfrm>
            <a:off x="6227064" y="3822191"/>
            <a:ext cx="5276088" cy="1783080"/>
            <a:chOff x="6227064" y="3822191"/>
            <a:chExt cx="5276088" cy="1783080"/>
          </a:xfrm>
        </p:grpSpPr>
        <p:sp>
          <p:nvSpPr>
            <p:cNvPr id="24" name="Rounded Rectangle 23"/>
            <p:cNvSpPr/>
            <p:nvPr/>
          </p:nvSpPr>
          <p:spPr>
            <a:xfrm>
              <a:off x="6227064" y="3822191"/>
              <a:ext cx="5276088" cy="1783080"/>
            </a:xfrm>
            <a:prstGeom prst="roundRect">
              <a:avLst>
                <a:gd name="adj" fmla="val 102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501383" y="4142231"/>
              <a:ext cx="1143000" cy="1143000"/>
            </a:xfrm>
            <a:prstGeom prst="roundRect">
              <a:avLst>
                <a:gd name="adj" fmla="val 16000"/>
              </a:avLst>
            </a:prstGeom>
            <a:solidFill>
              <a:srgbClr val="B4530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01384" y="4910328"/>
              <a:ext cx="114300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300" b="0" i="0">
                  <a:solidFill>
                    <a:srgbClr val="FFFFFF"/>
                  </a:solidFill>
                  <a:latin typeface="Bahnschrift SemiBold"/>
                </a:rPr>
                <a:t>GSO</a:t>
              </a:r>
            </a:p>
          </p:txBody>
        </p:sp>
        <p:pic>
          <p:nvPicPr>
            <p:cNvPr id="93" name="std_icon3" descr="std_lv.png"/>
            <p:cNvPicPr>
              <a:picLocks noChangeAspect="1"/>
            </p:cNvPicPr>
            <p:nvPr/>
          </p:nvPicPr>
          <p:blipFill>
            <a:blip r:embed="rIdS3"/>
            <a:stretch>
              <a:fillRect/>
            </a:stretch>
          </p:blipFill>
          <p:spPr>
            <a:xfrm>
              <a:off x="6825996" y="4325112"/>
              <a:ext cx="493776" cy="493776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7872983" y="4233672"/>
              <a:ext cx="34747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100" b="0" i="0">
                  <a:solidFill>
                    <a:srgbClr val="0E1B2C"/>
                  </a:solidFill>
                  <a:latin typeface="Bahnschrift SemiBold"/>
                </a:rPr>
                <a:t>Gulf Technical Regulation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872983" y="4736592"/>
              <a:ext cx="34747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0" i="0">
                  <a:solidFill>
                    <a:srgbClr val="5B6B7F"/>
                  </a:solidFill>
                  <a:latin typeface="Segoe UI Semibold"/>
                </a:rPr>
                <a:t>Low-voltage equipment</a:t>
              </a:r>
            </a:p>
          </p:txBody>
        </p:sp>
      </p:grpSp>
      <p:sp>
        <p:nvSpPr>
          <p:cNvPr id="30" name="src"/>
          <p:cNvSpPr txBox="1"/>
          <p:nvPr/>
        </p:nvSpPr>
        <p:spPr>
          <a:xfrm>
            <a:off x="685800" y="589788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B6B7F"/>
                </a:solidFill>
                <a:latin typeface="Segoe UI"/>
              </a:rPr>
              <a:t>Engineering and safety guidance — certification out of scope.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030577FC-5744-4E95-8DC5-C35B962417AD}" type="slidenum">
              <a:rPr lang="en-US" sz="1100" b="0" i="0">
                <a:solidFill>
                  <a:srgbClr val="5B6B7F"/>
                </a:solidFill>
                <a:latin typeface="Bahnschrift"/>
              </a:rPr>
              <a:t>23</a:t>
            </a:fld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04 · DESIGN REQUIREMENTS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Realistic assumptions</a:t>
            </a:r>
          </a:p>
        </p:txBody>
      </p:sp>
      <p:grpSp>
        <p:nvGrpSpPr>
          <p:cNvPr id="10" name="as0"/>
          <p:cNvGrpSpPr/>
          <p:nvPr/>
        </p:nvGrpSpPr>
        <p:grpSpPr>
          <a:xfrm>
            <a:off x="685800" y="1828800"/>
            <a:ext cx="5276088" cy="1170432"/>
            <a:chOff x="685800" y="1828800"/>
            <a:chExt cx="5276088" cy="1170432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28800"/>
              <a:ext cx="5276088" cy="1170432"/>
            </a:xfrm>
            <a:prstGeom prst="roundRect">
              <a:avLst>
                <a:gd name="adj" fmla="val 1406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Oval 6"/>
            <p:cNvSpPr/>
            <p:nvPr/>
          </p:nvSpPr>
          <p:spPr>
            <a:xfrm>
              <a:off x="941832" y="2075688"/>
              <a:ext cx="676656" cy="676656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8" name="Picture 7" descr="pulse_whit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2231136"/>
              <a:ext cx="365760" cy="36576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828800" y="2011680"/>
              <a:ext cx="393192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Normal operation at baseline</a:t>
              </a:r>
            </a:p>
          </p:txBody>
        </p:sp>
      </p:grpSp>
      <p:grpSp>
        <p:nvGrpSpPr>
          <p:cNvPr id="15" name="as1"/>
          <p:cNvGrpSpPr/>
          <p:nvPr/>
        </p:nvGrpSpPr>
        <p:grpSpPr>
          <a:xfrm>
            <a:off x="6227064" y="1828800"/>
            <a:ext cx="5276088" cy="1170432"/>
            <a:chOff x="6227064" y="1828800"/>
            <a:chExt cx="5276088" cy="1170432"/>
          </a:xfrm>
        </p:grpSpPr>
        <p:sp>
          <p:nvSpPr>
            <p:cNvPr id="11" name="Rounded Rectangle 10"/>
            <p:cNvSpPr/>
            <p:nvPr/>
          </p:nvSpPr>
          <p:spPr>
            <a:xfrm>
              <a:off x="6227064" y="1828800"/>
              <a:ext cx="5276088" cy="1170432"/>
            </a:xfrm>
            <a:prstGeom prst="roundRect">
              <a:avLst>
                <a:gd name="adj" fmla="val 1406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2" name="Oval 11"/>
            <p:cNvSpPr/>
            <p:nvPr/>
          </p:nvSpPr>
          <p:spPr>
            <a:xfrm>
              <a:off x="6483096" y="2075688"/>
              <a:ext cx="676656" cy="676656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3" name="Picture 12" descr="plug_whit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38544" y="2231136"/>
              <a:ext cx="365760" cy="36576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7370063" y="2011680"/>
              <a:ext cx="393192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Test loads available</a:t>
              </a:r>
            </a:p>
          </p:txBody>
        </p:sp>
      </p:grpSp>
      <p:grpSp>
        <p:nvGrpSpPr>
          <p:cNvPr id="20" name="as2"/>
          <p:cNvGrpSpPr/>
          <p:nvPr/>
        </p:nvGrpSpPr>
        <p:grpSpPr>
          <a:xfrm>
            <a:off x="685800" y="3200400"/>
            <a:ext cx="5276088" cy="1170432"/>
            <a:chOff x="685800" y="3200400"/>
            <a:chExt cx="5276088" cy="1170432"/>
          </a:xfrm>
        </p:grpSpPr>
        <p:sp>
          <p:nvSpPr>
            <p:cNvPr id="16" name="Rounded Rectangle 15"/>
            <p:cNvSpPr/>
            <p:nvPr/>
          </p:nvSpPr>
          <p:spPr>
            <a:xfrm>
              <a:off x="685800" y="3200400"/>
              <a:ext cx="5276088" cy="1170432"/>
            </a:xfrm>
            <a:prstGeom prst="roundRect">
              <a:avLst>
                <a:gd name="adj" fmla="val 1406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" name="Oval 16"/>
            <p:cNvSpPr/>
            <p:nvPr/>
          </p:nvSpPr>
          <p:spPr>
            <a:xfrm>
              <a:off x="941832" y="3447288"/>
              <a:ext cx="676656" cy="676656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8" name="Picture 17" descr="lab_whit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7280" y="3602736"/>
              <a:ext cx="365760" cy="36576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828800" y="3383280"/>
              <a:ext cx="393192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Lab + calibrated instruments</a:t>
              </a:r>
            </a:p>
          </p:txBody>
        </p:sp>
      </p:grpSp>
      <p:grpSp>
        <p:nvGrpSpPr>
          <p:cNvPr id="25" name="as3"/>
          <p:cNvGrpSpPr/>
          <p:nvPr/>
        </p:nvGrpSpPr>
        <p:grpSpPr>
          <a:xfrm>
            <a:off x="6227064" y="3200400"/>
            <a:ext cx="5276088" cy="1170432"/>
            <a:chOff x="6227064" y="3200400"/>
            <a:chExt cx="5276088" cy="1170432"/>
          </a:xfrm>
        </p:grpSpPr>
        <p:sp>
          <p:nvSpPr>
            <p:cNvPr id="21" name="Rounded Rectangle 20"/>
            <p:cNvSpPr/>
            <p:nvPr/>
          </p:nvSpPr>
          <p:spPr>
            <a:xfrm>
              <a:off x="6227064" y="3200400"/>
              <a:ext cx="5276088" cy="1170432"/>
            </a:xfrm>
            <a:prstGeom prst="roundRect">
              <a:avLst>
                <a:gd name="adj" fmla="val 1406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2" name="Oval 21"/>
            <p:cNvSpPr/>
            <p:nvPr/>
          </p:nvSpPr>
          <p:spPr>
            <a:xfrm>
              <a:off x="6483096" y="3447288"/>
              <a:ext cx="676656" cy="676656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3" name="Picture 22" descr="shield_whit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38544" y="3602736"/>
              <a:ext cx="365760" cy="36576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7370063" y="3383280"/>
              <a:ext cx="393192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Protected, grounded supply</a:t>
              </a:r>
            </a:p>
          </p:txBody>
        </p:sp>
      </p:grpSp>
      <p:grpSp>
        <p:nvGrpSpPr>
          <p:cNvPr id="30" name="as4"/>
          <p:cNvGrpSpPr/>
          <p:nvPr/>
        </p:nvGrpSpPr>
        <p:grpSpPr>
          <a:xfrm>
            <a:off x="685800" y="4572000"/>
            <a:ext cx="5276088" cy="1170432"/>
            <a:chOff x="685800" y="4572000"/>
            <a:chExt cx="5276088" cy="1170432"/>
          </a:xfrm>
        </p:grpSpPr>
        <p:sp>
          <p:nvSpPr>
            <p:cNvPr id="26" name="Rounded Rectangle 25"/>
            <p:cNvSpPr/>
            <p:nvPr/>
          </p:nvSpPr>
          <p:spPr>
            <a:xfrm>
              <a:off x="685800" y="4572000"/>
              <a:ext cx="5276088" cy="1170432"/>
            </a:xfrm>
            <a:prstGeom prst="roundRect">
              <a:avLst>
                <a:gd name="adj" fmla="val 1406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7" name="Oval 26"/>
            <p:cNvSpPr/>
            <p:nvPr/>
          </p:nvSpPr>
          <p:spPr>
            <a:xfrm>
              <a:off x="941832" y="4818888"/>
              <a:ext cx="676656" cy="676656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8" name="Picture 27" descr="doc_whit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7280" y="4974336"/>
              <a:ext cx="365760" cy="36576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1828800" y="4754880"/>
              <a:ext cx="393192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Up-to-date tariff</a:t>
              </a:r>
            </a:p>
          </p:txBody>
        </p:sp>
      </p:grpSp>
      <p:grpSp>
        <p:nvGrpSpPr>
          <p:cNvPr id="35" name="as5"/>
          <p:cNvGrpSpPr/>
          <p:nvPr/>
        </p:nvGrpSpPr>
        <p:grpSpPr>
          <a:xfrm>
            <a:off x="6227064" y="4572000"/>
            <a:ext cx="5276088" cy="1170432"/>
            <a:chOff x="6227064" y="4572000"/>
            <a:chExt cx="5276088" cy="1170432"/>
          </a:xfrm>
        </p:grpSpPr>
        <p:sp>
          <p:nvSpPr>
            <p:cNvPr id="31" name="Rounded Rectangle 30"/>
            <p:cNvSpPr/>
            <p:nvPr/>
          </p:nvSpPr>
          <p:spPr>
            <a:xfrm>
              <a:off x="6227064" y="4572000"/>
              <a:ext cx="5276088" cy="1170432"/>
            </a:xfrm>
            <a:prstGeom prst="roundRect">
              <a:avLst>
                <a:gd name="adj" fmla="val 1406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2" name="Oval 31"/>
            <p:cNvSpPr/>
            <p:nvPr/>
          </p:nvSpPr>
          <p:spPr>
            <a:xfrm>
              <a:off x="6483096" y="4818888"/>
              <a:ext cx="676656" cy="676656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33" name="Picture 32" descr="people_whit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38544" y="4974336"/>
              <a:ext cx="365760" cy="365760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7370063" y="4754880"/>
              <a:ext cx="393192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Correct user inputs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3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6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9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2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65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E204E2A5-F98B-4CDF-9524-7A9D31E7BDFC}" type="slidenum">
              <a:rPr lang="en-US" sz="1100" b="0" i="0">
                <a:solidFill>
                  <a:srgbClr val="5B6B7F"/>
                </a:solidFill>
                <a:latin typeface="Bahnschrift"/>
              </a:rPr>
              <a:t>24</a:t>
            </a:fld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04 · DESIGN REQUIREMENTS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Project deliverables</a:t>
            </a:r>
          </a:p>
        </p:txBody>
      </p:sp>
      <p:sp>
        <p:nvSpPr>
          <p:cNvPr id="6" name="track"/>
          <p:cNvSpPr/>
          <p:nvPr/>
        </p:nvSpPr>
        <p:spPr>
          <a:xfrm>
            <a:off x="1325880" y="3429000"/>
            <a:ext cx="9555480" cy="54864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11" name="dl0"/>
          <p:cNvGrpSpPr/>
          <p:nvPr/>
        </p:nvGrpSpPr>
        <p:grpSpPr>
          <a:xfrm>
            <a:off x="457200" y="2834640"/>
            <a:ext cx="2194560" cy="2743200"/>
            <a:chOff x="457200" y="2834640"/>
            <a:chExt cx="2194560" cy="2743200"/>
          </a:xfrm>
        </p:grpSpPr>
        <p:sp>
          <p:nvSpPr>
            <p:cNvPr id="7" name="Oval 6"/>
            <p:cNvSpPr/>
            <p:nvPr/>
          </p:nvSpPr>
          <p:spPr>
            <a:xfrm>
              <a:off x="960120" y="2834640"/>
              <a:ext cx="1188720" cy="1188720"/>
            </a:xfrm>
            <a:prstGeom prst="ellipse">
              <a:avLst/>
            </a:prstGeom>
            <a:solidFill>
              <a:srgbClr val="FFB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8" name="Picture 7" descr="chip_nigh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2728" y="3127248"/>
              <a:ext cx="603504" cy="603504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685800" y="4297680"/>
              <a:ext cx="17373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500" b="0" i="0" spc="150" dirty="0">
                  <a:solidFill>
                    <a:srgbClr val="B45309"/>
                  </a:solidFill>
                  <a:latin typeface="Segoe UI Semibold"/>
                </a:rPr>
                <a:t>D-1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7200" y="4663440"/>
              <a:ext cx="2194560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Prototype</a:t>
              </a:r>
            </a:p>
          </p:txBody>
        </p:sp>
      </p:grpSp>
      <p:grpSp>
        <p:nvGrpSpPr>
          <p:cNvPr id="16" name="dl1"/>
          <p:cNvGrpSpPr/>
          <p:nvPr/>
        </p:nvGrpSpPr>
        <p:grpSpPr>
          <a:xfrm>
            <a:off x="2679192" y="2834640"/>
            <a:ext cx="2194560" cy="2743200"/>
            <a:chOff x="2679192" y="2834640"/>
            <a:chExt cx="2194560" cy="2743200"/>
          </a:xfrm>
        </p:grpSpPr>
        <p:sp>
          <p:nvSpPr>
            <p:cNvPr id="12" name="Oval 11"/>
            <p:cNvSpPr/>
            <p:nvPr/>
          </p:nvSpPr>
          <p:spPr>
            <a:xfrm>
              <a:off x="3182112" y="2834640"/>
              <a:ext cx="1188720" cy="11887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3" name="Picture 12" descr="plug_whit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74720" y="3127248"/>
              <a:ext cx="603504" cy="603504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907792" y="4297680"/>
              <a:ext cx="17373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500" b="0" i="0" spc="150">
                  <a:solidFill>
                    <a:srgbClr val="B45309"/>
                  </a:solidFill>
                  <a:latin typeface="Segoe UI Semibold"/>
                </a:rPr>
                <a:t>D-2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679192" y="4663440"/>
              <a:ext cx="2194560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Test bench</a:t>
              </a:r>
            </a:p>
          </p:txBody>
        </p:sp>
      </p:grpSp>
      <p:grpSp>
        <p:nvGrpSpPr>
          <p:cNvPr id="21" name="dl2"/>
          <p:cNvGrpSpPr/>
          <p:nvPr/>
        </p:nvGrpSpPr>
        <p:grpSpPr>
          <a:xfrm>
            <a:off x="4901184" y="2834640"/>
            <a:ext cx="2194560" cy="2743200"/>
            <a:chOff x="4901184" y="2834640"/>
            <a:chExt cx="2194560" cy="2743200"/>
          </a:xfrm>
        </p:grpSpPr>
        <p:sp>
          <p:nvSpPr>
            <p:cNvPr id="17" name="Oval 16"/>
            <p:cNvSpPr/>
            <p:nvPr/>
          </p:nvSpPr>
          <p:spPr>
            <a:xfrm>
              <a:off x="5404104" y="2834640"/>
              <a:ext cx="1188720" cy="11887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8" name="Picture 17" descr="monitor_whit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96712" y="3127248"/>
              <a:ext cx="603504" cy="603504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5129784" y="4297680"/>
              <a:ext cx="17373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500" b="0" i="0" spc="150">
                  <a:solidFill>
                    <a:srgbClr val="B45309"/>
                  </a:solidFill>
                  <a:latin typeface="Segoe UI Semibold"/>
                </a:rPr>
                <a:t>D-3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01184" y="4663440"/>
              <a:ext cx="2194560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Firmware &amp; UI</a:t>
              </a:r>
            </a:p>
          </p:txBody>
        </p:sp>
      </p:grpSp>
      <p:grpSp>
        <p:nvGrpSpPr>
          <p:cNvPr id="26" name="dl3"/>
          <p:cNvGrpSpPr/>
          <p:nvPr/>
        </p:nvGrpSpPr>
        <p:grpSpPr>
          <a:xfrm>
            <a:off x="7123176" y="2834640"/>
            <a:ext cx="2194560" cy="2743200"/>
            <a:chOff x="7123176" y="2834640"/>
            <a:chExt cx="2194560" cy="2743200"/>
          </a:xfrm>
        </p:grpSpPr>
        <p:sp>
          <p:nvSpPr>
            <p:cNvPr id="22" name="Oval 21"/>
            <p:cNvSpPr/>
            <p:nvPr/>
          </p:nvSpPr>
          <p:spPr>
            <a:xfrm>
              <a:off x="7626096" y="2834640"/>
              <a:ext cx="1188720" cy="11887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3" name="Picture 22" descr="checklist_whit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18704" y="3127248"/>
              <a:ext cx="603504" cy="603504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7351776" y="4297680"/>
              <a:ext cx="17373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500" b="0" i="0" spc="150">
                  <a:solidFill>
                    <a:srgbClr val="B45309"/>
                  </a:solidFill>
                  <a:latin typeface="Segoe UI Semibold"/>
                </a:rPr>
                <a:t>D-4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123176" y="4663440"/>
              <a:ext cx="2194560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Validation results</a:t>
              </a:r>
            </a:p>
          </p:txBody>
        </p:sp>
      </p:grpSp>
      <p:grpSp>
        <p:nvGrpSpPr>
          <p:cNvPr id="31" name="dl4"/>
          <p:cNvGrpSpPr/>
          <p:nvPr/>
        </p:nvGrpSpPr>
        <p:grpSpPr>
          <a:xfrm>
            <a:off x="9345168" y="2834640"/>
            <a:ext cx="2194560" cy="2743200"/>
            <a:chOff x="9345168" y="2834640"/>
            <a:chExt cx="2194560" cy="2743200"/>
          </a:xfrm>
        </p:grpSpPr>
        <p:sp>
          <p:nvSpPr>
            <p:cNvPr id="27" name="Oval 26"/>
            <p:cNvSpPr/>
            <p:nvPr/>
          </p:nvSpPr>
          <p:spPr>
            <a:xfrm>
              <a:off x="9848088" y="2834640"/>
              <a:ext cx="1188720" cy="11887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8" name="Picture 27" descr="doc_whit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40696" y="3127248"/>
              <a:ext cx="603504" cy="603504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9573768" y="4297680"/>
              <a:ext cx="17373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500" b="0" i="0" spc="150">
                  <a:solidFill>
                    <a:srgbClr val="B45309"/>
                  </a:solidFill>
                  <a:latin typeface="Segoe UI Semibold"/>
                </a:rPr>
                <a:t>D-5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345168" y="4663440"/>
              <a:ext cx="2194560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Documentation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8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6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34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vid_cityend">
            <a:hlinkClick r:id="" action="ppaction://media"/>
            <a:extLst>
              <a:ext uri="{FF2B5EF4-FFF2-40B4-BE49-F238E27FC236}">
                <a16:creationId xmlns:a16="http://schemas.microsoft.com/office/drawing/2014/main" id="{F87EFD43-4FF8-D861-16A2-128B8778663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" y="0"/>
            <a:ext cx="12192001" cy="6858000"/>
          </a:xfrm>
          <a:prstGeom prst="rect">
            <a:avLst/>
          </a:prstGeom>
        </p:spPr>
      </p:pic>
      <p:sp>
        <p:nvSpPr>
          <p:cNvPr id="2" name="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veil2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0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0" i="0" spc="250" dirty="0">
                <a:solidFill>
                  <a:srgbClr val="B45309"/>
                </a:solidFill>
                <a:latin typeface="Segoe UI Semibold"/>
              </a:rPr>
              <a:t>EE499  ·  TEAM 16</a:t>
            </a:r>
          </a:p>
        </p:txBody>
      </p:sp>
      <p:sp>
        <p:nvSpPr>
          <p:cNvPr id="4" name="c3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800" b="0" i="0" dirty="0">
                <a:solidFill>
                  <a:srgbClr val="B45309"/>
                </a:solidFill>
                <a:latin typeface="Bahnschrift SemiBold"/>
              </a:rPr>
              <a:t>Thank you — questions?</a:t>
            </a:r>
          </a:p>
        </p:txBody>
      </p:sp>
      <p:sp>
        <p:nvSpPr>
          <p:cNvPr id="5" name="c1"/>
          <p:cNvSpPr txBox="1"/>
          <p:nvPr/>
        </p:nvSpPr>
        <p:spPr>
          <a:xfrm>
            <a:off x="685800" y="169164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0" i="0" dirty="0">
                <a:solidFill>
                  <a:srgbClr val="0E1B2C"/>
                </a:solidFill>
                <a:latin typeface="Bahnschrift SemiBold"/>
              </a:rPr>
              <a:t>Visibility</a:t>
            </a:r>
            <a:r>
              <a:rPr lang="en-US" sz="2400" b="0" i="0" dirty="0">
                <a:solidFill>
                  <a:srgbClr val="B45309"/>
                </a:solidFill>
                <a:latin typeface="Bahnschrift SemiBold"/>
              </a:rPr>
              <a:t xml:space="preserve">.  </a:t>
            </a:r>
            <a:r>
              <a:rPr lang="en-US" sz="2400" b="0" i="0" dirty="0">
                <a:solidFill>
                  <a:srgbClr val="0E1B2C"/>
                </a:solidFill>
                <a:latin typeface="Bahnschrift SemiBold"/>
              </a:rPr>
              <a:t>Priority</a:t>
            </a:r>
            <a:r>
              <a:rPr lang="en-US" sz="2400" b="0" i="0" dirty="0">
                <a:solidFill>
                  <a:srgbClr val="B45309"/>
                </a:solidFill>
                <a:latin typeface="Bahnschrift SemiBold"/>
              </a:rPr>
              <a:t xml:space="preserve">.  </a:t>
            </a:r>
            <a:r>
              <a:rPr lang="en-US" sz="2400" b="0" i="0" dirty="0">
                <a:solidFill>
                  <a:srgbClr val="0E1B2C"/>
                </a:solidFill>
                <a:latin typeface="Bahnschrift SemiBold"/>
              </a:rPr>
              <a:t>Safety</a:t>
            </a:r>
            <a:r>
              <a:rPr lang="en-US" sz="2400" b="0" i="0" dirty="0">
                <a:solidFill>
                  <a:srgbClr val="B45309"/>
                </a:solidFill>
                <a:latin typeface="Bahnschrift SemiBold"/>
              </a:rPr>
              <a:t>.</a:t>
            </a:r>
            <a:r>
              <a:rPr lang="en-US" sz="2000" b="0" i="0" dirty="0">
                <a:solidFill>
                  <a:srgbClr val="5B6B7F"/>
                </a:solidFill>
                <a:latin typeface="Segoe UI"/>
              </a:rPr>
              <a:t xml:space="preserve">   A need — not a luxury.</a:t>
            </a:r>
          </a:p>
        </p:txBody>
      </p:sp>
      <p:sp>
        <p:nvSpPr>
          <p:cNvPr id="6" name="c4"/>
          <p:cNvSpPr txBox="1"/>
          <p:nvPr/>
        </p:nvSpPr>
        <p:spPr>
          <a:xfrm>
            <a:off x="685800" y="22402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0" i="0" dirty="0">
                <a:solidFill>
                  <a:srgbClr val="5B6B7F"/>
                </a:solidFill>
                <a:latin typeface="Segoe UI"/>
              </a:rPr>
              <a:t>Team 16  ·  Ali Khudhayr  ·  Mohammad Kassem  ·  Omar Baflah</a:t>
            </a:r>
          </a:p>
        </p:txBody>
      </p:sp>
      <p:sp>
        <p:nvSpPr>
          <p:cNvPr id="8" name="sum_k"/>
          <p:cNvSpPr txBox="1"/>
          <p:nvPr/>
        </p:nvSpPr>
        <p:spPr>
          <a:xfrm>
            <a:off x="685800" y="2852928"/>
            <a:ext cx="52715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0" i="0" spc="250" dirty="0">
                <a:solidFill>
                  <a:srgbClr val="5B6B7F"/>
                </a:solidFill>
                <a:latin typeface="Segoe UI Semibold"/>
              </a:rPr>
              <a:t>IN SUMMARY</a:t>
            </a:r>
          </a:p>
        </p:txBody>
      </p:sp>
      <p:pic>
        <p:nvPicPr>
          <p:cNvPr id="9" name="vid_summary" descr="Looping summary of the presentation slides">
            <a:hlinkClick r:id="" action="ppaction://media"/>
          </p:cNvPr>
          <p:cNvPicPr>
            <a:picLocks noChangeAspect="1"/>
          </p:cNvPicPr>
          <p:nvPr>
            <a:videoFile r:link="rIdSV"/>
            <p:extLst>
              <p:ext uri="{DAA4B4D4-6D71-4841-9C94-3DE7FCFB9230}">
                <p14:media xmlns:p14="http://schemas.microsoft.com/office/powerpoint/2010/main" r:embed="rIdSM"/>
              </p:ext>
            </p:extLst>
          </p:nvPr>
        </p:nvPicPr>
        <p:blipFill>
          <a:blip r:embed="rIdSP"/>
          <a:stretch>
            <a:fillRect/>
          </a:stretch>
        </p:blipFill>
        <p:spPr>
          <a:xfrm>
            <a:off x="685800" y="3200400"/>
            <a:ext cx="5271516" cy="2965228"/>
          </a:xfrm>
          <a:prstGeom prst="rect">
            <a:avLst/>
          </a:prstGeom>
        </p:spPr>
      </p:pic>
      <p:sp>
        <p:nvSpPr>
          <p:cNvPr id="10" name="pc_k"/>
          <p:cNvSpPr txBox="1"/>
          <p:nvPr/>
        </p:nvSpPr>
        <p:spPr>
          <a:xfrm>
            <a:off x="6231636" y="2852928"/>
            <a:ext cx="52715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0" i="0" spc="200" dirty="0">
                <a:solidFill>
                  <a:srgbClr val="B45309"/>
                </a:solidFill>
                <a:latin typeface="Segoe UI Semibold"/>
              </a:rPr>
              <a:t>PRIORITY CONTROL IN ACTION  ·  DS-04 / DS-05</a:t>
            </a:r>
          </a:p>
        </p:txBody>
      </p:sp>
      <p:pic>
        <p:nvPicPr>
          <p:cNvPr id="11" name="vid_priority" descr="Priority control demo: lowest-priority loads are shed until demand is within the limit">
            <a:hlinkClick r:id="" action="ppaction://media"/>
          </p:cNvPr>
          <p:cNvPicPr>
            <a:picLocks noChangeAspect="1"/>
          </p:cNvPicPr>
          <p:nvPr>
            <a:videoFile r:link="rIdPV"/>
            <p:extLst>
              <p:ext uri="{DAA4B4D4-6D71-4841-9C94-3DE7FCFB9230}">
                <p14:media xmlns:p14="http://schemas.microsoft.com/office/powerpoint/2010/main" r:embed="rIdPM"/>
              </p:ext>
            </p:extLst>
          </p:nvPr>
        </p:nvPicPr>
        <p:blipFill>
          <a:blip r:embed="rIdPP"/>
          <a:stretch>
            <a:fillRect/>
          </a:stretch>
        </p:blipFill>
        <p:spPr>
          <a:xfrm>
            <a:off x="6231636" y="3200400"/>
            <a:ext cx="5271516" cy="2965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" dur="6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999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15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5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95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48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 mute="1">
                <p:cTn id="49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 mute="1">
                <p:cTn id="50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1182</Words>
  <Application>Microsoft Office PowerPoint</Application>
  <PresentationFormat>Widescreen</PresentationFormat>
  <Paragraphs>358</Paragraphs>
  <Slides>30</Slides>
  <Notes>30</Notes>
  <HiddenSlides>0</HiddenSlides>
  <MMClips>8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Bahnschrift</vt:lpstr>
      <vt:lpstr>Bahnschrift SemiBold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ALI YASSER ALI KHUDHAYR</cp:lastModifiedBy>
  <cp:revision>10</cp:revision>
  <dcterms:created xsi:type="dcterms:W3CDTF">2013-01-27T09:14:16Z</dcterms:created>
  <dcterms:modified xsi:type="dcterms:W3CDTF">2026-10-13T16:51:12Z</dcterms:modified>
  <cp:category/>
</cp:coreProperties>
</file>