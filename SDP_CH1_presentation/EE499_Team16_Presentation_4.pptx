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64" r:id="rId2"/>
    <p:sldId id="265" r:id="rId3"/>
    <p:sldId id="266" r:id="rId4"/>
    <p:sldId id="256" r:id="rId5"/>
    <p:sldId id="257" r:id="rId6"/>
    <p:sldId id="258" r:id="rId7"/>
    <p:sldId id="260" r:id="rId8"/>
    <p:sldId id="261" r:id="rId9"/>
    <p:sldId id="262" r:id="rId10"/>
    <p:sldId id="259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280" r:id="rId23"/>
    <p:sldId id="281" r:id="rId24"/>
    <p:sldId id="278" r:id="rId25"/>
    <p:sldId id="282" r:id="rId26"/>
    <p:sldId id="283" r:id="rId27"/>
    <p:sldId id="284" r:id="rId28"/>
    <p:sldId id="285" r:id="rId29"/>
    <p:sldId id="287" r:id="rId30"/>
    <p:sldId id="27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8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972" autoAdjust="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899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944398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4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1.png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58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5.pn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64.png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65.png"/><Relationship Id="rId4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img" descr="L_city_last.jp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512" y="0"/>
            <a:ext cx="12191695" cy="6858000"/>
          </a:xfrm>
          <a:prstGeom prst="rect">
            <a:avLst/>
          </a:prstGeom>
        </p:spPr>
      </p:pic>
      <p:sp>
        <p:nvSpPr>
          <p:cNvPr id="3" name="veil"/>
          <p:cNvSpPr/>
          <p:nvPr/>
        </p:nvSpPr>
        <p:spPr>
          <a:xfrm>
            <a:off x="25552" y="10160"/>
            <a:ext cx="12420295" cy="6858000"/>
          </a:xfrm>
          <a:prstGeom prst="rect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logo_bg"/>
          <p:cNvSpPr/>
          <p:nvPr/>
        </p:nvSpPr>
        <p:spPr>
          <a:xfrm>
            <a:off x="822960" y="640080"/>
            <a:ext cx="960120" cy="96012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logo" descr="t15_Pictur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685800"/>
            <a:ext cx="868680" cy="868680"/>
          </a:xfrm>
          <a:prstGeom prst="rect">
            <a:avLst/>
          </a:prstGeom>
        </p:spPr>
      </p:pic>
      <p:sp>
        <p:nvSpPr>
          <p:cNvPr id="6" name="kick"/>
          <p:cNvSpPr txBox="1"/>
          <p:nvPr/>
        </p:nvSpPr>
        <p:spPr>
          <a:xfrm>
            <a:off x="2011680" y="74980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300">
                <a:solidFill>
                  <a:srgbClr val="B45309"/>
                </a:solidFill>
                <a:latin typeface="Segoe UI Semibold"/>
              </a:rPr>
              <a:t>EE499  SENIOR DESIGN PROJECT</a:t>
            </a:r>
          </a:p>
          <a:p>
            <a:pPr algn="l"/>
            <a:r>
              <a:rPr sz="1600" b="0" i="0">
                <a:solidFill>
                  <a:srgbClr val="5B6B7F"/>
                </a:solidFill>
                <a:latin typeface="Segoe UI"/>
              </a:rPr>
              <a:t>Report 1 — Problem &amp; Design Requirements</a:t>
            </a:r>
          </a:p>
        </p:txBody>
      </p:sp>
      <p:sp>
        <p:nvSpPr>
          <p:cNvPr id="7" name="t1"/>
          <p:cNvSpPr txBox="1"/>
          <p:nvPr/>
        </p:nvSpPr>
        <p:spPr>
          <a:xfrm>
            <a:off x="822960" y="19202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0" i="0">
                <a:solidFill>
                  <a:srgbClr val="0E1B2C"/>
                </a:solidFill>
                <a:latin typeface="Bahnschrift SemiBold"/>
              </a:rPr>
              <a:t>Smart Home Energy Management</a:t>
            </a:r>
          </a:p>
        </p:txBody>
      </p:sp>
      <p:sp>
        <p:nvSpPr>
          <p:cNvPr id="8" name="t2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B45309"/>
                </a:solidFill>
                <a:latin typeface="Bahnschrift SemiBold"/>
              </a:rPr>
              <a:t>with Priority-Based Load Control</a:t>
            </a:r>
          </a:p>
        </p:txBody>
      </p:sp>
      <p:sp>
        <p:nvSpPr>
          <p:cNvPr id="9" name="tm_k"/>
          <p:cNvSpPr txBox="1"/>
          <p:nvPr/>
        </p:nvSpPr>
        <p:spPr>
          <a:xfrm>
            <a:off x="822960" y="41148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300" dirty="0">
                <a:solidFill>
                  <a:srgbClr val="B45309"/>
                </a:solidFill>
                <a:latin typeface="Segoe UI Semibold"/>
              </a:rPr>
              <a:t>TEAM 16</a:t>
            </a:r>
          </a:p>
        </p:txBody>
      </p:sp>
      <p:sp>
        <p:nvSpPr>
          <p:cNvPr id="10" name="tm"/>
          <p:cNvSpPr txBox="1"/>
          <p:nvPr/>
        </p:nvSpPr>
        <p:spPr>
          <a:xfrm>
            <a:off x="822960" y="4545618"/>
            <a:ext cx="5120640" cy="1118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Ali </a:t>
            </a:r>
            <a:r>
              <a:rPr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Khudhayr</a:t>
            </a:r>
            <a:r>
              <a:rPr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   </a:t>
            </a:r>
            <a:r>
              <a:rPr lang="en-US"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		 </a:t>
            </a:r>
            <a:r>
              <a:rPr sz="17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2343192  ·  PME</a:t>
            </a:r>
          </a:p>
          <a:p>
            <a:pPr algn="l">
              <a:spcAft>
                <a:spcPts val="400"/>
              </a:spcAft>
            </a:pPr>
            <a:r>
              <a:rPr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Mohammad Kassem</a:t>
            </a:r>
            <a:r>
              <a:rPr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   </a:t>
            </a:r>
            <a:r>
              <a:rPr sz="17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2364954  ·  PME</a:t>
            </a:r>
          </a:p>
          <a:p>
            <a:pPr algn="l">
              <a:spcAft>
                <a:spcPts val="400"/>
              </a:spcAft>
            </a:pPr>
            <a:r>
              <a:rPr sz="22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Omar </a:t>
            </a:r>
            <a:r>
              <a:rPr sz="2200" b="0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Baflah</a:t>
            </a:r>
            <a:r>
              <a:rPr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  </a:t>
            </a:r>
            <a:r>
              <a:rPr lang="en-US"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			</a:t>
            </a:r>
            <a:r>
              <a:rPr sz="17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</a:t>
            </a:r>
            <a:r>
              <a:rPr sz="17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2343198  ·  PME</a:t>
            </a:r>
          </a:p>
        </p:txBody>
      </p:sp>
      <p:sp>
        <p:nvSpPr>
          <p:cNvPr id="11" name="ad_k"/>
          <p:cNvSpPr txBox="1"/>
          <p:nvPr/>
        </p:nvSpPr>
        <p:spPr>
          <a:xfrm>
            <a:off x="6781647" y="39547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300" dirty="0">
                <a:solidFill>
                  <a:srgbClr val="B45309"/>
                </a:solidFill>
                <a:latin typeface="Segoe UI Semibold"/>
              </a:rPr>
              <a:t>ADVISOR &amp; CUSTOMER</a:t>
            </a:r>
          </a:p>
        </p:txBody>
      </p:sp>
      <p:sp>
        <p:nvSpPr>
          <p:cNvPr id="12" name="ad"/>
          <p:cNvSpPr txBox="1"/>
          <p:nvPr/>
        </p:nvSpPr>
        <p:spPr>
          <a:xfrm>
            <a:off x="6690207" y="4545618"/>
            <a:ext cx="4754880" cy="964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/>
              </a:rPr>
              <a:t>Dr. Fahd Hariri</a:t>
            </a:r>
          </a:p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Electrical and Computer Engineering</a:t>
            </a:r>
          </a:p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King </a:t>
            </a:r>
            <a:r>
              <a:rPr sz="1600" b="1" i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Abdulaziz</a:t>
            </a:r>
            <a:r>
              <a:rPr sz="1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/>
              </a:rPr>
              <a:t> University  ·  Fall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379083"/>
            <a:ext cx="9144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ar-SA" sz="1100" b="0" i="0" dirty="0">
                <a:solidFill>
                  <a:srgbClr val="5B6B7F"/>
                </a:solidFill>
                <a:latin typeface="Bahnschrift"/>
              </a:rPr>
              <a:t>1</a:t>
            </a:r>
            <a:endParaRPr sz="1100" b="0" i="0" dirty="0">
              <a:solidFill>
                <a:srgbClr val="5B6B7F"/>
              </a:solidFill>
              <a:latin typeface="Bahnschrift"/>
            </a:endParaRP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AGENDA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What we will cover</a:t>
            </a:r>
          </a:p>
        </p:txBody>
      </p:sp>
      <p:grpSp>
        <p:nvGrpSpPr>
          <p:cNvPr id="10" name="tile0"/>
          <p:cNvGrpSpPr/>
          <p:nvPr/>
        </p:nvGrpSpPr>
        <p:grpSpPr>
          <a:xfrm>
            <a:off x="685800" y="2194560"/>
            <a:ext cx="2542032" cy="2926080"/>
            <a:chOff x="685800" y="2194560"/>
            <a:chExt cx="2542032" cy="292608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2194560"/>
              <a:ext cx="2542032" cy="2926080"/>
            </a:xfrm>
            <a:prstGeom prst="roundRect">
              <a:avLst>
                <a:gd name="adj" fmla="val 7913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1005840" y="2514600"/>
              <a:ext cx="868680" cy="86868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home_whi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8720" y="2697480"/>
              <a:ext cx="502920" cy="50292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05840" y="3931920"/>
              <a:ext cx="214884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Introduction</a:t>
              </a:r>
            </a:p>
          </p:txBody>
        </p:sp>
      </p:grpSp>
      <p:sp>
        <p:nvSpPr>
          <p:cNvPr id="11" name="!!sec1"/>
          <p:cNvSpPr txBox="1"/>
          <p:nvPr/>
        </p:nvSpPr>
        <p:spPr>
          <a:xfrm>
            <a:off x="2103120" y="25146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000" b="0" i="0">
                <a:solidFill>
                  <a:srgbClr val="B45309"/>
                </a:solidFill>
                <a:latin typeface="Bahnschrift SemiBold"/>
              </a:rPr>
              <a:t>01</a:t>
            </a:r>
          </a:p>
        </p:txBody>
      </p:sp>
      <p:grpSp>
        <p:nvGrpSpPr>
          <p:cNvPr id="16" name="tile1"/>
          <p:cNvGrpSpPr/>
          <p:nvPr/>
        </p:nvGrpSpPr>
        <p:grpSpPr>
          <a:xfrm>
            <a:off x="3456432" y="2194560"/>
            <a:ext cx="2542032" cy="2926080"/>
            <a:chOff x="3456432" y="2194560"/>
            <a:chExt cx="2542032" cy="2926080"/>
          </a:xfrm>
        </p:grpSpPr>
        <p:sp>
          <p:nvSpPr>
            <p:cNvPr id="12" name="Rounded Rectangle 11"/>
            <p:cNvSpPr/>
            <p:nvPr/>
          </p:nvSpPr>
          <p:spPr>
            <a:xfrm>
              <a:off x="3456432" y="2194560"/>
              <a:ext cx="2542032" cy="2926080"/>
            </a:xfrm>
            <a:prstGeom prst="roundRect">
              <a:avLst>
                <a:gd name="adj" fmla="val 7913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" name="Oval 12"/>
            <p:cNvSpPr/>
            <p:nvPr/>
          </p:nvSpPr>
          <p:spPr>
            <a:xfrm>
              <a:off x="3776472" y="2514600"/>
              <a:ext cx="868680" cy="86868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4" name="Picture 13" descr="warning_whi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9352" y="2697480"/>
              <a:ext cx="502920" cy="50292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3776472" y="3931920"/>
              <a:ext cx="214884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Problem Statement</a:t>
              </a:r>
            </a:p>
          </p:txBody>
        </p:sp>
      </p:grpSp>
      <p:sp>
        <p:nvSpPr>
          <p:cNvPr id="17" name="!!sec2"/>
          <p:cNvSpPr txBox="1"/>
          <p:nvPr/>
        </p:nvSpPr>
        <p:spPr>
          <a:xfrm>
            <a:off x="4873752" y="25146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000" b="0" i="0">
                <a:solidFill>
                  <a:srgbClr val="B45309"/>
                </a:solidFill>
                <a:latin typeface="Bahnschrift SemiBold"/>
              </a:rPr>
              <a:t>02</a:t>
            </a:r>
          </a:p>
        </p:txBody>
      </p:sp>
      <p:grpSp>
        <p:nvGrpSpPr>
          <p:cNvPr id="22" name="tile2"/>
          <p:cNvGrpSpPr/>
          <p:nvPr/>
        </p:nvGrpSpPr>
        <p:grpSpPr>
          <a:xfrm>
            <a:off x="6227064" y="2194560"/>
            <a:ext cx="2542032" cy="2926080"/>
            <a:chOff x="6227064" y="2194560"/>
            <a:chExt cx="2542032" cy="2926080"/>
          </a:xfrm>
        </p:grpSpPr>
        <p:sp>
          <p:nvSpPr>
            <p:cNvPr id="18" name="Rounded Rectangle 17"/>
            <p:cNvSpPr/>
            <p:nvPr/>
          </p:nvSpPr>
          <p:spPr>
            <a:xfrm>
              <a:off x="6227064" y="2194560"/>
              <a:ext cx="2542032" cy="2926080"/>
            </a:xfrm>
            <a:prstGeom prst="roundRect">
              <a:avLst>
                <a:gd name="adj" fmla="val 7913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9" name="Oval 18"/>
            <p:cNvSpPr/>
            <p:nvPr/>
          </p:nvSpPr>
          <p:spPr>
            <a:xfrm>
              <a:off x="6547103" y="2514600"/>
              <a:ext cx="868680" cy="86868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0" name="Picture 19" descr="target_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29983" y="2697480"/>
              <a:ext cx="502920" cy="50292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6547103" y="3931920"/>
              <a:ext cx="214884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Objectives</a:t>
              </a:r>
            </a:p>
          </p:txBody>
        </p:sp>
      </p:grpSp>
      <p:sp>
        <p:nvSpPr>
          <p:cNvPr id="23" name="!!sec3"/>
          <p:cNvSpPr txBox="1"/>
          <p:nvPr/>
        </p:nvSpPr>
        <p:spPr>
          <a:xfrm>
            <a:off x="7644383" y="25146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000" b="0" i="0">
                <a:solidFill>
                  <a:srgbClr val="B45309"/>
                </a:solidFill>
                <a:latin typeface="Bahnschrift SemiBold"/>
              </a:rPr>
              <a:t>03</a:t>
            </a:r>
          </a:p>
        </p:txBody>
      </p:sp>
      <p:grpSp>
        <p:nvGrpSpPr>
          <p:cNvPr id="28" name="tile3"/>
          <p:cNvGrpSpPr/>
          <p:nvPr/>
        </p:nvGrpSpPr>
        <p:grpSpPr>
          <a:xfrm>
            <a:off x="8997696" y="2194560"/>
            <a:ext cx="2542032" cy="2926080"/>
            <a:chOff x="8997696" y="2194560"/>
            <a:chExt cx="2542032" cy="2926080"/>
          </a:xfrm>
        </p:grpSpPr>
        <p:sp>
          <p:nvSpPr>
            <p:cNvPr id="24" name="Rounded Rectangle 23"/>
            <p:cNvSpPr/>
            <p:nvPr/>
          </p:nvSpPr>
          <p:spPr>
            <a:xfrm>
              <a:off x="8997696" y="2194560"/>
              <a:ext cx="2542032" cy="2926080"/>
            </a:xfrm>
            <a:prstGeom prst="roundRect">
              <a:avLst>
                <a:gd name="adj" fmla="val 7913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5" name="Oval 24"/>
            <p:cNvSpPr/>
            <p:nvPr/>
          </p:nvSpPr>
          <p:spPr>
            <a:xfrm>
              <a:off x="9317736" y="2514600"/>
              <a:ext cx="868680" cy="86868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6" name="Picture 25" descr="checklist_whi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00616" y="2697480"/>
              <a:ext cx="502920" cy="50292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9317736" y="3931920"/>
              <a:ext cx="214884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Design Requirements</a:t>
              </a:r>
            </a:p>
          </p:txBody>
        </p:sp>
      </p:grpSp>
      <p:sp>
        <p:nvSpPr>
          <p:cNvPr id="29" name="!!sec4"/>
          <p:cNvSpPr txBox="1"/>
          <p:nvPr/>
        </p:nvSpPr>
        <p:spPr>
          <a:xfrm>
            <a:off x="10415016" y="2514600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4000" b="0" i="0">
                <a:solidFill>
                  <a:srgbClr val="B45309"/>
                </a:solidFill>
                <a:latin typeface="Bahnschrift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8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ec1"/>
          <p:cNvSpPr txBox="1"/>
          <p:nvPr/>
        </p:nvSpPr>
        <p:spPr>
          <a:xfrm>
            <a:off x="822960" y="91440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0" i="0" dirty="0">
                <a:solidFill>
                  <a:srgbClr val="B45309"/>
                </a:solidFill>
                <a:latin typeface="Bahnschrift SemiBold"/>
              </a:rPr>
              <a:t>01</a:t>
            </a:r>
          </a:p>
        </p:txBody>
      </p:sp>
      <p:sp>
        <p:nvSpPr>
          <p:cNvPr id="3" name="dt"/>
          <p:cNvSpPr txBox="1"/>
          <p:nvPr/>
        </p:nvSpPr>
        <p:spPr>
          <a:xfrm>
            <a:off x="822960" y="34290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 i="0" dirty="0">
                <a:solidFill>
                  <a:srgbClr val="0E1B2C"/>
                </a:solidFill>
                <a:latin typeface="Bahnschrift SemiBold"/>
              </a:rPr>
              <a:t>Introduction</a:t>
            </a:r>
          </a:p>
        </p:txBody>
      </p:sp>
      <p:sp>
        <p:nvSpPr>
          <p:cNvPr id="4" name="ds"/>
          <p:cNvSpPr txBox="1"/>
          <p:nvPr/>
        </p:nvSpPr>
        <p:spPr>
          <a:xfrm>
            <a:off x="822960" y="44348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B6B7F"/>
                </a:solidFill>
                <a:latin typeface="Segoe UI"/>
              </a:rPr>
              <a:t>Why household energy needs managing</a:t>
            </a:r>
          </a:p>
        </p:txBody>
      </p:sp>
      <p:pic>
        <p:nvPicPr>
          <p:cNvPr id="5" name="dicon" descr="home_s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63040"/>
            <a:ext cx="3108960" cy="3108960"/>
          </a:xfrm>
          <a:prstGeom prst="rect">
            <a:avLst/>
          </a:prstGeom>
        </p:spPr>
      </p:pic>
      <p:sp>
        <p:nvSpPr>
          <p:cNvPr id="6" name="rail0"/>
          <p:cNvSpPr txBox="1"/>
          <p:nvPr/>
        </p:nvSpPr>
        <p:spPr>
          <a:xfrm>
            <a:off x="82296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45309"/>
                </a:solidFill>
                <a:latin typeface="Bahnschrift SemiBold"/>
              </a:rPr>
              <a:t>01</a:t>
            </a:r>
          </a:p>
        </p:txBody>
      </p:sp>
      <p:sp>
        <p:nvSpPr>
          <p:cNvPr id="7" name="rail1"/>
          <p:cNvSpPr txBox="1"/>
          <p:nvPr/>
        </p:nvSpPr>
        <p:spPr>
          <a:xfrm>
            <a:off x="160020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02</a:t>
            </a:r>
          </a:p>
        </p:txBody>
      </p:sp>
      <p:sp>
        <p:nvSpPr>
          <p:cNvPr id="8" name="rail2"/>
          <p:cNvSpPr txBox="1"/>
          <p:nvPr/>
        </p:nvSpPr>
        <p:spPr>
          <a:xfrm>
            <a:off x="237744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03</a:t>
            </a:r>
          </a:p>
        </p:txBody>
      </p:sp>
      <p:sp>
        <p:nvSpPr>
          <p:cNvPr id="9" name="rail3"/>
          <p:cNvSpPr txBox="1"/>
          <p:nvPr/>
        </p:nvSpPr>
        <p:spPr>
          <a:xfrm>
            <a:off x="3154679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_city">
            <a:hlinkClick r:id="" action="ppaction://media"/>
            <a:extLst>
              <a:ext uri="{FF2B5EF4-FFF2-40B4-BE49-F238E27FC236}">
                <a16:creationId xmlns:a16="http://schemas.microsoft.com/office/drawing/2014/main" id="{8BC92B78-B68F-8BA1-B607-79C9C84333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" y="0"/>
            <a:ext cx="12192001" cy="6858000"/>
          </a:xfrm>
          <a:prstGeom prst="rect">
            <a:avLst/>
          </a:prstGeom>
        </p:spPr>
      </p:pic>
      <p:sp>
        <p:nvSpPr>
          <p:cNvPr id="2" name="tag"/>
          <p:cNvSpPr txBox="1"/>
          <p:nvPr/>
        </p:nvSpPr>
        <p:spPr>
          <a:xfrm>
            <a:off x="91440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300">
                <a:solidFill>
                  <a:srgbClr val="5B6B7F"/>
                </a:solidFill>
                <a:latin typeface="Segoe UI Semibold"/>
              </a:rPr>
              <a:t>EE499  ·  TEAM 16</a:t>
            </a:r>
          </a:p>
        </p:txBody>
      </p:sp>
      <p:sp>
        <p:nvSpPr>
          <p:cNvPr id="3" name="cap"/>
          <p:cNvSpPr txBox="1"/>
          <p:nvPr/>
        </p:nvSpPr>
        <p:spPr>
          <a:xfrm>
            <a:off x="914400" y="2697480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0" i="0">
                <a:solidFill>
                  <a:srgbClr val="0E1B2C"/>
                </a:solidFill>
                <a:latin typeface="Bahnschrift SemiBold"/>
              </a:rPr>
              <a:t>of Saudi electricity </a:t>
            </a:r>
            <a:r>
              <a:rPr sz="3400" b="0" i="0">
                <a:solidFill>
                  <a:srgbClr val="0E1B2C"/>
                </a:solidFill>
                <a:latin typeface="Segoe UI Semibold"/>
              </a:rPr>
              <a:t>→</a:t>
            </a:r>
            <a:r>
              <a:rPr sz="3400" b="0" i="0">
                <a:solidFill>
                  <a:srgbClr val="0E1B2C"/>
                </a:solidFill>
                <a:latin typeface="Bahnschrift SemiBold"/>
              </a:rPr>
              <a:t> homes</a:t>
            </a:r>
          </a:p>
        </p:txBody>
      </p:sp>
      <p:sp>
        <p:nvSpPr>
          <p:cNvPr id="4" name="src"/>
          <p:cNvSpPr txBox="1"/>
          <p:nvPr/>
        </p:nvSpPr>
        <p:spPr>
          <a:xfrm>
            <a:off x="914400" y="3429000"/>
            <a:ext cx="58521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5B6B7F"/>
                </a:solidFill>
                <a:latin typeface="Segoe UI"/>
              </a:rPr>
              <a:t>Residential share of national consumption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23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2" grpId="0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914400" y="685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300">
                <a:solidFill>
                  <a:srgbClr val="B45309"/>
                </a:solidFill>
                <a:latin typeface="Segoe UI Semibold"/>
              </a:rPr>
              <a:t>INSIDE THE HOME</a:t>
            </a:r>
          </a:p>
        </p:txBody>
      </p:sp>
      <p:sp>
        <p:nvSpPr>
          <p:cNvPr id="3" name="about"/>
          <p:cNvSpPr txBox="1"/>
          <p:nvPr/>
        </p:nvSpPr>
        <p:spPr>
          <a:xfrm>
            <a:off x="914400" y="1188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5B6B7F"/>
                </a:solidFill>
                <a:latin typeface="Segoe UI"/>
              </a:rPr>
              <a:t>about</a:t>
            </a:r>
          </a:p>
        </p:txBody>
      </p:sp>
      <p:sp>
        <p:nvSpPr>
          <p:cNvPr id="4" name="txt"/>
          <p:cNvSpPr txBox="1"/>
          <p:nvPr/>
        </p:nvSpPr>
        <p:spPr>
          <a:xfrm>
            <a:off x="914400" y="3657600"/>
            <a:ext cx="60350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E1B2C"/>
                </a:solidFill>
                <a:latin typeface="Bahnschrift SemiBold"/>
              </a:rPr>
              <a:t>of home electricity</a:t>
            </a:r>
          </a:p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E1B2C"/>
                </a:solidFill>
                <a:latin typeface="Segoe UI Semibold"/>
              </a:rPr>
              <a:t>→</a:t>
            </a:r>
            <a:r>
              <a:rPr sz="3000" b="0" i="0">
                <a:solidFill>
                  <a:srgbClr val="0E1B2C"/>
                </a:solidFill>
                <a:latin typeface="Bahnschrift SemiBold"/>
              </a:rPr>
              <a:t> air-conditioning</a:t>
            </a:r>
          </a:p>
        </p:txBody>
      </p:sp>
      <p:sp>
        <p:nvSpPr>
          <p:cNvPr id="5" name="sub"/>
          <p:cNvSpPr txBox="1"/>
          <p:nvPr/>
        </p:nvSpPr>
        <p:spPr>
          <a:xfrm>
            <a:off x="914400" y="4892040"/>
            <a:ext cx="60350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5B6B7F"/>
                </a:solidFill>
                <a:latin typeface="Segoe UI"/>
              </a:rPr>
              <a:t>Highest share worldwide  </a:t>
            </a:r>
          </a:p>
        </p:txBody>
      </p:sp>
      <p:sp>
        <p:nvSpPr>
          <p:cNvPr id="6" name="bar_t"/>
          <p:cNvSpPr txBox="1"/>
          <p:nvPr/>
        </p:nvSpPr>
        <p:spPr>
          <a:xfrm>
            <a:off x="7635240" y="6858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spc="200">
                <a:solidFill>
                  <a:srgbClr val="5B6B7F"/>
                </a:solidFill>
                <a:latin typeface="Segoe UI Semibold"/>
              </a:rPr>
              <a:t>HOUSEHOLD ELECTRICITY</a:t>
            </a:r>
          </a:p>
        </p:txBody>
      </p:sp>
      <p:sp>
        <p:nvSpPr>
          <p:cNvPr id="7" name="bar_bg"/>
          <p:cNvSpPr/>
          <p:nvPr/>
        </p:nvSpPr>
        <p:spPr>
          <a:xfrm>
            <a:off x="7635240" y="1143000"/>
            <a:ext cx="1920240" cy="512064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bar_rest"/>
          <p:cNvSpPr/>
          <p:nvPr/>
        </p:nvSpPr>
        <p:spPr>
          <a:xfrm>
            <a:off x="7744968" y="1252728"/>
            <a:ext cx="1700784" cy="1415491"/>
          </a:xfrm>
          <a:prstGeom prst="roundRect">
            <a:avLst>
              <a:gd name="adj" fmla="val 6459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bar_ac"/>
          <p:cNvSpPr/>
          <p:nvPr/>
        </p:nvSpPr>
        <p:spPr>
          <a:xfrm>
            <a:off x="7744968" y="2723083"/>
            <a:ext cx="1700784" cy="3430828"/>
          </a:xfrm>
          <a:prstGeom prst="roundRect">
            <a:avLst>
              <a:gd name="adj" fmla="val 5376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bar_ic" descr="ac_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3749039"/>
            <a:ext cx="1005840" cy="1005840"/>
          </a:xfrm>
          <a:prstGeom prst="rect">
            <a:avLst/>
          </a:prstGeom>
        </p:spPr>
      </p:pic>
      <p:sp>
        <p:nvSpPr>
          <p:cNvPr id="11" name="lbl_rest"/>
          <p:cNvSpPr txBox="1"/>
          <p:nvPr/>
        </p:nvSpPr>
        <p:spPr>
          <a:xfrm>
            <a:off x="9784080" y="1325880"/>
            <a:ext cx="2011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5B6B7F"/>
                </a:solidFill>
                <a:latin typeface="Segoe UI Semibold"/>
              </a:rPr>
              <a:t>≈</a:t>
            </a:r>
            <a:r>
              <a:rPr sz="3000" b="0" i="0">
                <a:solidFill>
                  <a:srgbClr val="5B6B7F"/>
                </a:solidFill>
                <a:latin typeface="Bahnschrift"/>
              </a:rPr>
              <a:t>30 %</a:t>
            </a:r>
          </a:p>
          <a:p>
            <a:pPr algn="l"/>
            <a:r>
              <a:rPr sz="1600" b="0" i="0">
                <a:solidFill>
                  <a:srgbClr val="5B6B7F"/>
                </a:solidFill>
                <a:latin typeface="Segoe UI"/>
              </a:rPr>
              <a:t>other uses</a:t>
            </a:r>
          </a:p>
        </p:txBody>
      </p:sp>
      <p:sp>
        <p:nvSpPr>
          <p:cNvPr id="12" name="lbl_ac"/>
          <p:cNvSpPr txBox="1"/>
          <p:nvPr/>
        </p:nvSpPr>
        <p:spPr>
          <a:xfrm>
            <a:off x="9784080" y="3291840"/>
            <a:ext cx="2194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B45309"/>
                </a:solidFill>
                <a:latin typeface="Segoe UI Semibold"/>
              </a:rPr>
              <a:t>≈</a:t>
            </a:r>
            <a:r>
              <a:rPr sz="4000" b="0" i="0">
                <a:solidFill>
                  <a:srgbClr val="B45309"/>
                </a:solidFill>
                <a:latin typeface="Bahnschrift SemiBold"/>
              </a:rPr>
              <a:t>70 %</a:t>
            </a:r>
          </a:p>
          <a:p>
            <a:pPr algn="l"/>
            <a:r>
              <a:rPr sz="1800" b="0" i="0">
                <a:solidFill>
                  <a:srgbClr val="B45309"/>
                </a:solidFill>
                <a:latin typeface="Segoe UI Semibold"/>
              </a:rPr>
              <a:t>air-conditioning</a:t>
            </a:r>
          </a:p>
        </p:txBody>
      </p:sp>
      <p:pic>
        <p:nvPicPr>
          <p:cNvPr id="13" name="vid_c70">
            <a:hlinkClick r:id="" action="ppaction://media"/>
            <a:extLst>
              <a:ext uri="{FF2B5EF4-FFF2-40B4-BE49-F238E27FC236}">
                <a16:creationId xmlns:a16="http://schemas.microsoft.com/office/drawing/2014/main" id="{1176A76D-85DF-230C-CECE-CD2D68BFE88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6969" y="1600199"/>
            <a:ext cx="4826365" cy="1880006"/>
          </a:xfrm>
          <a:prstGeom prst="rect">
            <a:avLst/>
          </a:prstGeom>
        </p:spPr>
      </p:pic>
      <p:sp>
        <p:nvSpPr>
          <p:cNvPr id="14" name="kick">
            <a:extLst>
              <a:ext uri="{FF2B5EF4-FFF2-40B4-BE49-F238E27FC236}">
                <a16:creationId xmlns:a16="http://schemas.microsoft.com/office/drawing/2014/main" id="{67A57848-F64D-336A-BA3A-DDFC0ABA0407}"/>
              </a:ext>
            </a:extLst>
          </p:cNvPr>
          <p:cNvSpPr txBox="1"/>
          <p:nvPr/>
        </p:nvSpPr>
        <p:spPr>
          <a:xfrm>
            <a:off x="3685031" y="1011119"/>
            <a:ext cx="5486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ar-SA" sz="1500" b="0" i="0" spc="300" dirty="0">
                <a:solidFill>
                  <a:srgbClr val="B45309"/>
                </a:solidFill>
                <a:latin typeface="Segoe UI Semibold"/>
              </a:rPr>
              <a:t>من </a:t>
            </a:r>
            <a:r>
              <a:rPr lang="ar-SA" sz="1500" b="0" i="0" spc="300" dirty="0" err="1">
                <a:solidFill>
                  <a:srgbClr val="B45309"/>
                </a:solidFill>
                <a:latin typeface="Segoe UI Semibold"/>
              </a:rPr>
              <a:t>سلايد</a:t>
            </a:r>
            <a:r>
              <a:rPr lang="ar-SA" sz="1500" b="0" i="0" spc="300" dirty="0">
                <a:solidFill>
                  <a:srgbClr val="B45309"/>
                </a:solidFill>
                <a:latin typeface="Segoe UI Semibold"/>
              </a:rPr>
              <a:t>  4 الى 9 ادمج في </a:t>
            </a:r>
            <a:r>
              <a:rPr lang="ar-SA" sz="1500" b="0" i="0" spc="300" dirty="0" err="1">
                <a:solidFill>
                  <a:srgbClr val="B45309"/>
                </a:solidFill>
                <a:latin typeface="Segoe UI Semibold"/>
              </a:rPr>
              <a:t>سلايدين</a:t>
            </a:r>
            <a:r>
              <a:rPr lang="ar-SA" sz="1500" b="0" i="0" spc="300" dirty="0">
                <a:solidFill>
                  <a:srgbClr val="B45309"/>
                </a:solidFill>
                <a:latin typeface="Segoe UI Semibold"/>
              </a:rPr>
              <a:t>  </a:t>
            </a:r>
            <a:endParaRPr sz="1500" b="0" i="0" spc="300" dirty="0">
              <a:solidFill>
                <a:srgbClr val="B45309"/>
              </a:solidFill>
              <a:latin typeface="Segoe UI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1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7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4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 mute="1">
                <p:cTn id="55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  <p:bldP spid="8" grpId="0" animBg="1"/>
      <p:bldP spid="9" grpId="0" animBg="1"/>
      <p:bldP spid="11" grpId="0"/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914400" y="685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300">
                <a:solidFill>
                  <a:srgbClr val="B45309"/>
                </a:solidFill>
                <a:latin typeface="Segoe UI Semibold"/>
              </a:rPr>
              <a:t>THE TARIFF</a:t>
            </a:r>
          </a:p>
        </p:txBody>
      </p:sp>
      <p:sp>
        <p:nvSpPr>
          <p:cNvPr id="3" name="txt"/>
          <p:cNvSpPr txBox="1"/>
          <p:nvPr/>
        </p:nvSpPr>
        <p:spPr>
          <a:xfrm>
            <a:off x="914400" y="11887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B2C"/>
                </a:solidFill>
                <a:latin typeface="Bahnschrift SemiBold"/>
              </a:rPr>
              <a:t>Above 6,000 kWh / month</a:t>
            </a:r>
          </a:p>
        </p:txBody>
      </p:sp>
      <p:sp>
        <p:nvSpPr>
          <p:cNvPr id="4" name="more"/>
          <p:cNvSpPr txBox="1"/>
          <p:nvPr/>
        </p:nvSpPr>
        <p:spPr>
          <a:xfrm>
            <a:off x="914400" y="39319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B2C"/>
                </a:solidFill>
                <a:latin typeface="Bahnschrift SemiBold"/>
              </a:rPr>
              <a:t>per extra kWh</a:t>
            </a:r>
          </a:p>
        </p:txBody>
      </p:sp>
      <p:sp>
        <p:nvSpPr>
          <p:cNvPr id="5" name="sub"/>
          <p:cNvSpPr txBox="1"/>
          <p:nvPr/>
        </p:nvSpPr>
        <p:spPr>
          <a:xfrm>
            <a:off x="914400" y="4663440"/>
            <a:ext cx="58521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>
                <a:solidFill>
                  <a:srgbClr val="B45309"/>
                </a:solidFill>
                <a:latin typeface="Bahnschrift SemiBold"/>
              </a:rPr>
              <a:t>18 </a:t>
            </a:r>
            <a:r>
              <a:rPr sz="2600" b="0" i="0" dirty="0">
                <a:solidFill>
                  <a:srgbClr val="B45309"/>
                </a:solidFill>
                <a:latin typeface="Segoe UI Semibold"/>
              </a:rPr>
              <a:t>→</a:t>
            </a:r>
            <a:r>
              <a:rPr sz="2600" b="0" i="0" dirty="0">
                <a:solidFill>
                  <a:srgbClr val="B45309"/>
                </a:solidFill>
                <a:latin typeface="Bahnschrift SemiBold"/>
              </a:rPr>
              <a:t> 30 </a:t>
            </a:r>
            <a:r>
              <a:rPr sz="2000" b="0" i="0" dirty="0">
                <a:solidFill>
                  <a:srgbClr val="5B6B7F"/>
                </a:solidFill>
                <a:latin typeface="Segoe UI"/>
              </a:rPr>
              <a:t>halalas / kWh  </a:t>
            </a:r>
          </a:p>
        </p:txBody>
      </p:sp>
      <p:sp>
        <p:nvSpPr>
          <p:cNvPr id="6" name="col_c1"/>
          <p:cNvSpPr/>
          <p:nvPr/>
        </p:nvSpPr>
        <p:spPr>
          <a:xfrm>
            <a:off x="7498079" y="3291840"/>
            <a:ext cx="1737360" cy="2468879"/>
          </a:xfrm>
          <a:prstGeom prst="roundRect">
            <a:avLst>
              <a:gd name="adj" fmla="val 6315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val_c1"/>
          <p:cNvSpPr txBox="1"/>
          <p:nvPr/>
        </p:nvSpPr>
        <p:spPr>
          <a:xfrm>
            <a:off x="7498079" y="242316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0" i="0">
                <a:solidFill>
                  <a:srgbClr val="0D9488"/>
                </a:solidFill>
                <a:latin typeface="Bahnschrift SemiBold"/>
              </a:rPr>
              <a:t>18</a:t>
            </a:r>
          </a:p>
        </p:txBody>
      </p:sp>
      <p:sp>
        <p:nvSpPr>
          <p:cNvPr id="8" name="lab_c1"/>
          <p:cNvSpPr txBox="1"/>
          <p:nvPr/>
        </p:nvSpPr>
        <p:spPr>
          <a:xfrm>
            <a:off x="7315199" y="5870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5B6B7F"/>
                </a:solidFill>
                <a:latin typeface="Segoe UI Semibold"/>
              </a:rPr>
              <a:t>≤ 6,000 kWh</a:t>
            </a:r>
          </a:p>
        </p:txBody>
      </p:sp>
      <p:sp>
        <p:nvSpPr>
          <p:cNvPr id="9" name="col_c2"/>
          <p:cNvSpPr/>
          <p:nvPr/>
        </p:nvSpPr>
        <p:spPr>
          <a:xfrm>
            <a:off x="9646919" y="1645919"/>
            <a:ext cx="1737360" cy="4114800"/>
          </a:xfrm>
          <a:prstGeom prst="roundRect">
            <a:avLst>
              <a:gd name="adj" fmla="val 6315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val_c2"/>
          <p:cNvSpPr txBox="1"/>
          <p:nvPr/>
        </p:nvSpPr>
        <p:spPr>
          <a:xfrm>
            <a:off x="9646919" y="777239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0" i="0">
                <a:solidFill>
                  <a:srgbClr val="DC2626"/>
                </a:solidFill>
                <a:latin typeface="Bahnschrift SemiBold"/>
              </a:rPr>
              <a:t>30</a:t>
            </a:r>
          </a:p>
        </p:txBody>
      </p:sp>
      <p:sp>
        <p:nvSpPr>
          <p:cNvPr id="11" name="lab_c2"/>
          <p:cNvSpPr txBox="1"/>
          <p:nvPr/>
        </p:nvSpPr>
        <p:spPr>
          <a:xfrm>
            <a:off x="9464040" y="587044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5B6B7F"/>
                </a:solidFill>
                <a:latin typeface="Segoe UI Semibold"/>
              </a:rPr>
              <a:t>&gt; 6,000 kWh</a:t>
            </a:r>
          </a:p>
        </p:txBody>
      </p:sp>
      <p:sp>
        <p:nvSpPr>
          <p:cNvPr id="12" name="axis"/>
          <p:cNvSpPr/>
          <p:nvPr/>
        </p:nvSpPr>
        <p:spPr>
          <a:xfrm>
            <a:off x="7223760" y="5760720"/>
            <a:ext cx="4480560" cy="27432"/>
          </a:xfrm>
          <a:prstGeom prst="rect">
            <a:avLst/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vid_c67">
            <a:hlinkClick r:id="" action="ppaction://media"/>
            <a:extLst>
              <a:ext uri="{FF2B5EF4-FFF2-40B4-BE49-F238E27FC236}">
                <a16:creationId xmlns:a16="http://schemas.microsoft.com/office/drawing/2014/main" id="{3E81E2EF-F531-7BD9-AF3F-A4901E3C056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86968" y="1920240"/>
            <a:ext cx="4064306" cy="1880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7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6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2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9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 mute="1">
                <p:cTn id="5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914400" y="6858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300">
                <a:solidFill>
                  <a:srgbClr val="0D9488"/>
                </a:solidFill>
                <a:latin typeface="Segoe UI Semibold"/>
              </a:rPr>
              <a:t>THE COST OF NOT SEEING</a:t>
            </a:r>
          </a:p>
        </p:txBody>
      </p:sp>
      <p:sp>
        <p:nvSpPr>
          <p:cNvPr id="3" name="about"/>
          <p:cNvSpPr txBox="1"/>
          <p:nvPr/>
        </p:nvSpPr>
        <p:spPr>
          <a:xfrm>
            <a:off x="914400" y="118872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5B6B7F"/>
                </a:solidFill>
                <a:latin typeface="Segoe UI"/>
              </a:rPr>
              <a:t>median</a:t>
            </a:r>
          </a:p>
        </p:txBody>
      </p:sp>
      <p:sp>
        <p:nvSpPr>
          <p:cNvPr id="4" name="txt"/>
          <p:cNvSpPr txBox="1"/>
          <p:nvPr/>
        </p:nvSpPr>
        <p:spPr>
          <a:xfrm>
            <a:off x="914400" y="3657600"/>
            <a:ext cx="6217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B2C"/>
                </a:solidFill>
                <a:latin typeface="Bahnschrift SemiBold"/>
              </a:rPr>
              <a:t>electricity saved</a:t>
            </a:r>
          </a:p>
        </p:txBody>
      </p:sp>
      <p:sp>
        <p:nvSpPr>
          <p:cNvPr id="5" name="sub"/>
          <p:cNvSpPr txBox="1"/>
          <p:nvPr/>
        </p:nvSpPr>
        <p:spPr>
          <a:xfrm>
            <a:off x="914400" y="4389120"/>
            <a:ext cx="62179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5B6B7F"/>
                </a:solidFill>
                <a:latin typeface="Segoe UI"/>
              </a:rPr>
              <a:t>with real-time, per-appliance feedback  </a:t>
            </a:r>
          </a:p>
        </p:txBody>
      </p:sp>
      <p:grpSp>
        <p:nvGrpSpPr>
          <p:cNvPr id="17" name="card"/>
          <p:cNvGrpSpPr/>
          <p:nvPr/>
        </p:nvGrpSpPr>
        <p:grpSpPr>
          <a:xfrm>
            <a:off x="7406640" y="1188720"/>
            <a:ext cx="4114800" cy="4206240"/>
            <a:chOff x="7406640" y="1188720"/>
            <a:chExt cx="4114800" cy="4206240"/>
          </a:xfrm>
        </p:grpSpPr>
        <p:sp>
          <p:nvSpPr>
            <p:cNvPr id="6" name="Rounded Rectangle 5"/>
            <p:cNvSpPr/>
            <p:nvPr/>
          </p:nvSpPr>
          <p:spPr>
            <a:xfrm>
              <a:off x="7406640" y="1188720"/>
              <a:ext cx="4114800" cy="4206240"/>
            </a:xfrm>
            <a:prstGeom prst="roundRect">
              <a:avLst>
                <a:gd name="adj" fmla="val 555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26679" y="1463040"/>
              <a:ext cx="35661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200">
                  <a:solidFill>
                    <a:srgbClr val="0D9488"/>
                  </a:solidFill>
                  <a:latin typeface="Segoe UI Semibold"/>
                </a:rPr>
                <a:t>WHAT WORKED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726679" y="2057400"/>
              <a:ext cx="685800" cy="6858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9" name="Picture 8" descr="pulse_teal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7555" y="2208276"/>
              <a:ext cx="384048" cy="384048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8595360" y="214884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0E1B2C"/>
                  </a:solidFill>
                  <a:latin typeface="Segoe UI Semibold"/>
                </a:rPr>
                <a:t>Real-time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26679" y="3108960"/>
              <a:ext cx="685800" cy="6858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2" name="Picture 11" descr="chart_teal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77555" y="3259836"/>
              <a:ext cx="384048" cy="384048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8595360" y="320040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0E1B2C"/>
                  </a:solidFill>
                  <a:latin typeface="Segoe UI Semibold"/>
                </a:rPr>
                <a:t>Per appliance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7726679" y="4160520"/>
              <a:ext cx="685800" cy="6858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5" name="Picture 14" descr="card_teal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77555" y="4311396"/>
              <a:ext cx="384048" cy="384048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8595360" y="4251959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0E1B2C"/>
                  </a:solidFill>
                  <a:latin typeface="Segoe UI Semibold"/>
                </a:rPr>
                <a:t>Energy + cost</a:t>
              </a:r>
            </a:p>
          </p:txBody>
        </p:sp>
      </p:grpSp>
      <p:sp>
        <p:nvSpPr>
          <p:cNvPr id="18" name="src"/>
          <p:cNvSpPr txBox="1"/>
          <p:nvPr/>
        </p:nvSpPr>
        <p:spPr>
          <a:xfrm>
            <a:off x="685800" y="589788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Segoe UI"/>
              </a:rPr>
              <a:t>ACEEE meta-review, 57 studies (2010) · many small and short — an indication, not a promise.</a:t>
            </a:r>
          </a:p>
        </p:txBody>
      </p:sp>
      <p:pic>
        <p:nvPicPr>
          <p:cNvPr id="19" name="vid_cnt">
            <a:hlinkClick r:id="" action="ppaction://media"/>
            <a:extLst>
              <a:ext uri="{FF2B5EF4-FFF2-40B4-BE49-F238E27FC236}">
                <a16:creationId xmlns:a16="http://schemas.microsoft.com/office/drawing/2014/main" id="{1792EBDF-6347-3C18-AAD1-8F956AB2D2E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86968" y="1600200"/>
            <a:ext cx="4064306" cy="1880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6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5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 mute="1">
                <p:cTn id="36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  <p:bldLst>
      <p:bldP spid="2" grpId="0"/>
      <p:bldP spid="3" grpId="0"/>
      <p:bldP spid="4" grpId="0"/>
      <p:bldP spid="5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914400" y="6858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300">
                <a:solidFill>
                  <a:srgbClr val="D97706"/>
                </a:solidFill>
                <a:latin typeface="Segoe UI Semibold"/>
              </a:rPr>
              <a:t>HIDDEN WASTE</a:t>
            </a:r>
          </a:p>
        </p:txBody>
      </p:sp>
      <p:sp>
        <p:nvSpPr>
          <p:cNvPr id="3" name="about"/>
          <p:cNvSpPr txBox="1"/>
          <p:nvPr/>
        </p:nvSpPr>
        <p:spPr>
          <a:xfrm>
            <a:off x="914400" y="118872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>
                <a:solidFill>
                  <a:srgbClr val="5B6B7F"/>
                </a:solidFill>
                <a:latin typeface="Segoe UI"/>
              </a:rPr>
              <a:t>a dirty AC filter costs</a:t>
            </a:r>
          </a:p>
        </p:txBody>
      </p:sp>
      <p:sp>
        <p:nvSpPr>
          <p:cNvPr id="4" name="big"/>
          <p:cNvSpPr txBox="1"/>
          <p:nvPr/>
        </p:nvSpPr>
        <p:spPr>
          <a:xfrm>
            <a:off x="914400" y="1691640"/>
            <a:ext cx="62179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0" i="0">
                <a:solidFill>
                  <a:srgbClr val="D97706"/>
                </a:solidFill>
                <a:latin typeface="Bahnschrift SemiBold"/>
              </a:rPr>
              <a:t>5–15 %</a:t>
            </a:r>
          </a:p>
        </p:txBody>
      </p:sp>
      <p:sp>
        <p:nvSpPr>
          <p:cNvPr id="5" name="txt"/>
          <p:cNvSpPr txBox="1"/>
          <p:nvPr/>
        </p:nvSpPr>
        <p:spPr>
          <a:xfrm>
            <a:off x="914400" y="3657600"/>
            <a:ext cx="6217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B2C"/>
                </a:solidFill>
                <a:latin typeface="Bahnschrift SemiBold"/>
              </a:rPr>
              <a:t>extra AC energy</a:t>
            </a:r>
          </a:p>
        </p:txBody>
      </p:sp>
      <p:sp>
        <p:nvSpPr>
          <p:cNvPr id="6" name="sub"/>
          <p:cNvSpPr txBox="1"/>
          <p:nvPr/>
        </p:nvSpPr>
        <p:spPr>
          <a:xfrm>
            <a:off x="914400" y="4389120"/>
            <a:ext cx="62179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5B6B7F"/>
                </a:solidFill>
                <a:latin typeface="Segoe UI"/>
              </a:rPr>
              <a:t>Neglect → energy use steadily rises  </a:t>
            </a:r>
          </a:p>
        </p:txBody>
      </p:sp>
      <p:grpSp>
        <p:nvGrpSpPr>
          <p:cNvPr id="18" name="card"/>
          <p:cNvGrpSpPr/>
          <p:nvPr/>
        </p:nvGrpSpPr>
        <p:grpSpPr>
          <a:xfrm>
            <a:off x="7406640" y="1188720"/>
            <a:ext cx="4114800" cy="4206240"/>
            <a:chOff x="7406640" y="1188720"/>
            <a:chExt cx="4114800" cy="4206240"/>
          </a:xfrm>
        </p:grpSpPr>
        <p:sp>
          <p:nvSpPr>
            <p:cNvPr id="7" name="Rounded Rectangle 6"/>
            <p:cNvSpPr/>
            <p:nvPr/>
          </p:nvSpPr>
          <p:spPr>
            <a:xfrm>
              <a:off x="7406640" y="1188720"/>
              <a:ext cx="4114800" cy="4206240"/>
            </a:xfrm>
            <a:prstGeom prst="roundRect">
              <a:avLst>
                <a:gd name="adj" fmla="val 555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26679" y="1463040"/>
              <a:ext cx="35661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200">
                  <a:solidFill>
                    <a:srgbClr val="D97706"/>
                  </a:solidFill>
                  <a:latin typeface="Segoe UI Semibold"/>
                </a:rPr>
                <a:t>WHERE IT SHOWS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726679" y="2057400"/>
              <a:ext cx="685800" cy="6858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0" name="Picture 9" descr="home_amber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77555" y="2208276"/>
              <a:ext cx="384048" cy="384048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8595360" y="214884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0E1B2C"/>
                  </a:solidFill>
                  <a:latin typeface="Segoe UI Semibold"/>
                </a:rPr>
                <a:t>Total: hidden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726679" y="3108960"/>
              <a:ext cx="685800" cy="6858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3" name="Picture 12" descr="ac_amber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77555" y="3259836"/>
              <a:ext cx="384048" cy="384048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8595360" y="320040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0E1B2C"/>
                  </a:solidFill>
                  <a:latin typeface="Segoe UI Semibold"/>
                </a:rPr>
                <a:t>Per appliance: visible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7726679" y="4160520"/>
              <a:ext cx="685800" cy="6858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6" name="Picture 15" descr="trend_amber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7555" y="4311396"/>
              <a:ext cx="384048" cy="384048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8595360" y="4251959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0E1B2C"/>
                  </a:solidFill>
                  <a:latin typeface="Segoe UI Semibold"/>
                </a:rPr>
                <a:t>vs. its own baseline</a:t>
              </a:r>
            </a:p>
          </p:txBody>
        </p:sp>
      </p:grpSp>
      <p:sp>
        <p:nvSpPr>
          <p:cNvPr id="19" name="src"/>
          <p:cNvSpPr txBox="1"/>
          <p:nvPr/>
        </p:nvSpPr>
        <p:spPr>
          <a:xfrm>
            <a:off x="685800" y="589788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Segoe UI"/>
              </a:rPr>
              <a:t>U.S. Department of Energy, Energy Saver: “Maintaining your air conditioner”.</a:t>
            </a:r>
          </a:p>
        </p:txBody>
      </p:sp>
      <p:sp>
        <p:nvSpPr>
          <p:cNvPr id="20" name="about">
            <a:extLst>
              <a:ext uri="{FF2B5EF4-FFF2-40B4-BE49-F238E27FC236}">
                <a16:creationId xmlns:a16="http://schemas.microsoft.com/office/drawing/2014/main" id="{BD39A683-BEE4-3F04-1459-E05EB4620BBB}"/>
              </a:ext>
            </a:extLst>
          </p:cNvPr>
          <p:cNvSpPr txBox="1"/>
          <p:nvPr/>
        </p:nvSpPr>
        <p:spPr>
          <a:xfrm>
            <a:off x="5486400" y="313123"/>
            <a:ext cx="6217920" cy="1200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ar-SA" sz="2600" b="0" i="0" dirty="0">
                <a:solidFill>
                  <a:srgbClr val="5B6B7F"/>
                </a:solidFill>
                <a:latin typeface="Segoe UI"/>
              </a:rPr>
              <a:t>شوف حريري </a:t>
            </a:r>
          </a:p>
          <a:p>
            <a:pPr algn="l"/>
            <a:r>
              <a:rPr lang="ar-SA" sz="2600" dirty="0">
                <a:solidFill>
                  <a:srgbClr val="5B6B7F"/>
                </a:solidFill>
                <a:latin typeface="Segoe UI"/>
              </a:rPr>
              <a:t>هل نقدر نحط معلومة جديدة ما استخدمنا </a:t>
            </a:r>
            <a:r>
              <a:rPr lang="ar-SA" sz="2600" dirty="0" err="1">
                <a:solidFill>
                  <a:srgbClr val="5B6B7F"/>
                </a:solidFill>
                <a:latin typeface="Segoe UI"/>
              </a:rPr>
              <a:t>رفرنسها</a:t>
            </a:r>
            <a:r>
              <a:rPr lang="ar-SA" sz="2600" dirty="0">
                <a:solidFill>
                  <a:srgbClr val="5B6B7F"/>
                </a:solidFill>
                <a:latin typeface="Segoe UI"/>
              </a:rPr>
              <a:t> </a:t>
            </a:r>
          </a:p>
          <a:p>
            <a:pPr algn="l"/>
            <a:endParaRPr sz="2600" b="0" i="0" dirty="0">
              <a:solidFill>
                <a:srgbClr val="5B6B7F"/>
              </a:solidFill>
              <a:latin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4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"/>
          <p:cNvSpPr txBox="1"/>
          <p:nvPr/>
        </p:nvSpPr>
        <p:spPr>
          <a:xfrm>
            <a:off x="914400" y="6858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300">
                <a:solidFill>
                  <a:srgbClr val="DC2626"/>
                </a:solidFill>
                <a:latin typeface="Segoe UI Semibold"/>
              </a:rPr>
              <a:t>SAFETY AT HOME</a:t>
            </a:r>
          </a:p>
        </p:txBody>
      </p:sp>
      <p:sp>
        <p:nvSpPr>
          <p:cNvPr id="3" name="about"/>
          <p:cNvSpPr txBox="1"/>
          <p:nvPr/>
        </p:nvSpPr>
        <p:spPr>
          <a:xfrm>
            <a:off x="914400" y="1188720"/>
            <a:ext cx="6217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5B6B7F"/>
                </a:solidFill>
                <a:latin typeface="Segoe UI"/>
              </a:rPr>
              <a:t>about</a:t>
            </a:r>
          </a:p>
        </p:txBody>
      </p:sp>
      <p:sp>
        <p:nvSpPr>
          <p:cNvPr id="4" name="txt"/>
          <p:cNvSpPr txBox="1"/>
          <p:nvPr/>
        </p:nvSpPr>
        <p:spPr>
          <a:xfrm>
            <a:off x="914400" y="3657600"/>
            <a:ext cx="6217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>
                <a:solidFill>
                  <a:srgbClr val="0E1B2C"/>
                </a:solidFill>
                <a:latin typeface="Bahnschrift SemiBold"/>
              </a:rPr>
              <a:t>house fires / day in KSA</a:t>
            </a:r>
          </a:p>
        </p:txBody>
      </p:sp>
      <p:sp>
        <p:nvSpPr>
          <p:cNvPr id="5" name="sub"/>
          <p:cNvSpPr txBox="1"/>
          <p:nvPr/>
        </p:nvSpPr>
        <p:spPr>
          <a:xfrm>
            <a:off x="914400" y="4389120"/>
            <a:ext cx="62179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rgbClr val="5B6B7F"/>
                </a:solidFill>
                <a:latin typeface="Segoe UI"/>
              </a:rPr>
              <a:t>#1 cause: electrical incidents  </a:t>
            </a:r>
          </a:p>
        </p:txBody>
      </p:sp>
      <p:grpSp>
        <p:nvGrpSpPr>
          <p:cNvPr id="17" name="card"/>
          <p:cNvGrpSpPr/>
          <p:nvPr/>
        </p:nvGrpSpPr>
        <p:grpSpPr>
          <a:xfrm>
            <a:off x="7406640" y="1188720"/>
            <a:ext cx="4114800" cy="4206240"/>
            <a:chOff x="7406640" y="1188720"/>
            <a:chExt cx="4114800" cy="4206240"/>
          </a:xfrm>
        </p:grpSpPr>
        <p:sp>
          <p:nvSpPr>
            <p:cNvPr id="6" name="Rounded Rectangle 5"/>
            <p:cNvSpPr/>
            <p:nvPr/>
          </p:nvSpPr>
          <p:spPr>
            <a:xfrm>
              <a:off x="7406640" y="1188720"/>
              <a:ext cx="4114800" cy="4206240"/>
            </a:xfrm>
            <a:prstGeom prst="roundRect">
              <a:avLst>
                <a:gd name="adj" fmla="val 555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26679" y="1463040"/>
              <a:ext cx="356616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200" dirty="0">
                  <a:solidFill>
                    <a:srgbClr val="DC2626"/>
                  </a:solidFill>
                  <a:latin typeface="Segoe UI Semibold"/>
                </a:rPr>
                <a:t>2018 · HOUSE FIRES  </a:t>
              </a:r>
              <a:r>
                <a:rPr lang="ar-SA" sz="1400" b="0" i="0" spc="200" dirty="0">
                  <a:solidFill>
                    <a:srgbClr val="DC2626"/>
                  </a:solidFill>
                  <a:latin typeface="Segoe UI Semibold"/>
                </a:rPr>
                <a:t> </a:t>
              </a:r>
              <a:endParaRPr sz="1400" b="0" i="0" spc="200" dirty="0">
                <a:solidFill>
                  <a:srgbClr val="DC2626"/>
                </a:solidFill>
                <a:latin typeface="Segoe UI Semibold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7726679" y="2057400"/>
              <a:ext cx="685800" cy="6858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9" name="Picture 8" descr="heart_red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77555" y="2208276"/>
              <a:ext cx="384048" cy="384048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8595360" y="214884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0E1B2C"/>
                  </a:solidFill>
                  <a:latin typeface="Segoe UI Semibold"/>
                </a:rPr>
                <a:t>90 deaths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726679" y="3108960"/>
              <a:ext cx="685800" cy="6858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2" name="Picture 11" descr="people_red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77555" y="3259836"/>
              <a:ext cx="384048" cy="384048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8595360" y="320040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0E1B2C"/>
                  </a:solidFill>
                  <a:latin typeface="Segoe UI Semibold"/>
                </a:rPr>
                <a:t>1,364 injuries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7726679" y="4160520"/>
              <a:ext cx="685800" cy="6858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5" name="Picture 14" descr="shield_red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77555" y="4311396"/>
              <a:ext cx="384048" cy="384048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8595360" y="4251959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b="0" i="0">
                  <a:solidFill>
                    <a:srgbClr val="0E1B2C"/>
                  </a:solidFill>
                  <a:latin typeface="Segoe UI Semibold"/>
                </a:rPr>
                <a:t>Fire detection: out of scope (C-03)</a:t>
              </a:r>
            </a:p>
          </p:txBody>
        </p:sp>
      </p:grpSp>
      <p:sp>
        <p:nvSpPr>
          <p:cNvPr id="18" name="src"/>
          <p:cNvSpPr txBox="1"/>
          <p:nvPr/>
        </p:nvSpPr>
        <p:spPr>
          <a:xfrm>
            <a:off x="685800" y="589788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Segoe UI"/>
              </a:rPr>
              <a:t>193,437 house fires in 10 years (Civil Defense via Arab News, 2015) ÷ 3,650 days ≈ 53 per day.</a:t>
            </a:r>
          </a:p>
        </p:txBody>
      </p:sp>
      <p:pic>
        <p:nvPicPr>
          <p:cNvPr id="19" name="vid_cnt">
            <a:hlinkClick r:id="" action="ppaction://media"/>
            <a:extLst>
              <a:ext uri="{FF2B5EF4-FFF2-40B4-BE49-F238E27FC236}">
                <a16:creationId xmlns:a16="http://schemas.microsoft.com/office/drawing/2014/main" id="{C0B877CA-8480-154A-15A5-C08C5A6F54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86967" y="1600199"/>
            <a:ext cx="2946358" cy="1880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0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6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5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 mute="1">
                <p:cTn id="36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  <p:bldLst>
      <p:bldP spid="2" grpId="0"/>
      <p:bldP spid="3" grpId="0"/>
      <p:bldP spid="4" grpId="0"/>
      <p:bldP spid="5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548640"/>
            <a:ext cx="108173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0" i="0" dirty="0">
                <a:solidFill>
                  <a:srgbClr val="0E1B2C"/>
                </a:solidFill>
                <a:latin typeface="Bahnschrift SemiBold"/>
              </a:rPr>
              <a:t>One meter. One number.</a:t>
            </a:r>
          </a:p>
        </p:txBody>
      </p:sp>
      <p:grpSp>
        <p:nvGrpSpPr>
          <p:cNvPr id="8" name="meter"/>
          <p:cNvGrpSpPr/>
          <p:nvPr/>
        </p:nvGrpSpPr>
        <p:grpSpPr>
          <a:xfrm>
            <a:off x="4727448" y="1554480"/>
            <a:ext cx="2743200" cy="2971800"/>
            <a:chOff x="4727448" y="1554480"/>
            <a:chExt cx="2743200" cy="2971800"/>
          </a:xfrm>
        </p:grpSpPr>
        <p:sp>
          <p:nvSpPr>
            <p:cNvPr id="3" name="m_body"/>
            <p:cNvSpPr/>
            <p:nvPr/>
          </p:nvSpPr>
          <p:spPr>
            <a:xfrm>
              <a:off x="4727448" y="1554480"/>
              <a:ext cx="2743200" cy="29718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 w="19050">
              <a:solidFill>
                <a:srgbClr val="DCE3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" name="m_lcd"/>
            <p:cNvSpPr/>
            <p:nvPr/>
          </p:nvSpPr>
          <p:spPr>
            <a:xfrm>
              <a:off x="5001768" y="1874519"/>
              <a:ext cx="2194560" cy="1143000"/>
            </a:xfrm>
            <a:prstGeom prst="roundRect">
              <a:avLst>
                <a:gd name="adj" fmla="val 9600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" name="m_l1"/>
            <p:cNvSpPr txBox="1"/>
            <p:nvPr/>
          </p:nvSpPr>
          <p:spPr>
            <a:xfrm>
              <a:off x="5001768" y="1947672"/>
              <a:ext cx="21945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0" i="0" spc="300">
                  <a:solidFill>
                    <a:srgbClr val="7EE2B8"/>
                  </a:solidFill>
                  <a:latin typeface="Segoe UI Semibold"/>
                </a:rPr>
                <a:t>TOTAL</a:t>
              </a:r>
            </a:p>
          </p:txBody>
        </p:sp>
        <p:sp>
          <p:nvSpPr>
            <p:cNvPr id="6" name="m_l2"/>
            <p:cNvSpPr txBox="1"/>
            <p:nvPr/>
          </p:nvSpPr>
          <p:spPr>
            <a:xfrm>
              <a:off x="5001768" y="2258568"/>
              <a:ext cx="2194560" cy="640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3400" b="0" i="0">
                  <a:solidFill>
                    <a:srgbClr val="7EE2B8"/>
                  </a:solidFill>
                  <a:latin typeface="Bahnschrift SemiBold"/>
                </a:rPr>
                <a:t>kWh</a:t>
              </a:r>
            </a:p>
          </p:txBody>
        </p:sp>
        <p:sp>
          <p:nvSpPr>
            <p:cNvPr id="7" name="m_dial"/>
            <p:cNvSpPr/>
            <p:nvPr/>
          </p:nvSpPr>
          <p:spPr>
            <a:xfrm>
              <a:off x="5824728" y="3383280"/>
              <a:ext cx="548640" cy="548640"/>
            </a:xfrm>
            <a:prstGeom prst="ellipse">
              <a:avLst/>
            </a:prstGeom>
            <a:noFill/>
            <a:ln w="31750">
              <a:solidFill>
                <a:srgbClr val="5B6B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</p:grpSp>
      <p:grpSp>
        <p:nvGrpSpPr>
          <p:cNvPr id="14" name="app0"/>
          <p:cNvGrpSpPr/>
          <p:nvPr/>
        </p:nvGrpSpPr>
        <p:grpSpPr>
          <a:xfrm>
            <a:off x="731520" y="1325880"/>
            <a:ext cx="2468880" cy="1810512"/>
            <a:chOff x="731520" y="1325880"/>
            <a:chExt cx="2468880" cy="1810512"/>
          </a:xfrm>
        </p:grpSpPr>
        <p:sp>
          <p:nvSpPr>
            <p:cNvPr id="9" name="Oval 8"/>
            <p:cNvSpPr/>
            <p:nvPr/>
          </p:nvSpPr>
          <p:spPr>
            <a:xfrm>
              <a:off x="1325880" y="1417320"/>
              <a:ext cx="1280160" cy="1280160"/>
            </a:xfrm>
            <a:prstGeom prst="ellipse">
              <a:avLst/>
            </a:prstGeom>
            <a:solidFill>
              <a:srgbClr val="F1F5F9"/>
            </a:solidFill>
            <a:ln w="19050">
              <a:solidFill>
                <a:srgbClr val="DCE3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0" name="Picture 9" descr="ac_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0200" y="1691640"/>
              <a:ext cx="731520" cy="731520"/>
            </a:xfrm>
            <a:prstGeom prst="rect">
              <a:avLst/>
            </a:prstGeom>
          </p:spPr>
        </p:pic>
        <p:sp>
          <p:nvSpPr>
            <p:cNvPr id="11" name="Oval 10"/>
            <p:cNvSpPr/>
            <p:nvPr/>
          </p:nvSpPr>
          <p:spPr>
            <a:xfrm>
              <a:off x="2286000" y="1325880"/>
              <a:ext cx="502920" cy="50292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86000" y="1353312"/>
              <a:ext cx="5029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?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31520" y="2770632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800" b="0" i="0">
                  <a:solidFill>
                    <a:srgbClr val="5B6B7F"/>
                  </a:solidFill>
                  <a:latin typeface="Segoe UI"/>
                </a:rPr>
                <a:t>Air conditioner</a:t>
              </a:r>
            </a:p>
          </p:txBody>
        </p:sp>
      </p:grpSp>
      <p:grpSp>
        <p:nvGrpSpPr>
          <p:cNvPr id="20" name="app1"/>
          <p:cNvGrpSpPr/>
          <p:nvPr/>
        </p:nvGrpSpPr>
        <p:grpSpPr>
          <a:xfrm>
            <a:off x="731520" y="3154679"/>
            <a:ext cx="2468880" cy="1810512"/>
            <a:chOff x="731520" y="3154679"/>
            <a:chExt cx="2468880" cy="1810512"/>
          </a:xfrm>
        </p:grpSpPr>
        <p:sp>
          <p:nvSpPr>
            <p:cNvPr id="15" name="Oval 14"/>
            <p:cNvSpPr/>
            <p:nvPr/>
          </p:nvSpPr>
          <p:spPr>
            <a:xfrm>
              <a:off x="1325880" y="3246120"/>
              <a:ext cx="1280160" cy="1280160"/>
            </a:xfrm>
            <a:prstGeom prst="ellipse">
              <a:avLst/>
            </a:prstGeom>
            <a:solidFill>
              <a:srgbClr val="F1F5F9"/>
            </a:solidFill>
            <a:ln w="19050">
              <a:solidFill>
                <a:srgbClr val="DCE3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6" name="Picture 15" descr="fridge_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00200" y="3520439"/>
              <a:ext cx="731520" cy="731520"/>
            </a:xfrm>
            <a:prstGeom prst="rect">
              <a:avLst/>
            </a:prstGeom>
          </p:spPr>
        </p:pic>
        <p:sp>
          <p:nvSpPr>
            <p:cNvPr id="17" name="Oval 16"/>
            <p:cNvSpPr/>
            <p:nvPr/>
          </p:nvSpPr>
          <p:spPr>
            <a:xfrm>
              <a:off x="2286000" y="3154679"/>
              <a:ext cx="502920" cy="50292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286000" y="3182112"/>
              <a:ext cx="5029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?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31520" y="4599431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800" b="0" i="0">
                  <a:solidFill>
                    <a:srgbClr val="5B6B7F"/>
                  </a:solidFill>
                  <a:latin typeface="Segoe UI"/>
                </a:rPr>
                <a:t>Refrigerator</a:t>
              </a:r>
            </a:p>
          </p:txBody>
        </p:sp>
      </p:grpSp>
      <p:grpSp>
        <p:nvGrpSpPr>
          <p:cNvPr id="26" name="app2"/>
          <p:cNvGrpSpPr/>
          <p:nvPr/>
        </p:nvGrpSpPr>
        <p:grpSpPr>
          <a:xfrm>
            <a:off x="8988552" y="1325880"/>
            <a:ext cx="2468880" cy="1810512"/>
            <a:chOff x="8988552" y="1325880"/>
            <a:chExt cx="2468880" cy="1810512"/>
          </a:xfrm>
        </p:grpSpPr>
        <p:sp>
          <p:nvSpPr>
            <p:cNvPr id="21" name="Oval 20"/>
            <p:cNvSpPr/>
            <p:nvPr/>
          </p:nvSpPr>
          <p:spPr>
            <a:xfrm>
              <a:off x="9582911" y="1417320"/>
              <a:ext cx="1280160" cy="1280160"/>
            </a:xfrm>
            <a:prstGeom prst="ellipse">
              <a:avLst/>
            </a:prstGeom>
            <a:solidFill>
              <a:srgbClr val="F1F5F9"/>
            </a:solidFill>
            <a:ln w="19050">
              <a:solidFill>
                <a:srgbClr val="DCE3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2" name="Picture 21" descr="heater_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57232" y="1691640"/>
              <a:ext cx="731520" cy="731520"/>
            </a:xfrm>
            <a:prstGeom prst="rect">
              <a:avLst/>
            </a:prstGeom>
          </p:spPr>
        </p:pic>
        <p:sp>
          <p:nvSpPr>
            <p:cNvPr id="23" name="Oval 22"/>
            <p:cNvSpPr/>
            <p:nvPr/>
          </p:nvSpPr>
          <p:spPr>
            <a:xfrm>
              <a:off x="10543032" y="1325880"/>
              <a:ext cx="502920" cy="50292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543032" y="1353312"/>
              <a:ext cx="5029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?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988552" y="2770632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800" b="0" i="0">
                  <a:solidFill>
                    <a:srgbClr val="5B6B7F"/>
                  </a:solidFill>
                  <a:latin typeface="Segoe UI"/>
                </a:rPr>
                <a:t>Water heater</a:t>
              </a:r>
            </a:p>
          </p:txBody>
        </p:sp>
      </p:grpSp>
      <p:grpSp>
        <p:nvGrpSpPr>
          <p:cNvPr id="32" name="app3"/>
          <p:cNvGrpSpPr/>
          <p:nvPr/>
        </p:nvGrpSpPr>
        <p:grpSpPr>
          <a:xfrm>
            <a:off x="8988552" y="3154679"/>
            <a:ext cx="2468880" cy="1810512"/>
            <a:chOff x="8988552" y="3154679"/>
            <a:chExt cx="2468880" cy="1810512"/>
          </a:xfrm>
        </p:grpSpPr>
        <p:sp>
          <p:nvSpPr>
            <p:cNvPr id="27" name="Oval 26"/>
            <p:cNvSpPr/>
            <p:nvPr/>
          </p:nvSpPr>
          <p:spPr>
            <a:xfrm>
              <a:off x="9582911" y="3246120"/>
              <a:ext cx="1280160" cy="1280160"/>
            </a:xfrm>
            <a:prstGeom prst="ellipse">
              <a:avLst/>
            </a:prstGeom>
            <a:solidFill>
              <a:srgbClr val="F1F5F9"/>
            </a:solidFill>
            <a:ln w="19050">
              <a:solidFill>
                <a:srgbClr val="DCE3E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8" name="Picture 27" descr="washer_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57232" y="3520439"/>
              <a:ext cx="731520" cy="731520"/>
            </a:xfrm>
            <a:prstGeom prst="rect">
              <a:avLst/>
            </a:prstGeom>
          </p:spPr>
        </p:pic>
        <p:sp>
          <p:nvSpPr>
            <p:cNvPr id="29" name="Oval 28"/>
            <p:cNvSpPr/>
            <p:nvPr/>
          </p:nvSpPr>
          <p:spPr>
            <a:xfrm>
              <a:off x="10543032" y="3154679"/>
              <a:ext cx="502920" cy="50292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543032" y="3182112"/>
              <a:ext cx="5029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?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988552" y="4599431"/>
              <a:ext cx="246888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800" b="0" i="0">
                  <a:solidFill>
                    <a:srgbClr val="5B6B7F"/>
                  </a:solidFill>
                  <a:latin typeface="Segoe UI"/>
                </a:rPr>
                <a:t>Washing machine</a:t>
              </a:r>
            </a:p>
          </p:txBody>
        </p:sp>
      </p:grpSp>
      <p:grpSp>
        <p:nvGrpSpPr>
          <p:cNvPr id="35" name="q0"/>
          <p:cNvGrpSpPr/>
          <p:nvPr/>
        </p:nvGrpSpPr>
        <p:grpSpPr>
          <a:xfrm>
            <a:off x="685800" y="5486400"/>
            <a:ext cx="3566160" cy="548640"/>
            <a:chOff x="685800" y="5486400"/>
            <a:chExt cx="3566160" cy="548640"/>
          </a:xfrm>
        </p:grpSpPr>
        <p:pic>
          <p:nvPicPr>
            <p:cNvPr id="33" name="Picture 32" descr="chart_amber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5800" y="5486400"/>
              <a:ext cx="502920" cy="50292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1325880" y="5486400"/>
              <a:ext cx="292608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Segoe UI Semibold"/>
                </a:rPr>
                <a:t>Which appliance?</a:t>
              </a:r>
            </a:p>
          </p:txBody>
        </p:sp>
      </p:grpSp>
      <p:grpSp>
        <p:nvGrpSpPr>
          <p:cNvPr id="38" name="q1"/>
          <p:cNvGrpSpPr/>
          <p:nvPr/>
        </p:nvGrpSpPr>
        <p:grpSpPr>
          <a:xfrm>
            <a:off x="4343400" y="5486400"/>
            <a:ext cx="3566160" cy="548640"/>
            <a:chOff x="4343400" y="5486400"/>
            <a:chExt cx="3566160" cy="548640"/>
          </a:xfrm>
        </p:grpSpPr>
        <p:pic>
          <p:nvPicPr>
            <p:cNvPr id="36" name="Picture 35" descr="sort_amber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43400" y="5486400"/>
              <a:ext cx="502920" cy="502920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4983480" y="5486400"/>
              <a:ext cx="292608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 dirty="0">
                  <a:solidFill>
                    <a:srgbClr val="0E1B2C"/>
                  </a:solidFill>
                  <a:latin typeface="Segoe UI Semibold"/>
                </a:rPr>
                <a:t>Which can wait?</a:t>
              </a:r>
            </a:p>
          </p:txBody>
        </p:sp>
      </p:grpSp>
      <p:grpSp>
        <p:nvGrpSpPr>
          <p:cNvPr id="41" name="q2"/>
          <p:cNvGrpSpPr/>
          <p:nvPr/>
        </p:nvGrpSpPr>
        <p:grpSpPr>
          <a:xfrm>
            <a:off x="8001000" y="5486400"/>
            <a:ext cx="3566160" cy="548640"/>
            <a:chOff x="8001000" y="5486400"/>
            <a:chExt cx="3566160" cy="548640"/>
          </a:xfrm>
        </p:grpSpPr>
        <p:pic>
          <p:nvPicPr>
            <p:cNvPr id="39" name="Picture 38" descr="pulse_amber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01000" y="5486400"/>
              <a:ext cx="502920" cy="502920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8641080" y="5486400"/>
              <a:ext cx="292608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 dirty="0">
                  <a:solidFill>
                    <a:srgbClr val="0E1B2C"/>
                  </a:solidFill>
                  <a:latin typeface="Segoe UI Semibold"/>
                </a:rPr>
                <a:t>Which misbehaves?</a:t>
              </a:r>
            </a:p>
          </p:txBody>
        </p:sp>
      </p:grpSp>
      <p:sp>
        <p:nvSpPr>
          <p:cNvPr id="42" name="title">
            <a:extLst>
              <a:ext uri="{FF2B5EF4-FFF2-40B4-BE49-F238E27FC236}">
                <a16:creationId xmlns:a16="http://schemas.microsoft.com/office/drawing/2014/main" id="{29E6F495-E401-CFC4-53EA-6A282CE0B812}"/>
              </a:ext>
            </a:extLst>
          </p:cNvPr>
          <p:cNvSpPr txBox="1"/>
          <p:nvPr/>
        </p:nvSpPr>
        <p:spPr>
          <a:xfrm>
            <a:off x="1072253" y="3885747"/>
            <a:ext cx="5371863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ar-SA" sz="4400" b="0" i="0" dirty="0">
                <a:solidFill>
                  <a:srgbClr val="0E1B2C"/>
                </a:solidFill>
                <a:latin typeface="Bahnschrift SemiBold"/>
              </a:rPr>
              <a:t>ادمج 10و  11 </a:t>
            </a:r>
          </a:p>
          <a:p>
            <a:pPr algn="ctr"/>
            <a:r>
              <a:rPr lang="ar-SA" sz="4400" dirty="0">
                <a:solidFill>
                  <a:srgbClr val="0E1B2C"/>
                </a:solidFill>
                <a:latin typeface="Bahnschrift SemiBold"/>
              </a:rPr>
              <a:t>واختصر </a:t>
            </a:r>
            <a:endParaRPr sz="4400" b="0" i="0" dirty="0">
              <a:solidFill>
                <a:srgbClr val="0E1B2C"/>
              </a:solidFill>
              <a:latin typeface="Bahnschrift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1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5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54864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0" i="0">
                <a:solidFill>
                  <a:srgbClr val="0E1B2C"/>
                </a:solidFill>
                <a:latin typeface="Bahnschrift SemiBold"/>
              </a:rPr>
              <a:t>Not a luxury. </a:t>
            </a:r>
            <a:r>
              <a:rPr sz="5400" b="0" i="0">
                <a:solidFill>
                  <a:srgbClr val="B45309"/>
                </a:solidFill>
                <a:latin typeface="Bahnschrift SemiBold"/>
              </a:rPr>
              <a:t>A need.</a:t>
            </a:r>
          </a:p>
        </p:txBody>
      </p:sp>
      <p:grpSp>
        <p:nvGrpSpPr>
          <p:cNvPr id="8" name="card0"/>
          <p:cNvGrpSpPr/>
          <p:nvPr/>
        </p:nvGrpSpPr>
        <p:grpSpPr>
          <a:xfrm>
            <a:off x="822960" y="2057400"/>
            <a:ext cx="3291840" cy="3657600"/>
            <a:chOff x="822960" y="2057400"/>
            <a:chExt cx="3291840" cy="3657600"/>
          </a:xfrm>
        </p:grpSpPr>
        <p:sp>
          <p:nvSpPr>
            <p:cNvPr id="3" name="Rounded Rectangle 2"/>
            <p:cNvSpPr/>
            <p:nvPr/>
          </p:nvSpPr>
          <p:spPr>
            <a:xfrm>
              <a:off x="822960" y="2057400"/>
              <a:ext cx="3291840" cy="3657600"/>
            </a:xfrm>
            <a:prstGeom prst="roundRect">
              <a:avLst>
                <a:gd name="adj" fmla="val 6944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" name="Oval 3"/>
            <p:cNvSpPr/>
            <p:nvPr/>
          </p:nvSpPr>
          <p:spPr>
            <a:xfrm>
              <a:off x="1188720" y="2423160"/>
              <a:ext cx="1051560" cy="105156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5" name="Picture 4" descr="card_amber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063" y="2654503"/>
              <a:ext cx="588873" cy="588873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188720" y="3703320"/>
              <a:ext cx="265176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200" b="0" i="0">
                  <a:solidFill>
                    <a:srgbClr val="0E1B2C"/>
                  </a:solidFill>
                  <a:latin typeface="Bahnschrift SemiBold"/>
                </a:rPr>
                <a:t>Cost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88720" y="4389120"/>
              <a:ext cx="2651760" cy="11887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100" b="0" i="0">
                  <a:solidFill>
                    <a:srgbClr val="5B6B7F"/>
                  </a:solidFill>
                  <a:latin typeface="Segoe UI Semibold"/>
                </a:rPr>
                <a:t>See the bill</a:t>
              </a:r>
            </a:p>
            <a:p>
              <a:pPr algn="l">
                <a:spcAft>
                  <a:spcPts val="400"/>
                </a:spcAft>
              </a:pPr>
              <a:r>
                <a:rPr sz="2100" b="0" i="0">
                  <a:solidFill>
                    <a:srgbClr val="5B6B7F"/>
                  </a:solidFill>
                  <a:latin typeface="Segoe UI Semibold"/>
                </a:rPr>
                <a:t>Stay in budget</a:t>
              </a:r>
            </a:p>
          </p:txBody>
        </p:sp>
      </p:grpSp>
      <p:grpSp>
        <p:nvGrpSpPr>
          <p:cNvPr id="14" name="card1"/>
          <p:cNvGrpSpPr/>
          <p:nvPr/>
        </p:nvGrpSpPr>
        <p:grpSpPr>
          <a:xfrm>
            <a:off x="4434840" y="2057400"/>
            <a:ext cx="3291840" cy="3657600"/>
            <a:chOff x="4434840" y="2057400"/>
            <a:chExt cx="3291840" cy="3657600"/>
          </a:xfrm>
        </p:grpSpPr>
        <p:sp>
          <p:nvSpPr>
            <p:cNvPr id="9" name="Rounded Rectangle 8"/>
            <p:cNvSpPr/>
            <p:nvPr/>
          </p:nvSpPr>
          <p:spPr>
            <a:xfrm>
              <a:off x="4434840" y="2057400"/>
              <a:ext cx="3291840" cy="3657600"/>
            </a:xfrm>
            <a:prstGeom prst="roundRect">
              <a:avLst>
                <a:gd name="adj" fmla="val 6944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Oval 9"/>
            <p:cNvSpPr/>
            <p:nvPr/>
          </p:nvSpPr>
          <p:spPr>
            <a:xfrm>
              <a:off x="4800600" y="2423160"/>
              <a:ext cx="1051560" cy="105156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1" name="Picture 10" descr="power_teal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1943" y="2654503"/>
              <a:ext cx="588873" cy="588873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4800600" y="3703320"/>
              <a:ext cx="265176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200" b="0" i="0">
                  <a:solidFill>
                    <a:srgbClr val="0E1B2C"/>
                  </a:solidFill>
                  <a:latin typeface="Bahnschrift SemiBold"/>
                </a:rPr>
                <a:t>Continuity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00600" y="4389120"/>
              <a:ext cx="2651760" cy="11887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100" b="0" i="0">
                  <a:solidFill>
                    <a:srgbClr val="5B6B7F"/>
                  </a:solidFill>
                  <a:latin typeface="Segoe UI Semibold"/>
                </a:rPr>
                <a:t>Essentials stay ON</a:t>
              </a:r>
            </a:p>
            <a:p>
              <a:pPr algn="l">
                <a:spcAft>
                  <a:spcPts val="400"/>
                </a:spcAft>
              </a:pPr>
              <a:r>
                <a:rPr sz="2100" b="0" i="0">
                  <a:solidFill>
                    <a:srgbClr val="5B6B7F"/>
                  </a:solidFill>
                  <a:latin typeface="Segoe UI Semibold"/>
                </a:rPr>
                <a:t>when demand is limited</a:t>
              </a:r>
            </a:p>
          </p:txBody>
        </p:sp>
      </p:grpSp>
      <p:grpSp>
        <p:nvGrpSpPr>
          <p:cNvPr id="20" name="card2"/>
          <p:cNvGrpSpPr/>
          <p:nvPr/>
        </p:nvGrpSpPr>
        <p:grpSpPr>
          <a:xfrm>
            <a:off x="8046720" y="2057400"/>
            <a:ext cx="3291840" cy="3657600"/>
            <a:chOff x="8046720" y="2057400"/>
            <a:chExt cx="3291840" cy="3657600"/>
          </a:xfrm>
        </p:grpSpPr>
        <p:sp>
          <p:nvSpPr>
            <p:cNvPr id="15" name="Rounded Rectangle 14"/>
            <p:cNvSpPr/>
            <p:nvPr/>
          </p:nvSpPr>
          <p:spPr>
            <a:xfrm>
              <a:off x="8046720" y="2057400"/>
              <a:ext cx="3291840" cy="3657600"/>
            </a:xfrm>
            <a:prstGeom prst="roundRect">
              <a:avLst>
                <a:gd name="adj" fmla="val 6944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" name="Oval 15"/>
            <p:cNvSpPr/>
            <p:nvPr/>
          </p:nvSpPr>
          <p:spPr>
            <a:xfrm>
              <a:off x="8412480" y="2423160"/>
              <a:ext cx="1051560" cy="105156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7" name="Picture 16" descr="shield_red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43823" y="2654503"/>
              <a:ext cx="588873" cy="588873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8412480" y="3703320"/>
              <a:ext cx="265176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200" b="0" i="0">
                  <a:solidFill>
                    <a:srgbClr val="0E1B2C"/>
                  </a:solidFill>
                  <a:latin typeface="Bahnschrift SemiBold"/>
                </a:rPr>
                <a:t>Safety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412480" y="4389120"/>
              <a:ext cx="2651760" cy="11887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100" b="0" i="0">
                  <a:solidFill>
                    <a:srgbClr val="5B6B7F"/>
                  </a:solidFill>
                  <a:latin typeface="Segoe UI Semibold"/>
                </a:rPr>
                <a:t>Warn early</a:t>
              </a:r>
            </a:p>
            <a:p>
              <a:pPr algn="l">
                <a:spcAft>
                  <a:spcPts val="400"/>
                </a:spcAft>
              </a:pPr>
              <a:r>
                <a:rPr sz="2100" b="0" i="0">
                  <a:solidFill>
                    <a:srgbClr val="5B6B7F"/>
                  </a:solidFill>
                  <a:latin typeface="Segoe UI Semibold"/>
                </a:rPr>
                <a:t>Fail safe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12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01 · INTRODUCTION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 dirty="0">
                <a:solidFill>
                  <a:srgbClr val="0E1B2C"/>
                </a:solidFill>
                <a:latin typeface="Bahnschrift SemiBold"/>
              </a:rPr>
              <a:t>From one total to per-appliance visibility</a:t>
            </a:r>
          </a:p>
        </p:txBody>
      </p:sp>
      <p:grpSp>
        <p:nvGrpSpPr>
          <p:cNvPr id="10" name="left"/>
          <p:cNvGrpSpPr/>
          <p:nvPr/>
        </p:nvGrpSpPr>
        <p:grpSpPr>
          <a:xfrm>
            <a:off x="685800" y="1828800"/>
            <a:ext cx="3931920" cy="4023360"/>
            <a:chOff x="685800" y="1828800"/>
            <a:chExt cx="3931920" cy="402336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28800"/>
              <a:ext cx="3931920" cy="4023360"/>
            </a:xfrm>
            <a:prstGeom prst="roundRect">
              <a:avLst>
                <a:gd name="adj" fmla="val 511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05840" y="2103120"/>
              <a:ext cx="329184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Conventional meter</a:t>
              </a:r>
            </a:p>
          </p:txBody>
        </p:sp>
        <p:pic>
          <p:nvPicPr>
            <p:cNvPr id="8" name="Picture 7" descr="meter_sla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5960" y="2743200"/>
              <a:ext cx="1371600" cy="137160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05840" y="4389120"/>
              <a:ext cx="329184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5B6B7F"/>
                  </a:solidFill>
                  <a:latin typeface="Bahnschrift SemiBold"/>
                </a:rPr>
                <a:t>Total only</a:t>
              </a:r>
            </a:p>
          </p:txBody>
        </p:sp>
      </p:grpSp>
      <p:sp>
        <p:nvSpPr>
          <p:cNvPr id="11" name="arrow"/>
          <p:cNvSpPr/>
          <p:nvPr/>
        </p:nvSpPr>
        <p:spPr>
          <a:xfrm>
            <a:off x="4800600" y="3611880"/>
            <a:ext cx="914400" cy="548640"/>
          </a:xfrm>
          <a:prstGeom prst="rightArrow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4" name="right"/>
          <p:cNvGrpSpPr/>
          <p:nvPr/>
        </p:nvGrpSpPr>
        <p:grpSpPr>
          <a:xfrm>
            <a:off x="5897880" y="1828800"/>
            <a:ext cx="5605272" cy="4023360"/>
            <a:chOff x="5897880" y="1828800"/>
            <a:chExt cx="5605272" cy="4023360"/>
          </a:xfrm>
        </p:grpSpPr>
        <p:sp>
          <p:nvSpPr>
            <p:cNvPr id="12" name="Rounded Rectangle 11"/>
            <p:cNvSpPr/>
            <p:nvPr/>
          </p:nvSpPr>
          <p:spPr>
            <a:xfrm>
              <a:off x="5897880" y="1828800"/>
              <a:ext cx="5605272" cy="4023360"/>
            </a:xfrm>
            <a:prstGeom prst="roundRect">
              <a:avLst>
                <a:gd name="adj" fmla="val 5000"/>
              </a:avLst>
            </a:prstGeom>
            <a:solidFill>
              <a:srgbClr val="E6F7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17920" y="2103120"/>
              <a:ext cx="50292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F766E"/>
                  </a:solidFill>
                  <a:latin typeface="Bahnschrift SemiBold"/>
                </a:rPr>
                <a:t>Per-appliance monitoring</a:t>
              </a:r>
            </a:p>
          </p:txBody>
        </p:sp>
      </p:grpSp>
      <p:grpSp>
        <p:nvGrpSpPr>
          <p:cNvPr id="18" name="row0"/>
          <p:cNvGrpSpPr/>
          <p:nvPr/>
        </p:nvGrpSpPr>
        <p:grpSpPr>
          <a:xfrm>
            <a:off x="6217920" y="2743200"/>
            <a:ext cx="5166360" cy="548640"/>
            <a:chOff x="6217920" y="2743200"/>
            <a:chExt cx="5166360" cy="548640"/>
          </a:xfrm>
        </p:grpSpPr>
        <p:pic>
          <p:nvPicPr>
            <p:cNvPr id="15" name="Picture 14" descr="ac_teal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7920" y="2743200"/>
              <a:ext cx="548640" cy="54864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6949440" y="2807208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Air conditioner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098280" y="2834640"/>
              <a:ext cx="2286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600" b="0" i="0">
                  <a:solidFill>
                    <a:srgbClr val="0F766E"/>
                  </a:solidFill>
                  <a:latin typeface="Segoe UI Semibold"/>
                </a:rPr>
                <a:t>V · I · P · kWh · ON/OFF</a:t>
              </a:r>
            </a:p>
          </p:txBody>
        </p:sp>
      </p:grpSp>
      <p:grpSp>
        <p:nvGrpSpPr>
          <p:cNvPr id="22" name="row1"/>
          <p:cNvGrpSpPr/>
          <p:nvPr/>
        </p:nvGrpSpPr>
        <p:grpSpPr>
          <a:xfrm>
            <a:off x="6217920" y="3493008"/>
            <a:ext cx="5166360" cy="548640"/>
            <a:chOff x="6217920" y="3493008"/>
            <a:chExt cx="5166360" cy="548640"/>
          </a:xfrm>
        </p:grpSpPr>
        <p:pic>
          <p:nvPicPr>
            <p:cNvPr id="19" name="Picture 18" descr="fridge_teal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7920" y="3493008"/>
              <a:ext cx="548640" cy="54864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6949440" y="3557015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Refrigerator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98280" y="3584448"/>
              <a:ext cx="2286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600" b="0" i="0">
                  <a:solidFill>
                    <a:srgbClr val="0F766E"/>
                  </a:solidFill>
                  <a:latin typeface="Segoe UI Semibold"/>
                </a:rPr>
                <a:t>V · I · P · kWh · ON/OFF</a:t>
              </a:r>
            </a:p>
          </p:txBody>
        </p:sp>
      </p:grpSp>
      <p:grpSp>
        <p:nvGrpSpPr>
          <p:cNvPr id="26" name="row2"/>
          <p:cNvGrpSpPr/>
          <p:nvPr/>
        </p:nvGrpSpPr>
        <p:grpSpPr>
          <a:xfrm>
            <a:off x="6217920" y="4242816"/>
            <a:ext cx="5166360" cy="548640"/>
            <a:chOff x="6217920" y="4242816"/>
            <a:chExt cx="5166360" cy="548640"/>
          </a:xfrm>
        </p:grpSpPr>
        <p:pic>
          <p:nvPicPr>
            <p:cNvPr id="23" name="Picture 22" descr="heater_teal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17920" y="4242816"/>
              <a:ext cx="548640" cy="54864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6949440" y="4306824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Water heater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098280" y="4334255"/>
              <a:ext cx="2286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600" b="0" i="0" dirty="0">
                  <a:solidFill>
                    <a:srgbClr val="0F766E"/>
                  </a:solidFill>
                  <a:latin typeface="Segoe UI Semibold"/>
                </a:rPr>
                <a:t>V · I · P · kWh · ON/OFF</a:t>
              </a:r>
            </a:p>
          </p:txBody>
        </p:sp>
      </p:grpSp>
      <p:grpSp>
        <p:nvGrpSpPr>
          <p:cNvPr id="30" name="row3"/>
          <p:cNvGrpSpPr/>
          <p:nvPr/>
        </p:nvGrpSpPr>
        <p:grpSpPr>
          <a:xfrm>
            <a:off x="6217920" y="4992624"/>
            <a:ext cx="5166360" cy="548640"/>
            <a:chOff x="6217920" y="4992624"/>
            <a:chExt cx="5166360" cy="548640"/>
          </a:xfrm>
        </p:grpSpPr>
        <p:pic>
          <p:nvPicPr>
            <p:cNvPr id="27" name="Picture 26" descr="washer_teal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17920" y="4992624"/>
              <a:ext cx="548640" cy="54864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6949440" y="505663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Washing machine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98280" y="5084064"/>
              <a:ext cx="2286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600" b="0" i="0">
                  <a:solidFill>
                    <a:srgbClr val="0F766E"/>
                  </a:solidFill>
                  <a:latin typeface="Segoe UI Semibold"/>
                </a:rPr>
                <a:t>V · I · P · kWh · ON/OFF</a:t>
              </a:r>
            </a:p>
          </p:txBody>
        </p:sp>
      </p:grpSp>
      <p:sp>
        <p:nvSpPr>
          <p:cNvPr id="32" name="title">
            <a:extLst>
              <a:ext uri="{FF2B5EF4-FFF2-40B4-BE49-F238E27FC236}">
                <a16:creationId xmlns:a16="http://schemas.microsoft.com/office/drawing/2014/main" id="{759CDE10-FB1E-5945-E681-5BC72179EE41}"/>
              </a:ext>
            </a:extLst>
          </p:cNvPr>
          <p:cNvSpPr txBox="1"/>
          <p:nvPr/>
        </p:nvSpPr>
        <p:spPr>
          <a:xfrm>
            <a:off x="4709160" y="2642616"/>
            <a:ext cx="3656627" cy="3693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ar-SA" sz="4000" b="0" i="0" dirty="0">
                <a:solidFill>
                  <a:srgbClr val="0E1B2C"/>
                </a:solidFill>
                <a:latin typeface="Bahnschrift SemiBold"/>
              </a:rPr>
              <a:t>وضح واعد الصياغة</a:t>
            </a:r>
            <a:br>
              <a:rPr lang="ar-SA" sz="4000" b="0" i="0" dirty="0">
                <a:solidFill>
                  <a:srgbClr val="0E1B2C"/>
                </a:solidFill>
                <a:latin typeface="Bahnschrift SemiBold"/>
              </a:rPr>
            </a:br>
            <a:r>
              <a:rPr lang="ar-SA" sz="4000" b="0" i="0" dirty="0">
                <a:solidFill>
                  <a:srgbClr val="0E1B2C"/>
                </a:solidFill>
                <a:latin typeface="Bahnschrift SemiBold"/>
              </a:rPr>
              <a:t>حط </a:t>
            </a:r>
            <a:r>
              <a:rPr lang="ar-SA" sz="4000" b="0" i="0" dirty="0" err="1">
                <a:solidFill>
                  <a:srgbClr val="0E1B2C"/>
                </a:solidFill>
                <a:latin typeface="Bahnschrift SemiBold"/>
              </a:rPr>
              <a:t>شرطات</a:t>
            </a:r>
            <a:r>
              <a:rPr lang="ar-SA" sz="4000" b="0" i="0" dirty="0">
                <a:solidFill>
                  <a:srgbClr val="0E1B2C"/>
                </a:solidFill>
                <a:latin typeface="Bahnschrift SemiBold"/>
              </a:rPr>
              <a:t> </a:t>
            </a:r>
            <a:endParaRPr lang="en-US" sz="4000" b="0" i="0" dirty="0">
              <a:solidFill>
                <a:srgbClr val="0E1B2C"/>
              </a:solidFill>
              <a:latin typeface="Bahnschrift SemiBold"/>
            </a:endParaRPr>
          </a:p>
          <a:p>
            <a:pPr algn="l"/>
            <a:br>
              <a:rPr lang="ar-SA" sz="4000" b="0" i="0" dirty="0">
                <a:solidFill>
                  <a:srgbClr val="0E1B2C"/>
                </a:solidFill>
                <a:latin typeface="Bahnschrift SemiBold"/>
              </a:rPr>
            </a:br>
            <a:r>
              <a:rPr lang="ar-SA" sz="4000" b="0" i="0" dirty="0">
                <a:solidFill>
                  <a:srgbClr val="0E1B2C"/>
                </a:solidFill>
                <a:latin typeface="Bahnschrift SemiBold"/>
              </a:rPr>
              <a:t>اختصر </a:t>
            </a:r>
            <a:br>
              <a:rPr lang="en-US" sz="4000" b="0" i="0" dirty="0">
                <a:solidFill>
                  <a:srgbClr val="0E1B2C"/>
                </a:solidFill>
                <a:latin typeface="Bahnschrift SemiBold"/>
              </a:rPr>
            </a:br>
            <a:r>
              <a:rPr lang="ar-SA" sz="4000" b="0" i="0" dirty="0">
                <a:solidFill>
                  <a:srgbClr val="0E1B2C"/>
                </a:solidFill>
                <a:latin typeface="Bahnschrift SemiBold"/>
              </a:rPr>
              <a:t>لا تكرر ال</a:t>
            </a:r>
            <a:r>
              <a:rPr lang="en-US" sz="4000" b="0" i="0" dirty="0">
                <a:solidFill>
                  <a:srgbClr val="0E1B2C"/>
                </a:solidFill>
                <a:latin typeface="Bahnschrift SemiBold"/>
              </a:rPr>
              <a:t> v I p kwh on off </a:t>
            </a:r>
            <a:endParaRPr sz="4000" b="0" i="0" dirty="0">
              <a:solidFill>
                <a:srgbClr val="0E1B2C"/>
              </a:solidFill>
              <a:latin typeface="Bahnschrift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6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5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13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01 · INTRODUCTION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Priority-based load management</a:t>
            </a:r>
          </a:p>
        </p:txBody>
      </p:sp>
      <p:pic>
        <p:nvPicPr>
          <p:cNvPr id="6" name="fig" descr="p9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5760720" cy="3755100"/>
          </a:xfrm>
          <a:prstGeom prst="rect">
            <a:avLst/>
          </a:prstGeom>
        </p:spPr>
      </p:pic>
      <p:sp>
        <p:nvSpPr>
          <p:cNvPr id="7" name="figcap"/>
          <p:cNvSpPr txBox="1"/>
          <p:nvPr/>
        </p:nvSpPr>
        <p:spPr>
          <a:xfrm>
            <a:off x="685800" y="566928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Segoe UI"/>
              </a:rPr>
              <a:t>Demand-side management concept. Reproduced from [4].</a:t>
            </a:r>
          </a:p>
        </p:txBody>
      </p:sp>
      <p:grpSp>
        <p:nvGrpSpPr>
          <p:cNvPr id="11" name="st0"/>
          <p:cNvGrpSpPr/>
          <p:nvPr/>
        </p:nvGrpSpPr>
        <p:grpSpPr>
          <a:xfrm>
            <a:off x="6766560" y="1965960"/>
            <a:ext cx="4754880" cy="731520"/>
            <a:chOff x="6766560" y="1965960"/>
            <a:chExt cx="4754880" cy="731520"/>
          </a:xfrm>
        </p:grpSpPr>
        <p:sp>
          <p:nvSpPr>
            <p:cNvPr id="8" name="Oval 7"/>
            <p:cNvSpPr/>
            <p:nvPr/>
          </p:nvSpPr>
          <p:spPr>
            <a:xfrm>
              <a:off x="6766560" y="1965960"/>
              <a:ext cx="685800" cy="68580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66560" y="2057400"/>
              <a:ext cx="68580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680960" y="2057400"/>
              <a:ext cx="3840480" cy="640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User sets priorities</a:t>
              </a:r>
            </a:p>
          </p:txBody>
        </p:sp>
      </p:grpSp>
      <p:grpSp>
        <p:nvGrpSpPr>
          <p:cNvPr id="15" name="st1"/>
          <p:cNvGrpSpPr/>
          <p:nvPr/>
        </p:nvGrpSpPr>
        <p:grpSpPr>
          <a:xfrm>
            <a:off x="6766560" y="3200400"/>
            <a:ext cx="4754880" cy="731520"/>
            <a:chOff x="6766560" y="3200400"/>
            <a:chExt cx="4754880" cy="731520"/>
          </a:xfrm>
        </p:grpSpPr>
        <p:sp>
          <p:nvSpPr>
            <p:cNvPr id="12" name="Oval 11"/>
            <p:cNvSpPr/>
            <p:nvPr/>
          </p:nvSpPr>
          <p:spPr>
            <a:xfrm>
              <a:off x="6766560" y="3200400"/>
              <a:ext cx="685800" cy="68580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66560" y="3291840"/>
              <a:ext cx="68580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680960" y="3291840"/>
              <a:ext cx="3840480" cy="640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Demand &gt; limit </a:t>
              </a:r>
              <a:r>
                <a:rPr sz="2600" b="0" i="0">
                  <a:solidFill>
                    <a:srgbClr val="0E1B2C"/>
                  </a:solidFill>
                  <a:latin typeface="Segoe UI Semibold"/>
                </a:rPr>
                <a:t>→</a:t>
              </a: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 shed lowest</a:t>
              </a:r>
            </a:p>
          </p:txBody>
        </p:sp>
      </p:grpSp>
      <p:grpSp>
        <p:nvGrpSpPr>
          <p:cNvPr id="19" name="st2"/>
          <p:cNvGrpSpPr/>
          <p:nvPr/>
        </p:nvGrpSpPr>
        <p:grpSpPr>
          <a:xfrm>
            <a:off x="6766560" y="4434840"/>
            <a:ext cx="4754880" cy="731519"/>
            <a:chOff x="6766560" y="4434840"/>
            <a:chExt cx="4754880" cy="731519"/>
          </a:xfrm>
        </p:grpSpPr>
        <p:sp>
          <p:nvSpPr>
            <p:cNvPr id="16" name="Oval 15"/>
            <p:cNvSpPr/>
            <p:nvPr/>
          </p:nvSpPr>
          <p:spPr>
            <a:xfrm>
              <a:off x="6766560" y="4434840"/>
              <a:ext cx="685800" cy="68580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66560" y="4526279"/>
              <a:ext cx="685800" cy="5029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680960" y="4526279"/>
              <a:ext cx="3840480" cy="6400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Essentials stay 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14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01 · INTRODUCTION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Abnormal operation — a supporting function</a:t>
            </a:r>
          </a:p>
        </p:txBody>
      </p:sp>
      <p:grpSp>
        <p:nvGrpSpPr>
          <p:cNvPr id="9" name="pt0"/>
          <p:cNvGrpSpPr/>
          <p:nvPr/>
        </p:nvGrpSpPr>
        <p:grpSpPr>
          <a:xfrm>
            <a:off x="685800" y="1874519"/>
            <a:ext cx="5120640" cy="777240"/>
            <a:chOff x="685800" y="1874519"/>
            <a:chExt cx="5120640" cy="777240"/>
          </a:xfrm>
        </p:grpSpPr>
        <p:sp>
          <p:nvSpPr>
            <p:cNvPr id="6" name="Oval 5"/>
            <p:cNvSpPr/>
            <p:nvPr/>
          </p:nvSpPr>
          <p:spPr>
            <a:xfrm>
              <a:off x="685800" y="1874519"/>
              <a:ext cx="777240" cy="77724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7" name="Picture 6" descr="pulse_amber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6792" y="2045512"/>
              <a:ext cx="435254" cy="435254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691640" y="2029967"/>
              <a:ext cx="411480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Deviation from baseline</a:t>
              </a:r>
            </a:p>
          </p:txBody>
        </p:sp>
      </p:grpSp>
      <p:grpSp>
        <p:nvGrpSpPr>
          <p:cNvPr id="13" name="pt1"/>
          <p:cNvGrpSpPr/>
          <p:nvPr/>
        </p:nvGrpSpPr>
        <p:grpSpPr>
          <a:xfrm>
            <a:off x="685800" y="3063239"/>
            <a:ext cx="5120640" cy="777240"/>
            <a:chOff x="685800" y="3063239"/>
            <a:chExt cx="5120640" cy="777240"/>
          </a:xfrm>
        </p:grpSpPr>
        <p:sp>
          <p:nvSpPr>
            <p:cNvPr id="10" name="Oval 9"/>
            <p:cNvSpPr/>
            <p:nvPr/>
          </p:nvSpPr>
          <p:spPr>
            <a:xfrm>
              <a:off x="685800" y="3063239"/>
              <a:ext cx="777240" cy="7772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1" name="Picture 10" descr="bell_red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6792" y="3234232"/>
              <a:ext cx="435254" cy="435254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691640" y="3218687"/>
              <a:ext cx="411480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User warning</a:t>
              </a:r>
            </a:p>
          </p:txBody>
        </p:sp>
      </p:grpSp>
      <p:grpSp>
        <p:nvGrpSpPr>
          <p:cNvPr id="17" name="pt2"/>
          <p:cNvGrpSpPr/>
          <p:nvPr/>
        </p:nvGrpSpPr>
        <p:grpSpPr>
          <a:xfrm>
            <a:off x="685800" y="4251960"/>
            <a:ext cx="5120640" cy="777240"/>
            <a:chOff x="685800" y="4251960"/>
            <a:chExt cx="5120640" cy="777240"/>
          </a:xfrm>
        </p:grpSpPr>
        <p:sp>
          <p:nvSpPr>
            <p:cNvPr id="14" name="Oval 13"/>
            <p:cNvSpPr/>
            <p:nvPr/>
          </p:nvSpPr>
          <p:spPr>
            <a:xfrm>
              <a:off x="685800" y="4251960"/>
              <a:ext cx="777240" cy="77724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5" name="Picture 14" descr="check_teal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6792" y="4422952"/>
              <a:ext cx="435254" cy="435254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1691640" y="4407408"/>
              <a:ext cx="411480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Supports — not replaces — control</a:t>
              </a:r>
            </a:p>
          </p:txBody>
        </p:sp>
      </p:grpSp>
      <p:sp>
        <p:nvSpPr>
          <p:cNvPr id="18" name="ev"/>
          <p:cNvSpPr txBox="1"/>
          <p:nvPr/>
        </p:nvSpPr>
        <p:spPr>
          <a:xfrm>
            <a:off x="6355080" y="1828800"/>
            <a:ext cx="512064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 dirty="0">
                <a:solidFill>
                  <a:srgbClr val="B45309"/>
                </a:solidFill>
                <a:latin typeface="Segoe UI Semibold"/>
              </a:rPr>
              <a:t>EVIDENCE  </a:t>
            </a:r>
          </a:p>
        </p:txBody>
      </p:sp>
      <p:grpSp>
        <p:nvGrpSpPr>
          <p:cNvPr id="23" name="cmp0"/>
          <p:cNvGrpSpPr/>
          <p:nvPr/>
        </p:nvGrpSpPr>
        <p:grpSpPr>
          <a:xfrm>
            <a:off x="6355080" y="2331720"/>
            <a:ext cx="5148072" cy="1554480"/>
            <a:chOff x="6355080" y="2331720"/>
            <a:chExt cx="5148072" cy="1554480"/>
          </a:xfrm>
        </p:grpSpPr>
        <p:sp>
          <p:nvSpPr>
            <p:cNvPr id="19" name="Rounded Rectangle 18"/>
            <p:cNvSpPr/>
            <p:nvPr/>
          </p:nvSpPr>
          <p:spPr>
            <a:xfrm>
              <a:off x="6355080" y="2331720"/>
              <a:ext cx="5148072" cy="1554480"/>
            </a:xfrm>
            <a:prstGeom prst="roundRect">
              <a:avLst>
                <a:gd name="adj" fmla="val 11764"/>
              </a:avLst>
            </a:prstGeom>
            <a:solidFill>
              <a:srgbClr val="FDEC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0" name="Picture 19" descr="home_red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75120" y="2743200"/>
              <a:ext cx="731520" cy="73152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7680960" y="2606039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200" b="0" i="0">
                  <a:solidFill>
                    <a:srgbClr val="0E1B2C"/>
                  </a:solidFill>
                  <a:latin typeface="Bahnschrift SemiBold"/>
                </a:rPr>
                <a:t>Whole-house estimate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680960" y="3136391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>
                  <a:solidFill>
                    <a:srgbClr val="B91C1C"/>
                  </a:solidFill>
                  <a:latin typeface="Segoe UI Semibold"/>
                </a:rPr>
                <a:t>less reliable</a:t>
              </a:r>
            </a:p>
          </p:txBody>
        </p:sp>
      </p:grpSp>
      <p:grpSp>
        <p:nvGrpSpPr>
          <p:cNvPr id="28" name="cmp1"/>
          <p:cNvGrpSpPr/>
          <p:nvPr/>
        </p:nvGrpSpPr>
        <p:grpSpPr>
          <a:xfrm>
            <a:off x="6355080" y="4114800"/>
            <a:ext cx="5148072" cy="1554480"/>
            <a:chOff x="6355080" y="4114800"/>
            <a:chExt cx="5148072" cy="1554480"/>
          </a:xfrm>
        </p:grpSpPr>
        <p:sp>
          <p:nvSpPr>
            <p:cNvPr id="24" name="Rounded Rectangle 23"/>
            <p:cNvSpPr/>
            <p:nvPr/>
          </p:nvSpPr>
          <p:spPr>
            <a:xfrm>
              <a:off x="6355080" y="4114800"/>
              <a:ext cx="5148072" cy="1554480"/>
            </a:xfrm>
            <a:prstGeom prst="roundRect">
              <a:avLst>
                <a:gd name="adj" fmla="val 11764"/>
              </a:avLst>
            </a:prstGeom>
            <a:solidFill>
              <a:srgbClr val="E6F7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5" name="Picture 24" descr="plug_teal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75120" y="4526280"/>
              <a:ext cx="731520" cy="73152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7680960" y="4389120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200" b="0" i="0">
                  <a:solidFill>
                    <a:srgbClr val="0E1B2C"/>
                  </a:solidFill>
                  <a:latin typeface="Bahnschrift SemiBold"/>
                </a:rPr>
                <a:t>Direct sub-metering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680960" y="4919472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>
                  <a:solidFill>
                    <a:srgbClr val="0F766E"/>
                  </a:solidFill>
                  <a:latin typeface="Segoe UI Semibold"/>
                </a:rPr>
                <a:t>more reliable</a:t>
              </a:r>
            </a:p>
          </p:txBody>
        </p:sp>
      </p:grpSp>
      <p:sp>
        <p:nvSpPr>
          <p:cNvPr id="29" name="src"/>
          <p:cNvSpPr txBox="1"/>
          <p:nvPr/>
        </p:nvSpPr>
        <p:spPr>
          <a:xfrm>
            <a:off x="685800" y="589788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Segoe UI"/>
              </a:rPr>
              <a:t>Anomaly detection on appliance data — Rashid et al., Applied Energy, 2019.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15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5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ec2"/>
          <p:cNvSpPr txBox="1"/>
          <p:nvPr/>
        </p:nvSpPr>
        <p:spPr>
          <a:xfrm>
            <a:off x="822960" y="91440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0" i="0">
                <a:solidFill>
                  <a:srgbClr val="B45309"/>
                </a:solidFill>
                <a:latin typeface="Bahnschrift SemiBold"/>
              </a:rPr>
              <a:t>02</a:t>
            </a:r>
          </a:p>
        </p:txBody>
      </p:sp>
      <p:sp>
        <p:nvSpPr>
          <p:cNvPr id="3" name="dt"/>
          <p:cNvSpPr txBox="1"/>
          <p:nvPr/>
        </p:nvSpPr>
        <p:spPr>
          <a:xfrm>
            <a:off x="822960" y="34290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 i="0">
                <a:solidFill>
                  <a:srgbClr val="0E1B2C"/>
                </a:solidFill>
                <a:latin typeface="Bahnschrift SemiBold"/>
              </a:rPr>
              <a:t>Problem Statement</a:t>
            </a:r>
          </a:p>
        </p:txBody>
      </p:sp>
      <p:sp>
        <p:nvSpPr>
          <p:cNvPr id="4" name="ds"/>
          <p:cNvSpPr txBox="1"/>
          <p:nvPr/>
        </p:nvSpPr>
        <p:spPr>
          <a:xfrm>
            <a:off x="822960" y="44348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B6B7F"/>
                </a:solidFill>
                <a:latin typeface="Segoe UI"/>
              </a:rPr>
              <a:t>The engineering need</a:t>
            </a:r>
          </a:p>
        </p:txBody>
      </p:sp>
      <p:pic>
        <p:nvPicPr>
          <p:cNvPr id="5" name="dicon" descr="warning_s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63040"/>
            <a:ext cx="3108960" cy="3108960"/>
          </a:xfrm>
          <a:prstGeom prst="rect">
            <a:avLst/>
          </a:prstGeom>
        </p:spPr>
      </p:pic>
      <p:sp>
        <p:nvSpPr>
          <p:cNvPr id="6" name="rail0"/>
          <p:cNvSpPr txBox="1"/>
          <p:nvPr/>
        </p:nvSpPr>
        <p:spPr>
          <a:xfrm>
            <a:off x="82296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01</a:t>
            </a:r>
          </a:p>
        </p:txBody>
      </p:sp>
      <p:sp>
        <p:nvSpPr>
          <p:cNvPr id="7" name="rail1"/>
          <p:cNvSpPr txBox="1"/>
          <p:nvPr/>
        </p:nvSpPr>
        <p:spPr>
          <a:xfrm>
            <a:off x="160020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45309"/>
                </a:solidFill>
                <a:latin typeface="Bahnschrift SemiBold"/>
              </a:rPr>
              <a:t>02</a:t>
            </a:r>
          </a:p>
        </p:txBody>
      </p:sp>
      <p:sp>
        <p:nvSpPr>
          <p:cNvPr id="8" name="rail2"/>
          <p:cNvSpPr txBox="1"/>
          <p:nvPr/>
        </p:nvSpPr>
        <p:spPr>
          <a:xfrm>
            <a:off x="237744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03</a:t>
            </a:r>
          </a:p>
        </p:txBody>
      </p:sp>
      <p:sp>
        <p:nvSpPr>
          <p:cNvPr id="9" name="rail3"/>
          <p:cNvSpPr txBox="1"/>
          <p:nvPr/>
        </p:nvSpPr>
        <p:spPr>
          <a:xfrm>
            <a:off x="3154679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16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02 · PROBLEM STATEMENT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What households face today</a:t>
            </a:r>
          </a:p>
        </p:txBody>
      </p:sp>
      <p:grpSp>
        <p:nvGrpSpPr>
          <p:cNvPr id="10" name="pb0"/>
          <p:cNvGrpSpPr/>
          <p:nvPr/>
        </p:nvGrpSpPr>
        <p:grpSpPr>
          <a:xfrm>
            <a:off x="685800" y="1810512"/>
            <a:ext cx="10817352" cy="749808"/>
            <a:chOff x="685800" y="1810512"/>
            <a:chExt cx="10817352" cy="749808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10512"/>
              <a:ext cx="10817352" cy="749808"/>
            </a:xfrm>
            <a:prstGeom prst="roundRect">
              <a:avLst>
                <a:gd name="adj" fmla="val 1951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868680" y="1911095"/>
              <a:ext cx="548640" cy="5486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eye_red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9380" y="2031796"/>
              <a:ext cx="307238" cy="307238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691640" y="1965960"/>
              <a:ext cx="9144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No per-appliance visibility</a:t>
              </a:r>
            </a:p>
          </p:txBody>
        </p:sp>
      </p:grpSp>
      <p:grpSp>
        <p:nvGrpSpPr>
          <p:cNvPr id="15" name="pb1"/>
          <p:cNvGrpSpPr/>
          <p:nvPr/>
        </p:nvGrpSpPr>
        <p:grpSpPr>
          <a:xfrm>
            <a:off x="685800" y="2697480"/>
            <a:ext cx="10817352" cy="749808"/>
            <a:chOff x="685800" y="2697480"/>
            <a:chExt cx="10817352" cy="749808"/>
          </a:xfrm>
        </p:grpSpPr>
        <p:sp>
          <p:nvSpPr>
            <p:cNvPr id="11" name="Rounded Rectangle 10"/>
            <p:cNvSpPr/>
            <p:nvPr/>
          </p:nvSpPr>
          <p:spPr>
            <a:xfrm>
              <a:off x="685800" y="2697480"/>
              <a:ext cx="10817352" cy="749808"/>
            </a:xfrm>
            <a:prstGeom prst="roundRect">
              <a:avLst>
                <a:gd name="adj" fmla="val 1951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2" name="Oval 11"/>
            <p:cNvSpPr/>
            <p:nvPr/>
          </p:nvSpPr>
          <p:spPr>
            <a:xfrm>
              <a:off x="868680" y="2798064"/>
              <a:ext cx="548640" cy="5486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3" name="Picture 12" descr="bolt_red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9380" y="2918764"/>
              <a:ext cx="307238" cy="307238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691640" y="2852928"/>
              <a:ext cx="9144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Heavy loads overlap</a:t>
              </a:r>
            </a:p>
          </p:txBody>
        </p:sp>
      </p:grpSp>
      <p:grpSp>
        <p:nvGrpSpPr>
          <p:cNvPr id="20" name="pb2"/>
          <p:cNvGrpSpPr/>
          <p:nvPr/>
        </p:nvGrpSpPr>
        <p:grpSpPr>
          <a:xfrm>
            <a:off x="685800" y="3584448"/>
            <a:ext cx="10817352" cy="749808"/>
            <a:chOff x="685800" y="3584448"/>
            <a:chExt cx="10817352" cy="749808"/>
          </a:xfrm>
        </p:grpSpPr>
        <p:sp>
          <p:nvSpPr>
            <p:cNvPr id="16" name="Rounded Rectangle 15"/>
            <p:cNvSpPr/>
            <p:nvPr/>
          </p:nvSpPr>
          <p:spPr>
            <a:xfrm>
              <a:off x="685800" y="3584448"/>
              <a:ext cx="10817352" cy="749808"/>
            </a:xfrm>
            <a:prstGeom prst="roundRect">
              <a:avLst>
                <a:gd name="adj" fmla="val 1951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" name="Oval 16"/>
            <p:cNvSpPr/>
            <p:nvPr/>
          </p:nvSpPr>
          <p:spPr>
            <a:xfrm>
              <a:off x="868680" y="3685032"/>
              <a:ext cx="548640" cy="5486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8" name="Picture 17" descr="trend_red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9380" y="3805732"/>
              <a:ext cx="307238" cy="307238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691640" y="3739896"/>
              <a:ext cx="9144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Costs rise unnoticed</a:t>
              </a:r>
            </a:p>
          </p:txBody>
        </p:sp>
      </p:grpSp>
      <p:grpSp>
        <p:nvGrpSpPr>
          <p:cNvPr id="25" name="pb3"/>
          <p:cNvGrpSpPr/>
          <p:nvPr/>
        </p:nvGrpSpPr>
        <p:grpSpPr>
          <a:xfrm>
            <a:off x="685800" y="4471416"/>
            <a:ext cx="10817352" cy="749808"/>
            <a:chOff x="685800" y="4471416"/>
            <a:chExt cx="10817352" cy="749808"/>
          </a:xfrm>
        </p:grpSpPr>
        <p:sp>
          <p:nvSpPr>
            <p:cNvPr id="21" name="Rounded Rectangle 20"/>
            <p:cNvSpPr/>
            <p:nvPr/>
          </p:nvSpPr>
          <p:spPr>
            <a:xfrm>
              <a:off x="685800" y="4471416"/>
              <a:ext cx="10817352" cy="749808"/>
            </a:xfrm>
            <a:prstGeom prst="roundRect">
              <a:avLst>
                <a:gd name="adj" fmla="val 1951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2" name="Oval 21"/>
            <p:cNvSpPr/>
            <p:nvPr/>
          </p:nvSpPr>
          <p:spPr>
            <a:xfrm>
              <a:off x="868680" y="4572000"/>
              <a:ext cx="548640" cy="5486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3" name="Picture 22" descr="sort_red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9380" y="4692700"/>
              <a:ext cx="307238" cy="307238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1691640" y="4626864"/>
              <a:ext cx="9144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Essentials not prioritised</a:t>
              </a:r>
            </a:p>
          </p:txBody>
        </p:sp>
      </p:grpSp>
      <p:grpSp>
        <p:nvGrpSpPr>
          <p:cNvPr id="30" name="pb4"/>
          <p:cNvGrpSpPr/>
          <p:nvPr/>
        </p:nvGrpSpPr>
        <p:grpSpPr>
          <a:xfrm>
            <a:off x="685800" y="5358383"/>
            <a:ext cx="10817352" cy="749808"/>
            <a:chOff x="685800" y="5358383"/>
            <a:chExt cx="10817352" cy="749808"/>
          </a:xfrm>
        </p:grpSpPr>
        <p:sp>
          <p:nvSpPr>
            <p:cNvPr id="26" name="Rounded Rectangle 25"/>
            <p:cNvSpPr/>
            <p:nvPr/>
          </p:nvSpPr>
          <p:spPr>
            <a:xfrm>
              <a:off x="685800" y="5358383"/>
              <a:ext cx="10817352" cy="749808"/>
            </a:xfrm>
            <a:prstGeom prst="roundRect">
              <a:avLst>
                <a:gd name="adj" fmla="val 1951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7" name="Oval 26"/>
            <p:cNvSpPr/>
            <p:nvPr/>
          </p:nvSpPr>
          <p:spPr>
            <a:xfrm>
              <a:off x="868680" y="5458968"/>
              <a:ext cx="548640" cy="5486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8" name="Picture 27" descr="pulse_red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380" y="5579668"/>
              <a:ext cx="307238" cy="307238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691640" y="5513831"/>
              <a:ext cx="91440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Abnormal behaviour hidden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17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02 · PROBLEM STATEMENT — RESIDENTIAL ENERGY MANAGEMENT WITH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The need</a:t>
            </a:r>
          </a:p>
        </p:txBody>
      </p:sp>
      <p:grpSp>
        <p:nvGrpSpPr>
          <p:cNvPr id="10" name="nd0"/>
          <p:cNvGrpSpPr/>
          <p:nvPr/>
        </p:nvGrpSpPr>
        <p:grpSpPr>
          <a:xfrm>
            <a:off x="685800" y="1920240"/>
            <a:ext cx="5276088" cy="1737360"/>
            <a:chOff x="685800" y="1920240"/>
            <a:chExt cx="5276088" cy="173736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920240"/>
              <a:ext cx="5276088" cy="1737360"/>
            </a:xfrm>
            <a:prstGeom prst="roundRect">
              <a:avLst>
                <a:gd name="adj" fmla="val 11578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1051560" y="2331720"/>
              <a:ext cx="914400" cy="91440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gauge_teal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2728" y="2532888"/>
              <a:ext cx="512064" cy="512064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240280" y="2468880"/>
              <a:ext cx="356616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Appliance-level monitoring</a:t>
              </a:r>
            </a:p>
          </p:txBody>
        </p:sp>
      </p:grpSp>
      <p:grpSp>
        <p:nvGrpSpPr>
          <p:cNvPr id="15" name="nd1"/>
          <p:cNvGrpSpPr/>
          <p:nvPr/>
        </p:nvGrpSpPr>
        <p:grpSpPr>
          <a:xfrm>
            <a:off x="6227064" y="1920240"/>
            <a:ext cx="5276088" cy="1737360"/>
            <a:chOff x="6227064" y="1920240"/>
            <a:chExt cx="5276088" cy="1737360"/>
          </a:xfrm>
        </p:grpSpPr>
        <p:sp>
          <p:nvSpPr>
            <p:cNvPr id="11" name="Rounded Rectangle 10"/>
            <p:cNvSpPr/>
            <p:nvPr/>
          </p:nvSpPr>
          <p:spPr>
            <a:xfrm>
              <a:off x="6227064" y="1920240"/>
              <a:ext cx="5276088" cy="1737360"/>
            </a:xfrm>
            <a:prstGeom prst="roundRect">
              <a:avLst>
                <a:gd name="adj" fmla="val 11578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2" name="Oval 11"/>
            <p:cNvSpPr/>
            <p:nvPr/>
          </p:nvSpPr>
          <p:spPr>
            <a:xfrm>
              <a:off x="6592824" y="2331720"/>
              <a:ext cx="914400" cy="91440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3" name="Picture 12" descr="sort_amber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3992" y="2532888"/>
              <a:ext cx="512064" cy="512064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7781544" y="2468880"/>
              <a:ext cx="356616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Priority-based load control</a:t>
              </a:r>
            </a:p>
          </p:txBody>
        </p:sp>
      </p:grpSp>
      <p:grpSp>
        <p:nvGrpSpPr>
          <p:cNvPr id="20" name="nd2"/>
          <p:cNvGrpSpPr/>
          <p:nvPr/>
        </p:nvGrpSpPr>
        <p:grpSpPr>
          <a:xfrm>
            <a:off x="685800" y="3931920"/>
            <a:ext cx="5276088" cy="1737360"/>
            <a:chOff x="685800" y="3931920"/>
            <a:chExt cx="5276088" cy="1737360"/>
          </a:xfrm>
        </p:grpSpPr>
        <p:sp>
          <p:nvSpPr>
            <p:cNvPr id="16" name="Rounded Rectangle 15"/>
            <p:cNvSpPr/>
            <p:nvPr/>
          </p:nvSpPr>
          <p:spPr>
            <a:xfrm>
              <a:off x="685800" y="3931920"/>
              <a:ext cx="5276088" cy="1737360"/>
            </a:xfrm>
            <a:prstGeom prst="roundRect">
              <a:avLst>
                <a:gd name="adj" fmla="val 11578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" name="Oval 16"/>
            <p:cNvSpPr/>
            <p:nvPr/>
          </p:nvSpPr>
          <p:spPr>
            <a:xfrm>
              <a:off x="1051560" y="4343400"/>
              <a:ext cx="914400" cy="914400"/>
            </a:xfrm>
            <a:prstGeom prst="ellipse">
              <a:avLst/>
            </a:prstGeom>
            <a:solidFill>
              <a:srgbClr val="E0F2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8" name="Picture 17" descr="calc_sky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2728" y="4544568"/>
              <a:ext cx="512064" cy="512064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2240280" y="4480560"/>
              <a:ext cx="356616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Consumption &amp; cost management</a:t>
              </a:r>
            </a:p>
          </p:txBody>
        </p:sp>
      </p:grpSp>
      <p:grpSp>
        <p:nvGrpSpPr>
          <p:cNvPr id="25" name="nd3"/>
          <p:cNvGrpSpPr/>
          <p:nvPr/>
        </p:nvGrpSpPr>
        <p:grpSpPr>
          <a:xfrm>
            <a:off x="6227064" y="3931920"/>
            <a:ext cx="5276088" cy="1737360"/>
            <a:chOff x="6227064" y="3931920"/>
            <a:chExt cx="5276088" cy="1737360"/>
          </a:xfrm>
        </p:grpSpPr>
        <p:sp>
          <p:nvSpPr>
            <p:cNvPr id="21" name="Rounded Rectangle 20"/>
            <p:cNvSpPr/>
            <p:nvPr/>
          </p:nvSpPr>
          <p:spPr>
            <a:xfrm>
              <a:off x="6227064" y="3931920"/>
              <a:ext cx="5276088" cy="1737360"/>
            </a:xfrm>
            <a:prstGeom prst="roundRect">
              <a:avLst>
                <a:gd name="adj" fmla="val 11578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2" name="Oval 21"/>
            <p:cNvSpPr/>
            <p:nvPr/>
          </p:nvSpPr>
          <p:spPr>
            <a:xfrm>
              <a:off x="6592824" y="4343400"/>
              <a:ext cx="914400" cy="9144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3" name="Picture 22" descr="power_red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93992" y="4544568"/>
              <a:ext cx="512064" cy="512064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7781544" y="4480560"/>
              <a:ext cx="3566160" cy="7315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Essential loads kept supplied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7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4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1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ec3"/>
          <p:cNvSpPr txBox="1"/>
          <p:nvPr/>
        </p:nvSpPr>
        <p:spPr>
          <a:xfrm>
            <a:off x="822960" y="91440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0" i="0">
                <a:solidFill>
                  <a:srgbClr val="B45309"/>
                </a:solidFill>
                <a:latin typeface="Bahnschrift SemiBold"/>
              </a:rPr>
              <a:t>03</a:t>
            </a:r>
          </a:p>
        </p:txBody>
      </p:sp>
      <p:sp>
        <p:nvSpPr>
          <p:cNvPr id="3" name="dt"/>
          <p:cNvSpPr txBox="1"/>
          <p:nvPr/>
        </p:nvSpPr>
        <p:spPr>
          <a:xfrm>
            <a:off x="822960" y="34290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 i="0">
                <a:solidFill>
                  <a:srgbClr val="0E1B2C"/>
                </a:solidFill>
                <a:latin typeface="Bahnschrift SemiBold"/>
              </a:rPr>
              <a:t>Objectives</a:t>
            </a:r>
          </a:p>
        </p:txBody>
      </p:sp>
      <p:sp>
        <p:nvSpPr>
          <p:cNvPr id="4" name="ds"/>
          <p:cNvSpPr txBox="1"/>
          <p:nvPr/>
        </p:nvSpPr>
        <p:spPr>
          <a:xfrm>
            <a:off x="822960" y="44348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B6B7F"/>
                </a:solidFill>
                <a:latin typeface="Segoe UI"/>
              </a:rPr>
              <a:t>Higher-level goals · lower-level behaviours</a:t>
            </a:r>
          </a:p>
        </p:txBody>
      </p:sp>
      <p:pic>
        <p:nvPicPr>
          <p:cNvPr id="5" name="dicon" descr="target_s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63040"/>
            <a:ext cx="3108960" cy="3108960"/>
          </a:xfrm>
          <a:prstGeom prst="rect">
            <a:avLst/>
          </a:prstGeom>
        </p:spPr>
      </p:pic>
      <p:sp>
        <p:nvSpPr>
          <p:cNvPr id="6" name="rail0"/>
          <p:cNvSpPr txBox="1"/>
          <p:nvPr/>
        </p:nvSpPr>
        <p:spPr>
          <a:xfrm>
            <a:off x="82296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01</a:t>
            </a:r>
          </a:p>
        </p:txBody>
      </p:sp>
      <p:sp>
        <p:nvSpPr>
          <p:cNvPr id="7" name="rail1"/>
          <p:cNvSpPr txBox="1"/>
          <p:nvPr/>
        </p:nvSpPr>
        <p:spPr>
          <a:xfrm>
            <a:off x="160020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02</a:t>
            </a:r>
          </a:p>
        </p:txBody>
      </p:sp>
      <p:sp>
        <p:nvSpPr>
          <p:cNvPr id="8" name="rail2"/>
          <p:cNvSpPr txBox="1"/>
          <p:nvPr/>
        </p:nvSpPr>
        <p:spPr>
          <a:xfrm>
            <a:off x="237744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45309"/>
                </a:solidFill>
                <a:latin typeface="Bahnschrift SemiBold"/>
              </a:rPr>
              <a:t>03</a:t>
            </a:r>
          </a:p>
        </p:txBody>
      </p:sp>
      <p:sp>
        <p:nvSpPr>
          <p:cNvPr id="9" name="rail3"/>
          <p:cNvSpPr txBox="1"/>
          <p:nvPr/>
        </p:nvSpPr>
        <p:spPr>
          <a:xfrm>
            <a:off x="3154679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19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03 · OBJECTIVES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Higher-level objectives</a:t>
            </a:r>
          </a:p>
        </p:txBody>
      </p:sp>
      <p:grpSp>
        <p:nvGrpSpPr>
          <p:cNvPr id="12" name="h0"/>
          <p:cNvGrpSpPr/>
          <p:nvPr/>
        </p:nvGrpSpPr>
        <p:grpSpPr>
          <a:xfrm>
            <a:off x="685800" y="1828800"/>
            <a:ext cx="3429000" cy="4023360"/>
            <a:chOff x="685800" y="1828800"/>
            <a:chExt cx="3429000" cy="402336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28800"/>
              <a:ext cx="3429000" cy="40233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1051560" y="2194560"/>
              <a:ext cx="1005840" cy="1005840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card_amber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2844" y="2415844"/>
              <a:ext cx="563270" cy="56327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240280" y="2514600"/>
              <a:ext cx="164592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00" b="0" i="0" spc="150">
                  <a:solidFill>
                    <a:srgbClr val="5B6B7F"/>
                  </a:solidFill>
                  <a:latin typeface="Segoe UI Semibold"/>
                </a:rPr>
                <a:t>HLO-1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051560" y="347472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800" b="0" i="0">
                  <a:solidFill>
                    <a:srgbClr val="0E1B2C"/>
                  </a:solidFill>
                  <a:latin typeface="Bahnschrift SemiBold"/>
                </a:rPr>
                <a:t>Economic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51560" y="4343400"/>
              <a:ext cx="2743200" cy="12801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Lower consumption</a:t>
              </a:r>
            </a:p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Lower cost</a:t>
              </a:r>
            </a:p>
          </p:txBody>
        </p:sp>
      </p:grpSp>
      <p:grpSp>
        <p:nvGrpSpPr>
          <p:cNvPr id="19" name="h1"/>
          <p:cNvGrpSpPr/>
          <p:nvPr/>
        </p:nvGrpSpPr>
        <p:grpSpPr>
          <a:xfrm>
            <a:off x="4379976" y="1828800"/>
            <a:ext cx="3429000" cy="4023360"/>
            <a:chOff x="4379976" y="1828800"/>
            <a:chExt cx="3429000" cy="4023360"/>
          </a:xfrm>
        </p:grpSpPr>
        <p:sp>
          <p:nvSpPr>
            <p:cNvPr id="13" name="Rounded Rectangle 12"/>
            <p:cNvSpPr/>
            <p:nvPr/>
          </p:nvSpPr>
          <p:spPr>
            <a:xfrm>
              <a:off x="4379976" y="1828800"/>
              <a:ext cx="3429000" cy="40233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Oval 13"/>
            <p:cNvSpPr/>
            <p:nvPr/>
          </p:nvSpPr>
          <p:spPr>
            <a:xfrm>
              <a:off x="4745736" y="2194560"/>
              <a:ext cx="1005840" cy="1005840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5" name="Picture 14" descr="power_teal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7020" y="2415844"/>
              <a:ext cx="563270" cy="56327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5934456" y="2514600"/>
              <a:ext cx="164592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00" b="0" i="0" spc="150">
                  <a:solidFill>
                    <a:srgbClr val="5B6B7F"/>
                  </a:solidFill>
                  <a:latin typeface="Segoe UI Semibold"/>
                </a:rPr>
                <a:t>HLO-2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45736" y="347472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800" b="0" i="0">
                  <a:solidFill>
                    <a:srgbClr val="0E1B2C"/>
                  </a:solidFill>
                  <a:latin typeface="Bahnschrift SemiBold"/>
                </a:rPr>
                <a:t>Reliability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45736" y="4343400"/>
              <a:ext cx="2743200" cy="12801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Essentials stay</a:t>
              </a:r>
            </a:p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supplied</a:t>
              </a:r>
            </a:p>
          </p:txBody>
        </p:sp>
      </p:grpSp>
      <p:grpSp>
        <p:nvGrpSpPr>
          <p:cNvPr id="26" name="h2"/>
          <p:cNvGrpSpPr/>
          <p:nvPr/>
        </p:nvGrpSpPr>
        <p:grpSpPr>
          <a:xfrm>
            <a:off x="8074152" y="1828800"/>
            <a:ext cx="3429000" cy="4023360"/>
            <a:chOff x="8074152" y="1828800"/>
            <a:chExt cx="3429000" cy="4023360"/>
          </a:xfrm>
        </p:grpSpPr>
        <p:sp>
          <p:nvSpPr>
            <p:cNvPr id="20" name="Rounded Rectangle 19"/>
            <p:cNvSpPr/>
            <p:nvPr/>
          </p:nvSpPr>
          <p:spPr>
            <a:xfrm>
              <a:off x="8074152" y="1828800"/>
              <a:ext cx="3429000" cy="4023360"/>
            </a:xfrm>
            <a:prstGeom prst="roundRect">
              <a:avLst>
                <a:gd name="adj" fmla="val 666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1" name="Oval 20"/>
            <p:cNvSpPr/>
            <p:nvPr/>
          </p:nvSpPr>
          <p:spPr>
            <a:xfrm>
              <a:off x="8439912" y="2194560"/>
              <a:ext cx="1005840" cy="100584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2" name="Picture 21" descr="shield_red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61196" y="2415844"/>
              <a:ext cx="563270" cy="56327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9628632" y="2514600"/>
              <a:ext cx="164592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00" b="0" i="0" spc="150">
                  <a:solidFill>
                    <a:srgbClr val="5B6B7F"/>
                  </a:solidFill>
                  <a:latin typeface="Segoe UI Semibold"/>
                </a:rPr>
                <a:t>HLO-3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439912" y="3474720"/>
              <a:ext cx="274320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2800" b="0" i="0">
                  <a:solidFill>
                    <a:srgbClr val="0E1B2C"/>
                  </a:solidFill>
                  <a:latin typeface="Bahnschrift SemiBold"/>
                </a:rPr>
                <a:t>Safety &amp; efficiency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439912" y="4343400"/>
              <a:ext cx="2743200" cy="12801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Safer operation</a:t>
              </a:r>
            </a:p>
            <a:p>
              <a:pPr algn="l">
                <a:spcAft>
                  <a:spcPts val="400"/>
                </a:spcAft>
              </a:pPr>
              <a:r>
                <a:rPr sz="2200" b="0" i="0">
                  <a:solidFill>
                    <a:srgbClr val="5B6B7F"/>
                  </a:solidFill>
                  <a:latin typeface="Segoe UI Semibold"/>
                </a:rPr>
                <a:t>Efficient use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20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03 · OBJECTIVES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Lower-level objectives</a:t>
            </a:r>
          </a:p>
        </p:txBody>
      </p:sp>
      <p:grpSp>
        <p:nvGrpSpPr>
          <p:cNvPr id="12" name="l0"/>
          <p:cNvGrpSpPr/>
          <p:nvPr/>
        </p:nvGrpSpPr>
        <p:grpSpPr>
          <a:xfrm>
            <a:off x="685800" y="1828800"/>
            <a:ext cx="3429000" cy="1874519"/>
            <a:chOff x="685800" y="1828800"/>
            <a:chExt cx="3429000" cy="1874519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960120" y="210312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gauge_whi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4712" y="2267712"/>
              <a:ext cx="402336" cy="402336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874519" y="208483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874519" y="235915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Monitor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60120" y="301752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Each load + total</a:t>
              </a:r>
            </a:p>
          </p:txBody>
        </p:sp>
      </p:grpSp>
      <p:grpSp>
        <p:nvGrpSpPr>
          <p:cNvPr id="19" name="l1"/>
          <p:cNvGrpSpPr/>
          <p:nvPr/>
        </p:nvGrpSpPr>
        <p:grpSpPr>
          <a:xfrm>
            <a:off x="4379976" y="1828800"/>
            <a:ext cx="3429000" cy="1874519"/>
            <a:chOff x="4379976" y="1828800"/>
            <a:chExt cx="3429000" cy="1874519"/>
          </a:xfrm>
        </p:grpSpPr>
        <p:sp>
          <p:nvSpPr>
            <p:cNvPr id="13" name="Rounded Rectangle 12"/>
            <p:cNvSpPr/>
            <p:nvPr/>
          </p:nvSpPr>
          <p:spPr>
            <a:xfrm>
              <a:off x="4379976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Oval 13"/>
            <p:cNvSpPr/>
            <p:nvPr/>
          </p:nvSpPr>
          <p:spPr>
            <a:xfrm>
              <a:off x="4654296" y="210312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5" name="Picture 14" descr="pulse_whi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8888" y="2267712"/>
              <a:ext cx="402336" cy="402336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5568696" y="208483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568696" y="235915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Detect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654296" y="301752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Abnormal → warn</a:t>
              </a:r>
            </a:p>
          </p:txBody>
        </p:sp>
      </p:grpSp>
      <p:grpSp>
        <p:nvGrpSpPr>
          <p:cNvPr id="26" name="l2"/>
          <p:cNvGrpSpPr/>
          <p:nvPr/>
        </p:nvGrpSpPr>
        <p:grpSpPr>
          <a:xfrm>
            <a:off x="8074152" y="1828800"/>
            <a:ext cx="3429000" cy="1874519"/>
            <a:chOff x="8074152" y="1828800"/>
            <a:chExt cx="3429000" cy="1874519"/>
          </a:xfrm>
        </p:grpSpPr>
        <p:sp>
          <p:nvSpPr>
            <p:cNvPr id="20" name="Rounded Rectangle 19"/>
            <p:cNvSpPr/>
            <p:nvPr/>
          </p:nvSpPr>
          <p:spPr>
            <a:xfrm>
              <a:off x="8074152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1" name="Oval 20"/>
            <p:cNvSpPr/>
            <p:nvPr/>
          </p:nvSpPr>
          <p:spPr>
            <a:xfrm>
              <a:off x="8348472" y="210312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2" name="Picture 21" descr="sort_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513064" y="2267712"/>
              <a:ext cx="402336" cy="402336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9262872" y="208483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262872" y="235915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Prioritise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348472" y="301752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Shed lowest above limit</a:t>
              </a:r>
            </a:p>
          </p:txBody>
        </p:sp>
      </p:grpSp>
      <p:grpSp>
        <p:nvGrpSpPr>
          <p:cNvPr id="33" name="l3"/>
          <p:cNvGrpSpPr/>
          <p:nvPr/>
        </p:nvGrpSpPr>
        <p:grpSpPr>
          <a:xfrm>
            <a:off x="685800" y="3931920"/>
            <a:ext cx="3429000" cy="1874519"/>
            <a:chOff x="685800" y="3931920"/>
            <a:chExt cx="3429000" cy="1874519"/>
          </a:xfrm>
        </p:grpSpPr>
        <p:sp>
          <p:nvSpPr>
            <p:cNvPr id="27" name="Rounded Rectangle 26"/>
            <p:cNvSpPr/>
            <p:nvPr/>
          </p:nvSpPr>
          <p:spPr>
            <a:xfrm>
              <a:off x="685800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8" name="Oval 27"/>
            <p:cNvSpPr/>
            <p:nvPr/>
          </p:nvSpPr>
          <p:spPr>
            <a:xfrm>
              <a:off x="960120" y="420624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9" name="Picture 28" descr="calc_whi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24712" y="4370831"/>
              <a:ext cx="402336" cy="402336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1874519" y="418795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874519" y="446227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Budget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60120" y="512064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Energy &amp; cost vs. budget</a:t>
              </a:r>
            </a:p>
          </p:txBody>
        </p:sp>
      </p:grpSp>
      <p:grpSp>
        <p:nvGrpSpPr>
          <p:cNvPr id="40" name="l4"/>
          <p:cNvGrpSpPr/>
          <p:nvPr/>
        </p:nvGrpSpPr>
        <p:grpSpPr>
          <a:xfrm>
            <a:off x="4379976" y="3931920"/>
            <a:ext cx="3429000" cy="1874519"/>
            <a:chOff x="4379976" y="3931920"/>
            <a:chExt cx="3429000" cy="1874519"/>
          </a:xfrm>
        </p:grpSpPr>
        <p:sp>
          <p:nvSpPr>
            <p:cNvPr id="34" name="Rounded Rectangle 33"/>
            <p:cNvSpPr/>
            <p:nvPr/>
          </p:nvSpPr>
          <p:spPr>
            <a:xfrm>
              <a:off x="4379976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5" name="Oval 34"/>
            <p:cNvSpPr/>
            <p:nvPr/>
          </p:nvSpPr>
          <p:spPr>
            <a:xfrm>
              <a:off x="4654296" y="420624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36" name="Picture 35" descr="monitor_whit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18888" y="4370831"/>
              <a:ext cx="402336" cy="402336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5568696" y="418795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LLO-5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568696" y="446227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Inform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54296" y="512064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Status · cost · warnings</a:t>
              </a:r>
            </a:p>
          </p:txBody>
        </p:sp>
      </p:grpSp>
      <p:grpSp>
        <p:nvGrpSpPr>
          <p:cNvPr id="47" name="l5"/>
          <p:cNvGrpSpPr/>
          <p:nvPr/>
        </p:nvGrpSpPr>
        <p:grpSpPr>
          <a:xfrm>
            <a:off x="8074152" y="3931920"/>
            <a:ext cx="3429000" cy="1874519"/>
            <a:chOff x="8074152" y="3931920"/>
            <a:chExt cx="3429000" cy="1874519"/>
          </a:xfrm>
        </p:grpSpPr>
        <p:sp>
          <p:nvSpPr>
            <p:cNvPr id="41" name="Rounded Rectangle 40"/>
            <p:cNvSpPr/>
            <p:nvPr/>
          </p:nvSpPr>
          <p:spPr>
            <a:xfrm>
              <a:off x="8074152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2" name="Oval 41"/>
            <p:cNvSpPr/>
            <p:nvPr/>
          </p:nvSpPr>
          <p:spPr>
            <a:xfrm>
              <a:off x="8348472" y="4206240"/>
              <a:ext cx="731520" cy="7315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43" name="Picture 42" descr="shield_whit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13064" y="4370831"/>
              <a:ext cx="402336" cy="402336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9262872" y="4187952"/>
              <a:ext cx="210312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LLO-6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262872" y="4462272"/>
              <a:ext cx="219456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600" b="0" i="0">
                  <a:solidFill>
                    <a:srgbClr val="0E1B2C"/>
                  </a:solidFill>
                  <a:latin typeface="Bahnschrift SemiBold"/>
                </a:rPr>
                <a:t>Stay safe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348472" y="5120640"/>
              <a:ext cx="301752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00" b="0" i="0">
                  <a:solidFill>
                    <a:srgbClr val="5B6B7F"/>
                  </a:solidFill>
                  <a:latin typeface="Segoe UI Semibold"/>
                </a:rPr>
                <a:t>Fail-safe · override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3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6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9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2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5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ec4"/>
          <p:cNvSpPr txBox="1"/>
          <p:nvPr/>
        </p:nvSpPr>
        <p:spPr>
          <a:xfrm>
            <a:off x="822960" y="91440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0" b="0" i="0">
                <a:solidFill>
                  <a:srgbClr val="B45309"/>
                </a:solidFill>
                <a:latin typeface="Bahnschrift SemiBold"/>
              </a:rPr>
              <a:t>04</a:t>
            </a:r>
          </a:p>
        </p:txBody>
      </p:sp>
      <p:sp>
        <p:nvSpPr>
          <p:cNvPr id="3" name="dt"/>
          <p:cNvSpPr txBox="1"/>
          <p:nvPr/>
        </p:nvSpPr>
        <p:spPr>
          <a:xfrm>
            <a:off x="822960" y="34290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0" i="0">
                <a:solidFill>
                  <a:srgbClr val="0E1B2C"/>
                </a:solidFill>
                <a:latin typeface="Bahnschrift SemiBold"/>
              </a:rPr>
              <a:t>Design Requirements</a:t>
            </a:r>
          </a:p>
        </p:txBody>
      </p:sp>
      <p:sp>
        <p:nvSpPr>
          <p:cNvPr id="4" name="ds"/>
          <p:cNvSpPr txBox="1"/>
          <p:nvPr/>
        </p:nvSpPr>
        <p:spPr>
          <a:xfrm>
            <a:off x="815585" y="5277956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dirty="0">
                <a:solidFill>
                  <a:srgbClr val="5B6B7F"/>
                </a:solidFill>
                <a:latin typeface="Segoe UI"/>
              </a:rPr>
              <a:t>Specs · constraints · standards · assumptions · deliverables</a:t>
            </a:r>
          </a:p>
        </p:txBody>
      </p:sp>
      <p:pic>
        <p:nvPicPr>
          <p:cNvPr id="5" name="dicon" descr="checklist_s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63040"/>
            <a:ext cx="3108960" cy="3108960"/>
          </a:xfrm>
          <a:prstGeom prst="rect">
            <a:avLst/>
          </a:prstGeom>
        </p:spPr>
      </p:pic>
      <p:sp>
        <p:nvSpPr>
          <p:cNvPr id="6" name="rail0"/>
          <p:cNvSpPr txBox="1"/>
          <p:nvPr/>
        </p:nvSpPr>
        <p:spPr>
          <a:xfrm>
            <a:off x="82296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01</a:t>
            </a:r>
          </a:p>
        </p:txBody>
      </p:sp>
      <p:sp>
        <p:nvSpPr>
          <p:cNvPr id="7" name="rail1"/>
          <p:cNvSpPr txBox="1"/>
          <p:nvPr/>
        </p:nvSpPr>
        <p:spPr>
          <a:xfrm>
            <a:off x="160020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02</a:t>
            </a:r>
          </a:p>
        </p:txBody>
      </p:sp>
      <p:sp>
        <p:nvSpPr>
          <p:cNvPr id="8" name="rail2"/>
          <p:cNvSpPr txBox="1"/>
          <p:nvPr/>
        </p:nvSpPr>
        <p:spPr>
          <a:xfrm>
            <a:off x="2377440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3CEDB"/>
                </a:solidFill>
                <a:latin typeface="Bahnschrift SemiBold"/>
              </a:rPr>
              <a:t>03</a:t>
            </a:r>
          </a:p>
        </p:txBody>
      </p:sp>
      <p:sp>
        <p:nvSpPr>
          <p:cNvPr id="9" name="rail3"/>
          <p:cNvSpPr txBox="1"/>
          <p:nvPr/>
        </p:nvSpPr>
        <p:spPr>
          <a:xfrm>
            <a:off x="3154679" y="5989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B45309"/>
                </a:solidFill>
                <a:latin typeface="Bahnschrift Semi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391373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25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Design specifications  (1/2)</a:t>
            </a:r>
          </a:p>
        </p:txBody>
      </p:sp>
      <p:grpSp>
        <p:nvGrpSpPr>
          <p:cNvPr id="13" name="ds0"/>
          <p:cNvGrpSpPr/>
          <p:nvPr/>
        </p:nvGrpSpPr>
        <p:grpSpPr>
          <a:xfrm>
            <a:off x="685800" y="1810512"/>
            <a:ext cx="5276088" cy="2084831"/>
            <a:chOff x="685800" y="1810512"/>
            <a:chExt cx="5276088" cy="2084831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10512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60120" y="2084831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20" y="2112264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03120" y="2048256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Accuracy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60120" y="2587752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±5 %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00400" y="2724912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V · I · P · energy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60120" y="3438144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LLO-1</a:t>
              </a:r>
            </a:p>
          </p:txBody>
        </p:sp>
      </p:grpSp>
      <p:grpSp>
        <p:nvGrpSpPr>
          <p:cNvPr id="21" name="ds1"/>
          <p:cNvGrpSpPr/>
          <p:nvPr/>
        </p:nvGrpSpPr>
        <p:grpSpPr>
          <a:xfrm>
            <a:off x="6227064" y="1810512"/>
            <a:ext cx="5276088" cy="2084831"/>
            <a:chOff x="6227064" y="1810512"/>
            <a:chExt cx="5276088" cy="2084831"/>
          </a:xfrm>
        </p:grpSpPr>
        <p:sp>
          <p:nvSpPr>
            <p:cNvPr id="14" name="Rounded Rectangle 13"/>
            <p:cNvSpPr/>
            <p:nvPr/>
          </p:nvSpPr>
          <p:spPr>
            <a:xfrm>
              <a:off x="6227064" y="1810512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501383" y="2084831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01383" y="2112264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DS-02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44383" y="2048256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Update rate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01383" y="2587752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Segoe UI Semibold"/>
                </a:rPr>
                <a:t>≤</a:t>
              </a:r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 3 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741663" y="2724912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Readings + status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01383" y="3438144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LLO-1 · 5</a:t>
              </a:r>
            </a:p>
          </p:txBody>
        </p:sp>
      </p:grpSp>
      <p:grpSp>
        <p:nvGrpSpPr>
          <p:cNvPr id="29" name="ds2"/>
          <p:cNvGrpSpPr/>
          <p:nvPr/>
        </p:nvGrpSpPr>
        <p:grpSpPr>
          <a:xfrm>
            <a:off x="685800" y="4078224"/>
            <a:ext cx="5276088" cy="2084831"/>
            <a:chOff x="685800" y="4078224"/>
            <a:chExt cx="5276088" cy="2084831"/>
          </a:xfrm>
        </p:grpSpPr>
        <p:sp>
          <p:nvSpPr>
            <p:cNvPr id="22" name="Rounded Rectangle 21"/>
            <p:cNvSpPr/>
            <p:nvPr/>
          </p:nvSpPr>
          <p:spPr>
            <a:xfrm>
              <a:off x="685800" y="4078224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60120" y="4352544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60120" y="4379976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DS-03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03120" y="4315968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Abnormal detection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60120" y="4855464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Segoe UI Semibold"/>
                </a:rPr>
                <a:t>≥</a:t>
              </a:r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 90 %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00400" y="4992624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120 / 80 % · 5 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0120" y="5705856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LLO-2</a:t>
              </a:r>
            </a:p>
          </p:txBody>
        </p:sp>
      </p:grpSp>
      <p:grpSp>
        <p:nvGrpSpPr>
          <p:cNvPr id="37" name="ds3"/>
          <p:cNvGrpSpPr/>
          <p:nvPr/>
        </p:nvGrpSpPr>
        <p:grpSpPr>
          <a:xfrm>
            <a:off x="6227064" y="4078224"/>
            <a:ext cx="5276088" cy="2084831"/>
            <a:chOff x="6227064" y="4078224"/>
            <a:chExt cx="5276088" cy="2084831"/>
          </a:xfrm>
        </p:grpSpPr>
        <p:sp>
          <p:nvSpPr>
            <p:cNvPr id="30" name="Rounded Rectangle 29"/>
            <p:cNvSpPr/>
            <p:nvPr/>
          </p:nvSpPr>
          <p:spPr>
            <a:xfrm>
              <a:off x="6227064" y="4078224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501383" y="4352544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01383" y="4379976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DS-04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644383" y="4315968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Load control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501383" y="4855464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Segoe UI Semibold"/>
                </a:rPr>
                <a:t>≤</a:t>
              </a:r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 1 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741663" y="4992624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≥ 4 channels · ≥ 3 levels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01383" y="5705856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26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Design specifications  (2/2)</a:t>
            </a:r>
          </a:p>
        </p:txBody>
      </p:sp>
      <p:grpSp>
        <p:nvGrpSpPr>
          <p:cNvPr id="13" name="ds0"/>
          <p:cNvGrpSpPr/>
          <p:nvPr/>
        </p:nvGrpSpPr>
        <p:grpSpPr>
          <a:xfrm>
            <a:off x="685800" y="1810512"/>
            <a:ext cx="5276088" cy="2084831"/>
            <a:chOff x="685800" y="1810512"/>
            <a:chExt cx="5276088" cy="2084831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10512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60120" y="2084831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20" y="2112264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DS-05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103120" y="2048256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 dirty="0">
                  <a:solidFill>
                    <a:srgbClr val="0E1B2C"/>
                  </a:solidFill>
                  <a:latin typeface="Bahnschrift SemiBold"/>
                </a:rPr>
                <a:t>Reconnection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60120" y="2587752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5 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00400" y="2724912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 dirty="0">
                  <a:solidFill>
                    <a:srgbClr val="0E1B2C"/>
                  </a:solidFill>
                  <a:latin typeface="Segoe UI Semibold"/>
                </a:rPr>
                <a:t>Stable margin · highest first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60120" y="3438144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LLO-3 · 6</a:t>
              </a:r>
            </a:p>
          </p:txBody>
        </p:sp>
      </p:grpSp>
      <p:grpSp>
        <p:nvGrpSpPr>
          <p:cNvPr id="21" name="ds1"/>
          <p:cNvGrpSpPr/>
          <p:nvPr/>
        </p:nvGrpSpPr>
        <p:grpSpPr>
          <a:xfrm>
            <a:off x="6227064" y="1810512"/>
            <a:ext cx="5276088" cy="2084831"/>
            <a:chOff x="6227064" y="1810512"/>
            <a:chExt cx="5276088" cy="2084831"/>
          </a:xfrm>
        </p:grpSpPr>
        <p:sp>
          <p:nvSpPr>
            <p:cNvPr id="14" name="Rounded Rectangle 13"/>
            <p:cNvSpPr/>
            <p:nvPr/>
          </p:nvSpPr>
          <p:spPr>
            <a:xfrm>
              <a:off x="6227064" y="1810512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501383" y="2084831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01383" y="2112264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DS-06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44383" y="2048256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Cost &amp; budget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501383" y="2587752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±5 %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741663" y="2724912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Alerts 50 · 80 · 100 %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01383" y="3438144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LLO-4</a:t>
              </a:r>
            </a:p>
          </p:txBody>
        </p:sp>
      </p:grpSp>
      <p:grpSp>
        <p:nvGrpSpPr>
          <p:cNvPr id="29" name="ds2"/>
          <p:cNvGrpSpPr/>
          <p:nvPr/>
        </p:nvGrpSpPr>
        <p:grpSpPr>
          <a:xfrm>
            <a:off x="685800" y="4078224"/>
            <a:ext cx="5276088" cy="2084831"/>
            <a:chOff x="685800" y="4078224"/>
            <a:chExt cx="5276088" cy="2084831"/>
          </a:xfrm>
        </p:grpSpPr>
        <p:sp>
          <p:nvSpPr>
            <p:cNvPr id="22" name="Rounded Rectangle 21"/>
            <p:cNvSpPr/>
            <p:nvPr/>
          </p:nvSpPr>
          <p:spPr>
            <a:xfrm>
              <a:off x="685800" y="4078224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60120" y="4352544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60120" y="4379976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DS-07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03120" y="4315968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User warnings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60120" y="4855464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Segoe UI Semibold"/>
                </a:rPr>
                <a:t>≤</a:t>
              </a:r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 5 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00400" y="4992624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7-day log · 1 h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60120" y="5705856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LLO-2 · 5</a:t>
              </a:r>
            </a:p>
          </p:txBody>
        </p:sp>
      </p:grpSp>
      <p:grpSp>
        <p:nvGrpSpPr>
          <p:cNvPr id="37" name="ds3"/>
          <p:cNvGrpSpPr/>
          <p:nvPr/>
        </p:nvGrpSpPr>
        <p:grpSpPr>
          <a:xfrm>
            <a:off x="6227064" y="4078224"/>
            <a:ext cx="5276088" cy="2084831"/>
            <a:chOff x="6227064" y="4078224"/>
            <a:chExt cx="5276088" cy="2084831"/>
          </a:xfrm>
        </p:grpSpPr>
        <p:sp>
          <p:nvSpPr>
            <p:cNvPr id="30" name="Rounded Rectangle 29"/>
            <p:cNvSpPr/>
            <p:nvPr/>
          </p:nvSpPr>
          <p:spPr>
            <a:xfrm>
              <a:off x="6227064" y="4078224"/>
              <a:ext cx="5276088" cy="2084831"/>
            </a:xfrm>
            <a:prstGeom prst="roundRect">
              <a:avLst>
                <a:gd name="adj" fmla="val 8771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501383" y="4352544"/>
              <a:ext cx="960120" cy="384048"/>
            </a:xfrm>
            <a:prstGeom prst="roundRect">
              <a:avLst>
                <a:gd name="adj" fmla="val 23809"/>
              </a:avLst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01383" y="4379976"/>
              <a:ext cx="960120" cy="34747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400" b="0" i="0">
                  <a:solidFill>
                    <a:srgbClr val="FFFFFF"/>
                  </a:solidFill>
                  <a:latin typeface="Segoe UI Semibold"/>
                </a:rPr>
                <a:t>DS-08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644383" y="4315968"/>
              <a:ext cx="365760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Fail-safe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501383" y="4855464"/>
              <a:ext cx="219456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800" b="0" i="0">
                  <a:solidFill>
                    <a:srgbClr val="0F766E"/>
                  </a:solidFill>
                  <a:latin typeface="Segoe UI Semibold"/>
                </a:rPr>
                <a:t>≤</a:t>
              </a:r>
              <a:r>
                <a:rPr sz="4800" b="0" i="0">
                  <a:solidFill>
                    <a:srgbClr val="0F766E"/>
                  </a:solidFill>
                  <a:latin typeface="Bahnschrift SemiBold"/>
                </a:rPr>
                <a:t> 2 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741663" y="4992624"/>
              <a:ext cx="2606040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900" b="0" i="0">
                  <a:solidFill>
                    <a:srgbClr val="0E1B2C"/>
                  </a:solidFill>
                  <a:latin typeface="Segoe UI Semibold"/>
                </a:rPr>
                <a:t>De-energize · override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501383" y="5705856"/>
              <a:ext cx="21945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B45309"/>
                  </a:solidFill>
                  <a:latin typeface="Segoe UI Semibold"/>
                </a:rPr>
                <a:t>→ LLO-6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 dirty="0">
                <a:solidFill>
                  <a:srgbClr val="B45309"/>
                </a:solidFill>
                <a:latin typeface="Segoe UI Semibold"/>
              </a:rPr>
              <a:t>REQUIRED BEHAVIOUR · DS-03 / DS-07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Abnormal-operation warning</a:t>
            </a:r>
          </a:p>
        </p:txBody>
      </p:sp>
      <p:sp>
        <p:nvSpPr>
          <p:cNvPr id="4" name="frame"/>
          <p:cNvSpPr/>
          <p:nvPr/>
        </p:nvSpPr>
        <p:spPr>
          <a:xfrm>
            <a:off x="621792" y="1673352"/>
            <a:ext cx="8540496" cy="4860036"/>
          </a:xfrm>
          <a:prstGeom prst="roundRect">
            <a:avLst>
              <a:gd name="adj" fmla="val 2634"/>
            </a:avLst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8" name="bd0"/>
          <p:cNvGrpSpPr/>
          <p:nvPr/>
        </p:nvGrpSpPr>
        <p:grpSpPr>
          <a:xfrm>
            <a:off x="9372600" y="1673352"/>
            <a:ext cx="2130552" cy="1088136"/>
            <a:chOff x="9372600" y="1673352"/>
            <a:chExt cx="2130552" cy="1088136"/>
          </a:xfrm>
        </p:grpSpPr>
        <p:sp>
          <p:nvSpPr>
            <p:cNvPr id="5" name="Rounded Rectangle 4"/>
            <p:cNvSpPr/>
            <p:nvPr/>
          </p:nvSpPr>
          <p:spPr>
            <a:xfrm>
              <a:off x="9372600" y="1673352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528048" y="1764792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120 / 80 %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528048" y="2258568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of baseline</a:t>
              </a:r>
            </a:p>
          </p:txBody>
        </p:sp>
      </p:grpSp>
      <p:grpSp>
        <p:nvGrpSpPr>
          <p:cNvPr id="12" name="bd1"/>
          <p:cNvGrpSpPr/>
          <p:nvPr/>
        </p:nvGrpSpPr>
        <p:grpSpPr>
          <a:xfrm>
            <a:off x="9372600" y="2889504"/>
            <a:ext cx="2130552" cy="1088136"/>
            <a:chOff x="9372600" y="2889504"/>
            <a:chExt cx="2130552" cy="1088136"/>
          </a:xfrm>
        </p:grpSpPr>
        <p:sp>
          <p:nvSpPr>
            <p:cNvPr id="9" name="Rounded Rectangle 8"/>
            <p:cNvSpPr/>
            <p:nvPr/>
          </p:nvSpPr>
          <p:spPr>
            <a:xfrm>
              <a:off x="9372600" y="2889504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528048" y="2980944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Segoe UI Semibold"/>
                </a:rPr>
                <a:t>≥</a:t>
              </a:r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 5 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28048" y="3474720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persistence</a:t>
              </a:r>
            </a:p>
          </p:txBody>
        </p:sp>
      </p:grpSp>
      <p:grpSp>
        <p:nvGrpSpPr>
          <p:cNvPr id="16" name="bd2"/>
          <p:cNvGrpSpPr/>
          <p:nvPr/>
        </p:nvGrpSpPr>
        <p:grpSpPr>
          <a:xfrm>
            <a:off x="9372600" y="4105656"/>
            <a:ext cx="2130552" cy="1088136"/>
            <a:chOff x="9372600" y="4105656"/>
            <a:chExt cx="2130552" cy="1088136"/>
          </a:xfrm>
        </p:grpSpPr>
        <p:sp>
          <p:nvSpPr>
            <p:cNvPr id="13" name="Rounded Rectangle 12"/>
            <p:cNvSpPr/>
            <p:nvPr/>
          </p:nvSpPr>
          <p:spPr>
            <a:xfrm>
              <a:off x="9372600" y="4105656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528048" y="4197096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Segoe UI Semibold"/>
                </a:rPr>
                <a:t>≥</a:t>
              </a:r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 90 %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528048" y="4690872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detection rate</a:t>
              </a:r>
            </a:p>
          </p:txBody>
        </p:sp>
      </p:grpSp>
      <p:grpSp>
        <p:nvGrpSpPr>
          <p:cNvPr id="20" name="bd3"/>
          <p:cNvGrpSpPr/>
          <p:nvPr/>
        </p:nvGrpSpPr>
        <p:grpSpPr>
          <a:xfrm>
            <a:off x="9372600" y="5321808"/>
            <a:ext cx="2130552" cy="1088136"/>
            <a:chOff x="9372600" y="5321808"/>
            <a:chExt cx="2130552" cy="1088136"/>
          </a:xfrm>
        </p:grpSpPr>
        <p:sp>
          <p:nvSpPr>
            <p:cNvPr id="17" name="Rounded Rectangle 16"/>
            <p:cNvSpPr/>
            <p:nvPr/>
          </p:nvSpPr>
          <p:spPr>
            <a:xfrm>
              <a:off x="9372600" y="5321808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528048" y="5413248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Segoe UI Semibold"/>
                </a:rPr>
                <a:t>≤</a:t>
              </a:r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 5 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528048" y="5907024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to warn</a:t>
              </a:r>
            </a:p>
          </p:txBody>
        </p:sp>
      </p:grpSp>
      <p:pic>
        <p:nvPicPr>
          <p:cNvPr id="21" name="vid_L_abnormal">
            <a:hlinkClick r:id="" action="ppaction://media"/>
            <a:extLst>
              <a:ext uri="{FF2B5EF4-FFF2-40B4-BE49-F238E27FC236}">
                <a16:creationId xmlns:a16="http://schemas.microsoft.com/office/drawing/2014/main" id="{66D61DCF-27B7-A388-9BBF-83BBFA7104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1737360"/>
            <a:ext cx="8412480" cy="473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1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30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3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8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5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vol="80000" mute="1">
                <p:cTn id="36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27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 dirty="0">
                <a:solidFill>
                  <a:srgbClr val="0E1B2C"/>
                </a:solidFill>
                <a:latin typeface="Bahnschrift SemiBold"/>
              </a:rPr>
              <a:t>Realistic constraints</a:t>
            </a:r>
          </a:p>
        </p:txBody>
      </p:sp>
      <p:grpSp>
        <p:nvGrpSpPr>
          <p:cNvPr id="9" name="c0"/>
          <p:cNvGrpSpPr/>
          <p:nvPr/>
        </p:nvGrpSpPr>
        <p:grpSpPr>
          <a:xfrm>
            <a:off x="685800" y="1828800"/>
            <a:ext cx="3429000" cy="1874519"/>
            <a:chOff x="685800" y="1828800"/>
            <a:chExt cx="3429000" cy="1874519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60120" y="210312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C-01  ·  BUDGET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20" y="2606040"/>
              <a:ext cx="301752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b="0" i="0" dirty="0">
                  <a:solidFill>
                    <a:srgbClr val="0E1B2C"/>
                  </a:solidFill>
                  <a:latin typeface="Segoe UI Semibold"/>
                </a:rPr>
                <a:t>≤</a:t>
              </a:r>
              <a:r>
                <a:rPr sz="3000" b="0" i="0" dirty="0">
                  <a:solidFill>
                    <a:srgbClr val="0E1B2C"/>
                  </a:solidFill>
                  <a:latin typeface="Bahnschrift SemiBold"/>
                </a:rPr>
                <a:t> 1,000 SAR</a:t>
              </a:r>
            </a:p>
          </p:txBody>
        </p:sp>
      </p:grpSp>
      <p:grpSp>
        <p:nvGrpSpPr>
          <p:cNvPr id="13" name="c1"/>
          <p:cNvGrpSpPr/>
          <p:nvPr/>
        </p:nvGrpSpPr>
        <p:grpSpPr>
          <a:xfrm>
            <a:off x="4379976" y="1828800"/>
            <a:ext cx="3429000" cy="1874519"/>
            <a:chOff x="4379976" y="1828800"/>
            <a:chExt cx="3429000" cy="1874519"/>
          </a:xfrm>
        </p:grpSpPr>
        <p:sp>
          <p:nvSpPr>
            <p:cNvPr id="10" name="Rounded Rectangle 9"/>
            <p:cNvSpPr/>
            <p:nvPr/>
          </p:nvSpPr>
          <p:spPr>
            <a:xfrm>
              <a:off x="4379976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54296" y="210312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1400" b="0" i="0" spc="150" dirty="0">
                  <a:solidFill>
                    <a:srgbClr val="B45309"/>
                  </a:solidFill>
                  <a:latin typeface="Segoe UI Semibold"/>
                </a:rPr>
                <a:t>C-02  ·  SCHEDULE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654296" y="2606040"/>
              <a:ext cx="3017520" cy="9233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3000" b="0" i="0" dirty="0">
                  <a:solidFill>
                    <a:srgbClr val="0E1B2C"/>
                  </a:solidFill>
                  <a:latin typeface="Bahnschrift SemiBold"/>
                </a:rPr>
                <a:t>Befor</a:t>
              </a:r>
              <a:r>
                <a:rPr lang="en-US" sz="3000" dirty="0">
                  <a:solidFill>
                    <a:srgbClr val="0E1B2C"/>
                  </a:solidFill>
                  <a:latin typeface="Bahnschrift SemiBold"/>
                </a:rPr>
                <a:t>e the deadline </a:t>
              </a:r>
              <a:endParaRPr sz="3000" b="0" i="0" dirty="0">
                <a:solidFill>
                  <a:srgbClr val="0E1B2C"/>
                </a:solidFill>
                <a:latin typeface="Bahnschrift SemiBold"/>
              </a:endParaRPr>
            </a:p>
          </p:txBody>
        </p:sp>
      </p:grpSp>
      <p:grpSp>
        <p:nvGrpSpPr>
          <p:cNvPr id="17" name="c2"/>
          <p:cNvGrpSpPr/>
          <p:nvPr/>
        </p:nvGrpSpPr>
        <p:grpSpPr>
          <a:xfrm>
            <a:off x="8074152" y="1828800"/>
            <a:ext cx="3429000" cy="1874519"/>
            <a:chOff x="8074152" y="1828800"/>
            <a:chExt cx="3429000" cy="1874519"/>
          </a:xfrm>
        </p:grpSpPr>
        <p:sp>
          <p:nvSpPr>
            <p:cNvPr id="14" name="Rounded Rectangle 13"/>
            <p:cNvSpPr/>
            <p:nvPr/>
          </p:nvSpPr>
          <p:spPr>
            <a:xfrm>
              <a:off x="8074152" y="182880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348472" y="210312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C-03  ·  SCOPE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48472" y="2606040"/>
              <a:ext cx="3017520" cy="92333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b="0" i="0" dirty="0">
                  <a:solidFill>
                    <a:srgbClr val="0E1B2C"/>
                  </a:solidFill>
                  <a:latin typeface="Bahnschrift SemiBold"/>
                </a:rPr>
                <a:t>Single-phase</a:t>
              </a:r>
              <a:endParaRPr lang="ar-SA" sz="3000" b="0" i="0" dirty="0">
                <a:solidFill>
                  <a:srgbClr val="0E1B2C"/>
                </a:solidFill>
                <a:latin typeface="Bahnschrift SemiBold"/>
              </a:endParaRPr>
            </a:p>
            <a:p>
              <a:pPr algn="l"/>
              <a:endParaRPr sz="3000" b="0" i="0" dirty="0">
                <a:solidFill>
                  <a:srgbClr val="0E1B2C"/>
                </a:solidFill>
                <a:latin typeface="Bahnschrift SemiBold"/>
              </a:endParaRPr>
            </a:p>
          </p:txBody>
        </p:sp>
      </p:grpSp>
      <p:grpSp>
        <p:nvGrpSpPr>
          <p:cNvPr id="21" name="c3"/>
          <p:cNvGrpSpPr/>
          <p:nvPr/>
        </p:nvGrpSpPr>
        <p:grpSpPr>
          <a:xfrm>
            <a:off x="685800" y="3931920"/>
            <a:ext cx="3429000" cy="1874519"/>
            <a:chOff x="685800" y="3931920"/>
            <a:chExt cx="3429000" cy="1874519"/>
          </a:xfrm>
        </p:grpSpPr>
        <p:sp>
          <p:nvSpPr>
            <p:cNvPr id="18" name="Rounded Rectangle 17"/>
            <p:cNvSpPr/>
            <p:nvPr/>
          </p:nvSpPr>
          <p:spPr>
            <a:xfrm>
              <a:off x="685800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60120" y="420624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C-04  ·  LAB POWER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0120" y="4709159"/>
              <a:ext cx="301752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b="0" i="0" dirty="0">
                  <a:solidFill>
                    <a:srgbClr val="0E1B2C"/>
                  </a:solidFill>
                  <a:latin typeface="Segoe UI Semibold"/>
                </a:rPr>
                <a:t>≤</a:t>
              </a:r>
              <a:r>
                <a:rPr sz="3000" b="0" i="0" dirty="0">
                  <a:solidFill>
                    <a:srgbClr val="0E1B2C"/>
                  </a:solidFill>
                  <a:latin typeface="Bahnschrift SemiBold"/>
                </a:rPr>
                <a:t> 2 kW</a:t>
              </a:r>
            </a:p>
          </p:txBody>
        </p:sp>
      </p:grpSp>
      <p:grpSp>
        <p:nvGrpSpPr>
          <p:cNvPr id="25" name="c4"/>
          <p:cNvGrpSpPr/>
          <p:nvPr/>
        </p:nvGrpSpPr>
        <p:grpSpPr>
          <a:xfrm>
            <a:off x="4379976" y="3931920"/>
            <a:ext cx="3429000" cy="1874519"/>
            <a:chOff x="4379976" y="3931920"/>
            <a:chExt cx="3429000" cy="1874519"/>
          </a:xfrm>
        </p:grpSpPr>
        <p:sp>
          <p:nvSpPr>
            <p:cNvPr id="22" name="Rounded Rectangle 21"/>
            <p:cNvSpPr/>
            <p:nvPr/>
          </p:nvSpPr>
          <p:spPr>
            <a:xfrm>
              <a:off x="4379976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54296" y="420624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 dirty="0">
                  <a:solidFill>
                    <a:srgbClr val="B45309"/>
                  </a:solidFill>
                  <a:latin typeface="Segoe UI Semibold"/>
                </a:rPr>
                <a:t>C-05  ·  APPLIANCES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54296" y="4709159"/>
              <a:ext cx="301752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b="0" i="0" dirty="0">
                  <a:solidFill>
                    <a:srgbClr val="0E1B2C"/>
                  </a:solidFill>
                  <a:latin typeface="Bahnschrift SemiBold"/>
                </a:rPr>
                <a:t>No modification</a:t>
              </a:r>
            </a:p>
          </p:txBody>
        </p:sp>
      </p:grpSp>
      <p:grpSp>
        <p:nvGrpSpPr>
          <p:cNvPr id="29" name="c5"/>
          <p:cNvGrpSpPr/>
          <p:nvPr/>
        </p:nvGrpSpPr>
        <p:grpSpPr>
          <a:xfrm>
            <a:off x="8074152" y="3931920"/>
            <a:ext cx="3429000" cy="1874519"/>
            <a:chOff x="8074152" y="3931920"/>
            <a:chExt cx="3429000" cy="1874519"/>
          </a:xfrm>
        </p:grpSpPr>
        <p:sp>
          <p:nvSpPr>
            <p:cNvPr id="26" name="Rounded Rectangle 25"/>
            <p:cNvSpPr/>
            <p:nvPr/>
          </p:nvSpPr>
          <p:spPr>
            <a:xfrm>
              <a:off x="8074152" y="3931920"/>
              <a:ext cx="3429000" cy="1874519"/>
            </a:xfrm>
            <a:prstGeom prst="roundRect">
              <a:avLst>
                <a:gd name="adj" fmla="val 97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348472" y="4206240"/>
              <a:ext cx="292608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spc="150">
                  <a:solidFill>
                    <a:srgbClr val="B45309"/>
                  </a:solidFill>
                  <a:latin typeface="Segoe UI Semibold"/>
                </a:rPr>
                <a:t>C-06  ·  SAFETY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348472" y="4709159"/>
              <a:ext cx="3017520" cy="8229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3000" b="0" i="0" dirty="0">
                  <a:solidFill>
                    <a:srgbClr val="0E1B2C"/>
                  </a:solidFill>
                  <a:latin typeface="Bahnschrift SemiBold"/>
                </a:rPr>
                <a:t>Supervised lab</a:t>
              </a:r>
            </a:p>
          </p:txBody>
        </p:sp>
      </p:grpSp>
      <p:sp>
        <p:nvSpPr>
          <p:cNvPr id="31" name="title">
            <a:extLst>
              <a:ext uri="{FF2B5EF4-FFF2-40B4-BE49-F238E27FC236}">
                <a16:creationId xmlns:a16="http://schemas.microsoft.com/office/drawing/2014/main" id="{4301B49F-EBB6-FBF1-D391-4B13167D1579}"/>
              </a:ext>
            </a:extLst>
          </p:cNvPr>
          <p:cNvSpPr txBox="1"/>
          <p:nvPr/>
        </p:nvSpPr>
        <p:spPr>
          <a:xfrm>
            <a:off x="5650992" y="484632"/>
            <a:ext cx="5963834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0" i="0" dirty="0">
                <a:solidFill>
                  <a:srgbClr val="0E1B2C"/>
                </a:solidFill>
                <a:latin typeface="Bahnschrift SemiBold"/>
              </a:rPr>
              <a:t>C2 to c4, c3 to c2</a:t>
            </a:r>
          </a:p>
          <a:p>
            <a:pPr algn="l"/>
            <a:endParaRPr lang="en-US" sz="4000" dirty="0">
              <a:solidFill>
                <a:srgbClr val="0E1B2C"/>
              </a:solidFill>
              <a:latin typeface="Bahnschrift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3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6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9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2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5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28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 dirty="0">
                <a:solidFill>
                  <a:srgbClr val="0E1B2C"/>
                </a:solidFill>
                <a:latin typeface="Bahnschrift SemiBold"/>
              </a:rPr>
              <a:t>Engineering standards</a:t>
            </a:r>
          </a:p>
        </p:txBody>
      </p:sp>
      <p:grpSp>
        <p:nvGrpSpPr>
          <p:cNvPr id="11" name="es0"/>
          <p:cNvGrpSpPr/>
          <p:nvPr/>
        </p:nvGrpSpPr>
        <p:grpSpPr>
          <a:xfrm>
            <a:off x="685800" y="1810512"/>
            <a:ext cx="5276088" cy="1783080"/>
            <a:chOff x="685800" y="1810512"/>
            <a:chExt cx="5276088" cy="1783080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10512"/>
              <a:ext cx="5276088" cy="1783080"/>
            </a:xfrm>
            <a:prstGeom prst="roundRect">
              <a:avLst>
                <a:gd name="adj" fmla="val 102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60120" y="2130552"/>
              <a:ext cx="1143000" cy="1143000"/>
            </a:xfrm>
            <a:prstGeom prst="roundRect">
              <a:avLst>
                <a:gd name="adj" fmla="val 16000"/>
              </a:avLst>
            </a:prstGeom>
            <a:solidFill>
              <a:srgbClr val="0369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20" y="2450591"/>
              <a:ext cx="114300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IEC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31720" y="222199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 dirty="0">
                  <a:solidFill>
                    <a:srgbClr val="0E1B2C"/>
                  </a:solidFill>
                  <a:latin typeface="Bahnschrift SemiBold"/>
                </a:rPr>
                <a:t>IEC 60730-1:2022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31720" y="272491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 dirty="0">
                  <a:solidFill>
                    <a:srgbClr val="5B6B7F"/>
                  </a:solidFill>
                  <a:latin typeface="Segoe UI Semibold"/>
                </a:rPr>
                <a:t>Automatic controls</a:t>
              </a:r>
            </a:p>
          </p:txBody>
        </p:sp>
      </p:grpSp>
      <p:grpSp>
        <p:nvGrpSpPr>
          <p:cNvPr id="17" name="es1"/>
          <p:cNvGrpSpPr/>
          <p:nvPr/>
        </p:nvGrpSpPr>
        <p:grpSpPr>
          <a:xfrm>
            <a:off x="6227064" y="1810512"/>
            <a:ext cx="5276088" cy="1783080"/>
            <a:chOff x="6227064" y="1810512"/>
            <a:chExt cx="5276088" cy="1783080"/>
          </a:xfrm>
        </p:grpSpPr>
        <p:sp>
          <p:nvSpPr>
            <p:cNvPr id="12" name="Rounded Rectangle 11"/>
            <p:cNvSpPr/>
            <p:nvPr/>
          </p:nvSpPr>
          <p:spPr>
            <a:xfrm>
              <a:off x="6227064" y="1810512"/>
              <a:ext cx="5276088" cy="1783080"/>
            </a:xfrm>
            <a:prstGeom prst="roundRect">
              <a:avLst>
                <a:gd name="adj" fmla="val 102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501383" y="2130552"/>
              <a:ext cx="1143000" cy="1143000"/>
            </a:xfrm>
            <a:prstGeom prst="roundRect">
              <a:avLst>
                <a:gd name="adj" fmla="val 16000"/>
              </a:avLst>
            </a:prstGeom>
            <a:solidFill>
              <a:srgbClr val="0369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01383" y="2450591"/>
              <a:ext cx="114300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IEC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872983" y="222199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IEC 62053-21:2020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72983" y="272491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>
                  <a:solidFill>
                    <a:srgbClr val="5B6B7F"/>
                  </a:solidFill>
                  <a:latin typeface="Segoe UI Semibold"/>
                </a:rPr>
                <a:t>Energy-metering accuracy</a:t>
              </a:r>
            </a:p>
          </p:txBody>
        </p:sp>
      </p:grpSp>
      <p:grpSp>
        <p:nvGrpSpPr>
          <p:cNvPr id="23" name="es2"/>
          <p:cNvGrpSpPr/>
          <p:nvPr/>
        </p:nvGrpSpPr>
        <p:grpSpPr>
          <a:xfrm>
            <a:off x="685800" y="3822191"/>
            <a:ext cx="5276088" cy="1783080"/>
            <a:chOff x="685800" y="3822191"/>
            <a:chExt cx="5276088" cy="1783080"/>
          </a:xfrm>
        </p:grpSpPr>
        <p:sp>
          <p:nvSpPr>
            <p:cNvPr id="18" name="Rounded Rectangle 17"/>
            <p:cNvSpPr/>
            <p:nvPr/>
          </p:nvSpPr>
          <p:spPr>
            <a:xfrm>
              <a:off x="685800" y="3822191"/>
              <a:ext cx="5276088" cy="1783080"/>
            </a:xfrm>
            <a:prstGeom prst="roundRect">
              <a:avLst>
                <a:gd name="adj" fmla="val 102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60120" y="4142231"/>
              <a:ext cx="1143000" cy="1143000"/>
            </a:xfrm>
            <a:prstGeom prst="roundRect">
              <a:avLst>
                <a:gd name="adj" fmla="val 16000"/>
              </a:avLst>
            </a:prstGeom>
            <a:solidFill>
              <a:srgbClr val="0F76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60120" y="4462272"/>
              <a:ext cx="114300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SBC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331720" y="423367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SBC 401 (2024)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331720" y="473659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>
                  <a:solidFill>
                    <a:srgbClr val="5B6B7F"/>
                  </a:solidFill>
                  <a:latin typeface="Segoe UI Semibold"/>
                </a:rPr>
                <a:t>Wiring &amp; protection</a:t>
              </a:r>
            </a:p>
          </p:txBody>
        </p:sp>
      </p:grpSp>
      <p:grpSp>
        <p:nvGrpSpPr>
          <p:cNvPr id="29" name="es3"/>
          <p:cNvGrpSpPr/>
          <p:nvPr/>
        </p:nvGrpSpPr>
        <p:grpSpPr>
          <a:xfrm>
            <a:off x="6227064" y="3822191"/>
            <a:ext cx="5276088" cy="1783080"/>
            <a:chOff x="6227064" y="3822191"/>
            <a:chExt cx="5276088" cy="1783080"/>
          </a:xfrm>
        </p:grpSpPr>
        <p:sp>
          <p:nvSpPr>
            <p:cNvPr id="24" name="Rounded Rectangle 23"/>
            <p:cNvSpPr/>
            <p:nvPr/>
          </p:nvSpPr>
          <p:spPr>
            <a:xfrm>
              <a:off x="6227064" y="3822191"/>
              <a:ext cx="5276088" cy="1783080"/>
            </a:xfrm>
            <a:prstGeom prst="roundRect">
              <a:avLst>
                <a:gd name="adj" fmla="val 10256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501383" y="4142231"/>
              <a:ext cx="1143000" cy="1143000"/>
            </a:xfrm>
            <a:prstGeom prst="roundRect">
              <a:avLst>
                <a:gd name="adj" fmla="val 16000"/>
              </a:avLst>
            </a:prstGeom>
            <a:solidFill>
              <a:srgbClr val="B4530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01383" y="4462272"/>
              <a:ext cx="114300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2600" b="0" i="0">
                  <a:solidFill>
                    <a:srgbClr val="FFFFFF"/>
                  </a:solidFill>
                  <a:latin typeface="Bahnschrift SemiBold"/>
                </a:rPr>
                <a:t>GSO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872983" y="423367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Gulf Technical Regulation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872983" y="4736592"/>
              <a:ext cx="3474720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0" i="0">
                  <a:solidFill>
                    <a:srgbClr val="5B6B7F"/>
                  </a:solidFill>
                  <a:latin typeface="Segoe UI Semibold"/>
                </a:rPr>
                <a:t>Low-voltage equipment</a:t>
              </a:r>
            </a:p>
          </p:txBody>
        </p:sp>
      </p:grpSp>
      <p:sp>
        <p:nvSpPr>
          <p:cNvPr id="30" name="src"/>
          <p:cNvSpPr txBox="1"/>
          <p:nvPr/>
        </p:nvSpPr>
        <p:spPr>
          <a:xfrm>
            <a:off x="685800" y="5897880"/>
            <a:ext cx="10817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B6B7F"/>
                </a:solidFill>
                <a:latin typeface="Segoe UI"/>
              </a:rPr>
              <a:t>Engineering and safety guidance — certification out of scope.</a:t>
            </a:r>
          </a:p>
        </p:txBody>
      </p:sp>
      <p:sp>
        <p:nvSpPr>
          <p:cNvPr id="32" name="kicker">
            <a:extLst>
              <a:ext uri="{FF2B5EF4-FFF2-40B4-BE49-F238E27FC236}">
                <a16:creationId xmlns:a16="http://schemas.microsoft.com/office/drawing/2014/main" id="{7ADB7E4F-44E3-45A3-8B8B-BCC617728B10}"/>
              </a:ext>
            </a:extLst>
          </p:cNvPr>
          <p:cNvSpPr txBox="1"/>
          <p:nvPr/>
        </p:nvSpPr>
        <p:spPr>
          <a:xfrm>
            <a:off x="4069080" y="759265"/>
            <a:ext cx="1078992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b="0" i="0" spc="250" dirty="0">
                <a:solidFill>
                  <a:srgbClr val="B45309"/>
                </a:solidFill>
                <a:latin typeface="Segoe UI Semibold"/>
              </a:rPr>
              <a:t>Add icons for every standard </a:t>
            </a:r>
            <a:endParaRPr sz="1500" b="0" i="0" spc="250" dirty="0">
              <a:solidFill>
                <a:srgbClr val="B45309"/>
              </a:solidFill>
              <a:latin typeface="Segoe UI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5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29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Realistic assumptions</a:t>
            </a:r>
          </a:p>
        </p:txBody>
      </p:sp>
      <p:grpSp>
        <p:nvGrpSpPr>
          <p:cNvPr id="10" name="as0"/>
          <p:cNvGrpSpPr/>
          <p:nvPr/>
        </p:nvGrpSpPr>
        <p:grpSpPr>
          <a:xfrm>
            <a:off x="685800" y="1828800"/>
            <a:ext cx="5276088" cy="1170432"/>
            <a:chOff x="685800" y="1828800"/>
            <a:chExt cx="5276088" cy="1170432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18288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7" name="Oval 6"/>
            <p:cNvSpPr/>
            <p:nvPr/>
          </p:nvSpPr>
          <p:spPr>
            <a:xfrm>
              <a:off x="941832" y="20756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pulse_whit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2231136"/>
              <a:ext cx="365760" cy="365760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828800" y="20116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Normal operation at baseline</a:t>
              </a:r>
            </a:p>
          </p:txBody>
        </p:sp>
      </p:grpSp>
      <p:grpSp>
        <p:nvGrpSpPr>
          <p:cNvPr id="15" name="as1"/>
          <p:cNvGrpSpPr/>
          <p:nvPr/>
        </p:nvGrpSpPr>
        <p:grpSpPr>
          <a:xfrm>
            <a:off x="6227064" y="1828800"/>
            <a:ext cx="5276088" cy="1170432"/>
            <a:chOff x="6227064" y="1828800"/>
            <a:chExt cx="5276088" cy="1170432"/>
          </a:xfrm>
        </p:grpSpPr>
        <p:sp>
          <p:nvSpPr>
            <p:cNvPr id="11" name="Rounded Rectangle 10"/>
            <p:cNvSpPr/>
            <p:nvPr/>
          </p:nvSpPr>
          <p:spPr>
            <a:xfrm>
              <a:off x="6227064" y="18288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2" name="Oval 11"/>
            <p:cNvSpPr/>
            <p:nvPr/>
          </p:nvSpPr>
          <p:spPr>
            <a:xfrm>
              <a:off x="6483096" y="20756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3" name="Picture 12" descr="plug_whi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38544" y="2231136"/>
              <a:ext cx="365760" cy="36576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7370063" y="20116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Test loads available</a:t>
              </a:r>
            </a:p>
          </p:txBody>
        </p:sp>
      </p:grpSp>
      <p:grpSp>
        <p:nvGrpSpPr>
          <p:cNvPr id="20" name="as2"/>
          <p:cNvGrpSpPr/>
          <p:nvPr/>
        </p:nvGrpSpPr>
        <p:grpSpPr>
          <a:xfrm>
            <a:off x="685800" y="3200400"/>
            <a:ext cx="5276088" cy="1170432"/>
            <a:chOff x="685800" y="3200400"/>
            <a:chExt cx="5276088" cy="1170432"/>
          </a:xfrm>
        </p:grpSpPr>
        <p:sp>
          <p:nvSpPr>
            <p:cNvPr id="16" name="Rounded Rectangle 15"/>
            <p:cNvSpPr/>
            <p:nvPr/>
          </p:nvSpPr>
          <p:spPr>
            <a:xfrm>
              <a:off x="685800" y="32004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7" name="Oval 16"/>
            <p:cNvSpPr/>
            <p:nvPr/>
          </p:nvSpPr>
          <p:spPr>
            <a:xfrm>
              <a:off x="941832" y="34472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8" name="Picture 17" descr="lab_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7280" y="3602736"/>
              <a:ext cx="365760" cy="36576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828800" y="33832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Lab + calibrated instruments</a:t>
              </a:r>
            </a:p>
          </p:txBody>
        </p:sp>
      </p:grpSp>
      <p:grpSp>
        <p:nvGrpSpPr>
          <p:cNvPr id="25" name="as3"/>
          <p:cNvGrpSpPr/>
          <p:nvPr/>
        </p:nvGrpSpPr>
        <p:grpSpPr>
          <a:xfrm>
            <a:off x="6227064" y="3200400"/>
            <a:ext cx="5276088" cy="1170432"/>
            <a:chOff x="6227064" y="3200400"/>
            <a:chExt cx="5276088" cy="1170432"/>
          </a:xfrm>
        </p:grpSpPr>
        <p:sp>
          <p:nvSpPr>
            <p:cNvPr id="21" name="Rounded Rectangle 20"/>
            <p:cNvSpPr/>
            <p:nvPr/>
          </p:nvSpPr>
          <p:spPr>
            <a:xfrm>
              <a:off x="6227064" y="32004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2" name="Oval 21"/>
            <p:cNvSpPr/>
            <p:nvPr/>
          </p:nvSpPr>
          <p:spPr>
            <a:xfrm>
              <a:off x="6483096" y="34472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3" name="Picture 22" descr="shield_whi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38544" y="3602736"/>
              <a:ext cx="365760" cy="36576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7370063" y="33832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Protected, grounded supply</a:t>
              </a:r>
            </a:p>
          </p:txBody>
        </p:sp>
      </p:grpSp>
      <p:grpSp>
        <p:nvGrpSpPr>
          <p:cNvPr id="30" name="as4"/>
          <p:cNvGrpSpPr/>
          <p:nvPr/>
        </p:nvGrpSpPr>
        <p:grpSpPr>
          <a:xfrm>
            <a:off x="685800" y="4572000"/>
            <a:ext cx="5276088" cy="1170432"/>
            <a:chOff x="685800" y="4572000"/>
            <a:chExt cx="5276088" cy="1170432"/>
          </a:xfrm>
        </p:grpSpPr>
        <p:sp>
          <p:nvSpPr>
            <p:cNvPr id="26" name="Rounded Rectangle 25"/>
            <p:cNvSpPr/>
            <p:nvPr/>
          </p:nvSpPr>
          <p:spPr>
            <a:xfrm>
              <a:off x="685800" y="45720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7" name="Oval 26"/>
            <p:cNvSpPr/>
            <p:nvPr/>
          </p:nvSpPr>
          <p:spPr>
            <a:xfrm>
              <a:off x="941832" y="48188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8" name="Picture 27" descr="doc_whit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7280" y="4974336"/>
              <a:ext cx="365760" cy="36576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828800" y="47548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Up-to-date tariff</a:t>
              </a:r>
            </a:p>
          </p:txBody>
        </p:sp>
      </p:grpSp>
      <p:grpSp>
        <p:nvGrpSpPr>
          <p:cNvPr id="35" name="as5"/>
          <p:cNvGrpSpPr/>
          <p:nvPr/>
        </p:nvGrpSpPr>
        <p:grpSpPr>
          <a:xfrm>
            <a:off x="6227064" y="4572000"/>
            <a:ext cx="5276088" cy="1170432"/>
            <a:chOff x="6227064" y="4572000"/>
            <a:chExt cx="5276088" cy="1170432"/>
          </a:xfrm>
        </p:grpSpPr>
        <p:sp>
          <p:nvSpPr>
            <p:cNvPr id="31" name="Rounded Rectangle 30"/>
            <p:cNvSpPr/>
            <p:nvPr/>
          </p:nvSpPr>
          <p:spPr>
            <a:xfrm>
              <a:off x="6227064" y="4572000"/>
              <a:ext cx="5276088" cy="1170432"/>
            </a:xfrm>
            <a:prstGeom prst="roundRect">
              <a:avLst>
                <a:gd name="adj" fmla="val 14062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2" name="Oval 31"/>
            <p:cNvSpPr/>
            <p:nvPr/>
          </p:nvSpPr>
          <p:spPr>
            <a:xfrm>
              <a:off x="6483096" y="4818888"/>
              <a:ext cx="676656" cy="676656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33" name="Picture 32" descr="people_whit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38544" y="4974336"/>
              <a:ext cx="365760" cy="365760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7370063" y="4754880"/>
              <a:ext cx="393192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Correct user inputs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3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6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9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2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65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68580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7F"/>
                </a:solidFill>
                <a:latin typeface="Segoe UI"/>
              </a:rPr>
              <a:t>EE499  ·  Team 16  ·  Smart Home Energy Management</a:t>
            </a:r>
          </a:p>
        </p:txBody>
      </p:sp>
      <p:sp>
        <p:nvSpPr>
          <p:cNvPr id="3" name="pageno"/>
          <p:cNvSpPr txBox="1"/>
          <p:nvPr/>
        </p:nvSpPr>
        <p:spPr>
          <a:xfrm>
            <a:off x="10588752" y="6400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B6B7F"/>
                </a:solidFill>
                <a:latin typeface="Bahnschrift"/>
              </a:rPr>
              <a:t>30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04 · DESIGN REQUIREMENTS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>
                <a:solidFill>
                  <a:srgbClr val="0E1B2C"/>
                </a:solidFill>
                <a:latin typeface="Bahnschrift SemiBold"/>
              </a:rPr>
              <a:t>Project deliverables</a:t>
            </a:r>
          </a:p>
        </p:txBody>
      </p:sp>
      <p:sp>
        <p:nvSpPr>
          <p:cNvPr id="6" name="track"/>
          <p:cNvSpPr/>
          <p:nvPr/>
        </p:nvSpPr>
        <p:spPr>
          <a:xfrm>
            <a:off x="1325880" y="3429000"/>
            <a:ext cx="9555480" cy="54864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1" name="dl0"/>
          <p:cNvGrpSpPr/>
          <p:nvPr/>
        </p:nvGrpSpPr>
        <p:grpSpPr>
          <a:xfrm>
            <a:off x="457200" y="2834640"/>
            <a:ext cx="2194560" cy="2743200"/>
            <a:chOff x="457200" y="2834640"/>
            <a:chExt cx="2194560" cy="2743200"/>
          </a:xfrm>
        </p:grpSpPr>
        <p:sp>
          <p:nvSpPr>
            <p:cNvPr id="7" name="Oval 6"/>
            <p:cNvSpPr/>
            <p:nvPr/>
          </p:nvSpPr>
          <p:spPr>
            <a:xfrm>
              <a:off x="960120" y="2834640"/>
              <a:ext cx="1188720" cy="1188720"/>
            </a:xfrm>
            <a:prstGeom prst="ellipse">
              <a:avLst/>
            </a:prstGeom>
            <a:solidFill>
              <a:srgbClr val="FFB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8" name="Picture 7" descr="chip_nigh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2728" y="3127248"/>
              <a:ext cx="603504" cy="603504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685800" y="4297680"/>
              <a:ext cx="17373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500" b="0" i="0" spc="150" dirty="0">
                  <a:solidFill>
                    <a:srgbClr val="B45309"/>
                  </a:solidFill>
                  <a:latin typeface="Segoe UI Semibold"/>
                </a:rPr>
                <a:t>D-1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7200" y="4663440"/>
              <a:ext cx="219456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Prototype</a:t>
              </a:r>
            </a:p>
          </p:txBody>
        </p:sp>
      </p:grpSp>
      <p:grpSp>
        <p:nvGrpSpPr>
          <p:cNvPr id="16" name="dl1"/>
          <p:cNvGrpSpPr/>
          <p:nvPr/>
        </p:nvGrpSpPr>
        <p:grpSpPr>
          <a:xfrm>
            <a:off x="2679192" y="2834640"/>
            <a:ext cx="2194560" cy="2743200"/>
            <a:chOff x="2679192" y="2834640"/>
            <a:chExt cx="2194560" cy="2743200"/>
          </a:xfrm>
        </p:grpSpPr>
        <p:sp>
          <p:nvSpPr>
            <p:cNvPr id="12" name="Oval 11"/>
            <p:cNvSpPr/>
            <p:nvPr/>
          </p:nvSpPr>
          <p:spPr>
            <a:xfrm>
              <a:off x="3182112" y="2834640"/>
              <a:ext cx="1188720" cy="11887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3" name="Picture 12" descr="plug_whit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74720" y="3127248"/>
              <a:ext cx="603504" cy="603504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907792" y="4297680"/>
              <a:ext cx="17373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500" b="0" i="0" spc="150">
                  <a:solidFill>
                    <a:srgbClr val="B45309"/>
                  </a:solidFill>
                  <a:latin typeface="Segoe UI Semibold"/>
                </a:rPr>
                <a:t>D-2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79192" y="4663440"/>
              <a:ext cx="219456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Test bench</a:t>
              </a:r>
            </a:p>
          </p:txBody>
        </p:sp>
      </p:grpSp>
      <p:grpSp>
        <p:nvGrpSpPr>
          <p:cNvPr id="21" name="dl2"/>
          <p:cNvGrpSpPr/>
          <p:nvPr/>
        </p:nvGrpSpPr>
        <p:grpSpPr>
          <a:xfrm>
            <a:off x="4901184" y="2834640"/>
            <a:ext cx="2194560" cy="2743200"/>
            <a:chOff x="4901184" y="2834640"/>
            <a:chExt cx="2194560" cy="2743200"/>
          </a:xfrm>
        </p:grpSpPr>
        <p:sp>
          <p:nvSpPr>
            <p:cNvPr id="17" name="Oval 16"/>
            <p:cNvSpPr/>
            <p:nvPr/>
          </p:nvSpPr>
          <p:spPr>
            <a:xfrm>
              <a:off x="5404104" y="2834640"/>
              <a:ext cx="1188720" cy="11887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18" name="Picture 17" descr="monitor_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96712" y="3127248"/>
              <a:ext cx="603504" cy="603504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5129784" y="4297680"/>
              <a:ext cx="17373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500" b="0" i="0" spc="150">
                  <a:solidFill>
                    <a:srgbClr val="B45309"/>
                  </a:solidFill>
                  <a:latin typeface="Segoe UI Semibold"/>
                </a:rPr>
                <a:t>D-3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01184" y="4663440"/>
              <a:ext cx="219456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Firmware &amp; UI</a:t>
              </a:r>
            </a:p>
          </p:txBody>
        </p:sp>
      </p:grpSp>
      <p:grpSp>
        <p:nvGrpSpPr>
          <p:cNvPr id="26" name="dl3"/>
          <p:cNvGrpSpPr/>
          <p:nvPr/>
        </p:nvGrpSpPr>
        <p:grpSpPr>
          <a:xfrm>
            <a:off x="7123176" y="2834640"/>
            <a:ext cx="2194560" cy="2743200"/>
            <a:chOff x="7123176" y="2834640"/>
            <a:chExt cx="2194560" cy="2743200"/>
          </a:xfrm>
        </p:grpSpPr>
        <p:sp>
          <p:nvSpPr>
            <p:cNvPr id="22" name="Oval 21"/>
            <p:cNvSpPr/>
            <p:nvPr/>
          </p:nvSpPr>
          <p:spPr>
            <a:xfrm>
              <a:off x="7626096" y="2834640"/>
              <a:ext cx="1188720" cy="11887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3" name="Picture 22" descr="checklist_whit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18704" y="3127248"/>
              <a:ext cx="603504" cy="603504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7351776" y="4297680"/>
              <a:ext cx="17373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500" b="0" i="0" spc="150">
                  <a:solidFill>
                    <a:srgbClr val="B45309"/>
                  </a:solidFill>
                  <a:latin typeface="Segoe UI Semibold"/>
                </a:rPr>
                <a:t>D-4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23176" y="4663440"/>
              <a:ext cx="219456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Validation results</a:t>
              </a:r>
            </a:p>
          </p:txBody>
        </p:sp>
      </p:grpSp>
      <p:grpSp>
        <p:nvGrpSpPr>
          <p:cNvPr id="31" name="dl4"/>
          <p:cNvGrpSpPr/>
          <p:nvPr/>
        </p:nvGrpSpPr>
        <p:grpSpPr>
          <a:xfrm>
            <a:off x="9345168" y="2834640"/>
            <a:ext cx="2194560" cy="2743200"/>
            <a:chOff x="9345168" y="2834640"/>
            <a:chExt cx="2194560" cy="2743200"/>
          </a:xfrm>
        </p:grpSpPr>
        <p:sp>
          <p:nvSpPr>
            <p:cNvPr id="27" name="Oval 26"/>
            <p:cNvSpPr/>
            <p:nvPr/>
          </p:nvSpPr>
          <p:spPr>
            <a:xfrm>
              <a:off x="9848088" y="2834640"/>
              <a:ext cx="1188720" cy="1188720"/>
            </a:xfrm>
            <a:prstGeom prst="ellipse">
              <a:avLst/>
            </a:prstGeom>
            <a:solidFill>
              <a:srgbClr val="0E1B2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28" name="Picture 27" descr="doc_whit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40696" y="3127248"/>
              <a:ext cx="603504" cy="603504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9573768" y="4297680"/>
              <a:ext cx="1737360" cy="32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500" b="0" i="0" spc="150">
                  <a:solidFill>
                    <a:srgbClr val="B45309"/>
                  </a:solidFill>
                  <a:latin typeface="Segoe UI Semibold"/>
                </a:rPr>
                <a:t>D-5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345168" y="4663440"/>
              <a:ext cx="219456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95000"/>
                </a:lnSpc>
              </a:pPr>
              <a:r>
                <a:rPr sz="2400" b="0" i="0">
                  <a:solidFill>
                    <a:srgbClr val="0E1B2C"/>
                  </a:solidFill>
                  <a:latin typeface="Bahnschrift SemiBold"/>
                </a:rPr>
                <a:t>Documentation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8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86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34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vid_cityend">
            <a:hlinkClick r:id="" action="ppaction://media"/>
            <a:extLst>
              <a:ext uri="{FF2B5EF4-FFF2-40B4-BE49-F238E27FC236}">
                <a16:creationId xmlns:a16="http://schemas.microsoft.com/office/drawing/2014/main" id="{F87EFD43-4FF8-D861-16A2-128B8778663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" y="0"/>
            <a:ext cx="12192001" cy="6858000"/>
          </a:xfrm>
          <a:prstGeom prst="rect">
            <a:avLst/>
          </a:prstGeom>
        </p:spPr>
      </p:pic>
      <p:sp>
        <p:nvSpPr>
          <p:cNvPr id="2" name="vei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c1"/>
          <p:cNvSpPr txBox="1"/>
          <p:nvPr/>
        </p:nvSpPr>
        <p:spPr>
          <a:xfrm>
            <a:off x="914400" y="12344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0" i="0">
                <a:solidFill>
                  <a:srgbClr val="0E1B2C"/>
                </a:solidFill>
                <a:latin typeface="Bahnschrift SemiBold"/>
              </a:rPr>
              <a:t>Visibility</a:t>
            </a:r>
            <a:r>
              <a:rPr sz="5800" b="0" i="0">
                <a:solidFill>
                  <a:srgbClr val="B45309"/>
                </a:solidFill>
                <a:latin typeface="Bahnschrift SemiBold"/>
              </a:rPr>
              <a:t>.  </a:t>
            </a:r>
            <a:r>
              <a:rPr sz="5800" b="0" i="0">
                <a:solidFill>
                  <a:srgbClr val="0E1B2C"/>
                </a:solidFill>
                <a:latin typeface="Bahnschrift SemiBold"/>
              </a:rPr>
              <a:t>Priority</a:t>
            </a:r>
            <a:r>
              <a:rPr sz="5800" b="0" i="0">
                <a:solidFill>
                  <a:srgbClr val="B45309"/>
                </a:solidFill>
                <a:latin typeface="Bahnschrift SemiBold"/>
              </a:rPr>
              <a:t>.  </a:t>
            </a:r>
            <a:r>
              <a:rPr sz="5800" b="0" i="0">
                <a:solidFill>
                  <a:srgbClr val="0E1B2C"/>
                </a:solidFill>
                <a:latin typeface="Bahnschrift SemiBold"/>
              </a:rPr>
              <a:t>Safety</a:t>
            </a:r>
            <a:r>
              <a:rPr sz="5800" b="0" i="0">
                <a:solidFill>
                  <a:srgbClr val="B45309"/>
                </a:solidFill>
                <a:latin typeface="Bahnschrift SemiBold"/>
              </a:rPr>
              <a:t>.</a:t>
            </a:r>
          </a:p>
        </p:txBody>
      </p:sp>
      <p:sp>
        <p:nvSpPr>
          <p:cNvPr id="4" name="c2"/>
          <p:cNvSpPr txBox="1"/>
          <p:nvPr/>
        </p:nvSpPr>
        <p:spPr>
          <a:xfrm>
            <a:off x="914400" y="23317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>
                <a:solidFill>
                  <a:srgbClr val="5B6B7F"/>
                </a:solidFill>
                <a:latin typeface="Segoe UI Semibold"/>
              </a:rPr>
              <a:t>A need — not a luxury.</a:t>
            </a:r>
          </a:p>
        </p:txBody>
      </p:sp>
      <p:sp>
        <p:nvSpPr>
          <p:cNvPr id="5" name="c3"/>
          <p:cNvSpPr txBox="1"/>
          <p:nvPr/>
        </p:nvSpPr>
        <p:spPr>
          <a:xfrm>
            <a:off x="914400" y="34290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0" dirty="0">
                <a:solidFill>
                  <a:srgbClr val="B45309"/>
                </a:solidFill>
                <a:latin typeface="Bahnschrift SemiBold"/>
              </a:rPr>
              <a:t>Thank you — questions?</a:t>
            </a:r>
          </a:p>
        </p:txBody>
      </p:sp>
      <p:sp>
        <p:nvSpPr>
          <p:cNvPr id="6" name="c4"/>
          <p:cNvSpPr txBox="1"/>
          <p:nvPr/>
        </p:nvSpPr>
        <p:spPr>
          <a:xfrm>
            <a:off x="914400" y="4343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0E1B2C"/>
                </a:solidFill>
                <a:latin typeface="Segoe UI Semibold"/>
              </a:rPr>
              <a:t>Team 16  ·  Ali Khudhayr  ·  Mohammad Kassem  ·  Omar Baflah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 mute="1">
                <p:cTn id="3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43891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spc="250">
                <a:solidFill>
                  <a:srgbClr val="B45309"/>
                </a:solidFill>
                <a:latin typeface="Segoe UI Semibold"/>
              </a:rPr>
              <a:t>REQUIRED BEHAVIOUR · DS-04 / DS-05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85800" y="749808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0" i="0" dirty="0">
                <a:solidFill>
                  <a:srgbClr val="0E1B2C"/>
                </a:solidFill>
                <a:latin typeface="Bahnschrift SemiBold"/>
              </a:rPr>
              <a:t>Priority control in action</a:t>
            </a:r>
          </a:p>
        </p:txBody>
      </p:sp>
      <p:sp>
        <p:nvSpPr>
          <p:cNvPr id="4" name="frame"/>
          <p:cNvSpPr/>
          <p:nvPr/>
        </p:nvSpPr>
        <p:spPr>
          <a:xfrm>
            <a:off x="621792" y="1673352"/>
            <a:ext cx="8540496" cy="4860036"/>
          </a:xfrm>
          <a:prstGeom prst="roundRect">
            <a:avLst>
              <a:gd name="adj" fmla="val 2634"/>
            </a:avLst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8" name="bd0"/>
          <p:cNvGrpSpPr/>
          <p:nvPr/>
        </p:nvGrpSpPr>
        <p:grpSpPr>
          <a:xfrm>
            <a:off x="9372600" y="1673352"/>
            <a:ext cx="2130552" cy="1088136"/>
            <a:chOff x="9372600" y="1673352"/>
            <a:chExt cx="2130552" cy="1088136"/>
          </a:xfrm>
        </p:grpSpPr>
        <p:sp>
          <p:nvSpPr>
            <p:cNvPr id="5" name="Rounded Rectangle 4"/>
            <p:cNvSpPr/>
            <p:nvPr/>
          </p:nvSpPr>
          <p:spPr>
            <a:xfrm>
              <a:off x="9372600" y="1673352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528048" y="1764792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Segoe UI Semibold"/>
                </a:rPr>
                <a:t>≤</a:t>
              </a:r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 1 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528048" y="2258568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shedding starts</a:t>
              </a:r>
            </a:p>
          </p:txBody>
        </p:sp>
      </p:grpSp>
      <p:grpSp>
        <p:nvGrpSpPr>
          <p:cNvPr id="12" name="bd1"/>
          <p:cNvGrpSpPr/>
          <p:nvPr/>
        </p:nvGrpSpPr>
        <p:grpSpPr>
          <a:xfrm>
            <a:off x="9372600" y="2889504"/>
            <a:ext cx="2130552" cy="1088136"/>
            <a:chOff x="9372600" y="2889504"/>
            <a:chExt cx="2130552" cy="1088136"/>
          </a:xfrm>
        </p:grpSpPr>
        <p:sp>
          <p:nvSpPr>
            <p:cNvPr id="9" name="Rounded Rectangle 8"/>
            <p:cNvSpPr/>
            <p:nvPr/>
          </p:nvSpPr>
          <p:spPr>
            <a:xfrm>
              <a:off x="9372600" y="2889504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528048" y="2980944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Segoe UI Semibold"/>
                </a:rPr>
                <a:t>≥</a:t>
              </a:r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 4 · </a:t>
              </a:r>
              <a:r>
                <a:rPr sz="2800" b="0" i="0">
                  <a:solidFill>
                    <a:srgbClr val="B45309"/>
                  </a:solidFill>
                  <a:latin typeface="Segoe UI Semibold"/>
                </a:rPr>
                <a:t>≥</a:t>
              </a:r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 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528048" y="3474720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channels · priorities</a:t>
              </a:r>
            </a:p>
          </p:txBody>
        </p:sp>
      </p:grpSp>
      <p:grpSp>
        <p:nvGrpSpPr>
          <p:cNvPr id="16" name="bd2"/>
          <p:cNvGrpSpPr/>
          <p:nvPr/>
        </p:nvGrpSpPr>
        <p:grpSpPr>
          <a:xfrm>
            <a:off x="9372600" y="4105656"/>
            <a:ext cx="2130552" cy="1088136"/>
            <a:chOff x="9372600" y="4105656"/>
            <a:chExt cx="2130552" cy="1088136"/>
          </a:xfrm>
        </p:grpSpPr>
        <p:sp>
          <p:nvSpPr>
            <p:cNvPr id="13" name="Rounded Rectangle 12"/>
            <p:cNvSpPr/>
            <p:nvPr/>
          </p:nvSpPr>
          <p:spPr>
            <a:xfrm>
              <a:off x="9372600" y="4105656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528048" y="4197096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5 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528048" y="4690872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stable margin</a:t>
              </a:r>
            </a:p>
          </p:txBody>
        </p:sp>
      </p:grpSp>
      <p:grpSp>
        <p:nvGrpSpPr>
          <p:cNvPr id="20" name="bd3"/>
          <p:cNvGrpSpPr/>
          <p:nvPr/>
        </p:nvGrpSpPr>
        <p:grpSpPr>
          <a:xfrm>
            <a:off x="9372600" y="5321808"/>
            <a:ext cx="2130552" cy="1088136"/>
            <a:chOff x="9372600" y="5321808"/>
            <a:chExt cx="2130552" cy="1088136"/>
          </a:xfrm>
        </p:grpSpPr>
        <p:sp>
          <p:nvSpPr>
            <p:cNvPr id="17" name="Rounded Rectangle 16"/>
            <p:cNvSpPr/>
            <p:nvPr/>
          </p:nvSpPr>
          <p:spPr>
            <a:xfrm>
              <a:off x="9372600" y="5321808"/>
              <a:ext cx="2130552" cy="1088136"/>
            </a:xfrm>
            <a:prstGeom prst="roundRect">
              <a:avLst>
                <a:gd name="adj" fmla="val 13445"/>
              </a:avLst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528048" y="5413248"/>
              <a:ext cx="1874519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800" b="0" i="0">
                  <a:solidFill>
                    <a:srgbClr val="B45309"/>
                  </a:solidFill>
                  <a:latin typeface="Bahnschrift SemiBold"/>
                </a:rPr>
                <a:t>3 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528048" y="5907024"/>
              <a:ext cx="1874519" cy="4572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1500" b="0" i="0">
                  <a:solidFill>
                    <a:srgbClr val="5B6B7F"/>
                  </a:solidFill>
                  <a:latin typeface="Segoe UI Semibold"/>
                </a:rPr>
                <a:t>motor restarts</a:t>
              </a:r>
            </a:p>
          </p:txBody>
        </p:sp>
      </p:grpSp>
      <p:pic>
        <p:nvPicPr>
          <p:cNvPr id="21" name="vid_L_demo">
            <a:hlinkClick r:id="" action="ppaction://media"/>
            <a:extLst>
              <a:ext uri="{FF2B5EF4-FFF2-40B4-BE49-F238E27FC236}">
                <a16:creationId xmlns:a16="http://schemas.microsoft.com/office/drawing/2014/main" id="{29E06F35-5C59-C4DA-E0D4-8BBC211EE83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2980944"/>
            <a:ext cx="6201664" cy="3488436"/>
          </a:xfrm>
          <a:prstGeom prst="rect">
            <a:avLst/>
          </a:prstGeom>
        </p:spPr>
      </p:pic>
      <p:sp>
        <p:nvSpPr>
          <p:cNvPr id="22" name="c3">
            <a:extLst>
              <a:ext uri="{FF2B5EF4-FFF2-40B4-BE49-F238E27FC236}">
                <a16:creationId xmlns:a16="http://schemas.microsoft.com/office/drawing/2014/main" id="{9FEE58AB-A9D3-A61C-FE90-F8DCB9FDF89F}"/>
              </a:ext>
            </a:extLst>
          </p:cNvPr>
          <p:cNvSpPr txBox="1"/>
          <p:nvPr/>
        </p:nvSpPr>
        <p:spPr>
          <a:xfrm>
            <a:off x="1088136" y="1936171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0" i="0" dirty="0">
                <a:solidFill>
                  <a:srgbClr val="B45309"/>
                </a:solidFill>
                <a:latin typeface="Bahnschrift SemiBold"/>
              </a:rPr>
              <a:t>Thank you — questions?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800"/>
                            </p:stCondLst>
                            <p:childTnLst>
                              <p:par>
                                <p:cTn id="8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8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3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8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1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video>
              <p:cMediaNode vol="80000" mute="1">
                <p:cTn id="42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1182</Words>
  <Application>Microsoft Office PowerPoint</Application>
  <PresentationFormat>Widescreen</PresentationFormat>
  <Paragraphs>358</Paragraphs>
  <Slides>30</Slides>
  <Notes>30</Notes>
  <HiddenSlides>0</HiddenSlides>
  <MMClips>8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Bahnschrift</vt:lpstr>
      <vt:lpstr>Bahnschrift SemiBold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ALI YASSER ALI KHUDHAYR</cp:lastModifiedBy>
  <cp:revision>10</cp:revision>
  <dcterms:created xsi:type="dcterms:W3CDTF">2013-01-27T09:14:16Z</dcterms:created>
  <dcterms:modified xsi:type="dcterms:W3CDTF">2026-10-13T16:51:12Z</dcterms:modified>
  <cp:category/>
</cp:coreProperties>
</file>