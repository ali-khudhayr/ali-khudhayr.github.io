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65" r:id="rId3"/>
    <p:sldId id="266" r:id="rId4"/>
    <p:sldId id="257" r:id="rId5"/>
    <p:sldId id="260" r:id="rId6"/>
    <p:sldId id="259" r:id="rId7"/>
    <p:sldId id="268" r:id="rId9"/>
    <p:sldId id="270" r:id="rId11"/>
    <p:sldId id="271" r:id="rId12"/>
    <p:sldId id="289" r:id="rId13"/>
    <p:sldId id="272" r:id="rId14"/>
    <p:sldId id="273" r:id="rId15"/>
    <p:sldId id="274" r:id="rId16"/>
    <p:sldId id="275" r:id="rId17"/>
    <p:sldId id="279" r:id="rId18"/>
    <p:sldId id="280" r:id="rId19"/>
    <p:sldId id="281" r:id="rId20"/>
    <p:sldId id="278" r:id="rId21"/>
    <p:sldId id="282" r:id="rId22"/>
    <p:sldId id="283" r:id="rId23"/>
    <p:sldId id="284" r:id="rId24"/>
    <p:sldId id="285" r:id="rId25"/>
    <p:sldId id="287" r:id="rId26"/>
    <p:sldId id="28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857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4972" autoAdjust="0"/>
  </p:normalViewPr>
  <p:slideViewPr>
    <p:cSldViewPr snapToGrid="0" snapToObjects="1">
      <p:cViewPr varScale="1">
        <p:scale>
          <a:sx n="50" d="100"/>
          <a:sy n="50" d="100"/>
        </p:scale>
        <p:origin x="48" y="7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899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Opening slide: the tower spells our names and university IDs while we introduce the project — Smart Home Energy Management with Priority-Based Load Control, Report 1, advisor Dr. Fahd Hariri.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0:10</a:t>
            </a:r>
          </a:p>
          <a:p>
            <a:r>
              <a:rPr lang="en-US" dirty="0"/>
              <a:t>Four parts: introduction, problem statement, objectives, design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Why household energy needs managing.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0:35</a:t>
            </a:r>
          </a:p>
          <a:p>
            <a:r>
              <a:rPr lang="en-US" dirty="0"/>
              <a:t>Homes take 47 % of Saudi electricity; about 70 % of home electricity goes to air-conditioning; above 6,000 kWh/month every extra kWh costs 67 % more (18 → 30 halalas).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0:35</a:t>
            </a:r>
          </a:p>
          <a:p>
            <a:r>
              <a:rPr lang="en-US" dirty="0"/>
              <a:t>Per-appliance feedback saved a median 14 % (ACEEE, 57 studies). A dirty AC filter wastes 5–15 % and stays hidden in the total. About 53 house fires a day in KSA, mostly electrical.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A conventional meter gives one number. Three questions it cannot answer — which appliance, which can wait, which misbehaves — map to cost, continuity and safety. Not a luxury: a need.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User sets priorities; when demand exceeds the limit the lowest-priority load is shed; essentials stay 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Problem statement.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Five problems households face today.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Two core problems: limited visibility of energy and cost, and no priority-based load control.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0242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The need: residential energy management with monitoring, priority control, cost management and supplied essentials.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Objectives.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Three higher-level objectives: economic, reliability, safety and efficiency.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Six lower-level objectives: monitor, detect, prioritise, budget, inform, stay safe.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Design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DS-01 to DS-04: ±5 % accuracy, ≤ 3 s updates, ≥ 90 % abnormal detection, ≤ 1 s load control.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DS-05 to DS-08: reconnection, cost and budget alerts, user warnings, ≤ 2 s fail-safe.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The warning behaviour: outside 120 / 80 % of baseline for ≥ 5 s → warn within 5 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9443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Constraints C-01 to C-06: budget, single-phase scope, lab power, schedule, no appliance modification, supervised lab.</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Standards we follow for guidance: IEC 60730-1, IEC 62053-21, SBC 401, GSO low-voltage regulation.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Assumptions behind the design.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Five deliverables: prototype, test bench, firmware and UI, validation results,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0:15</a:t>
            </a:r>
          </a:p>
          <a:p>
            <a:r>
              <a:rPr lang="en-US" dirty="0"/>
              <a:t>Close. The summary and the priority-control demo loop on their own during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L" Type="http://schemas.openxmlformats.org/officeDocument/2006/relationships/slideLayout" Target="../slideLayouts/slideLayout7.xml"/><Relationship Id="rIdN" Type="http://schemas.openxmlformats.org/officeDocument/2006/relationships/notesSlide" Target="../notesSlides/notesSlide6.xml"/><Relationship Id="rIdI_meter" Type="http://schemas.openxmlformats.org/officeDocument/2006/relationships/image" Target="../media/image20.png"/><Relationship Id="rIdI_plug" Type="http://schemas.openxmlformats.org/officeDocument/2006/relationships/image" Target="../media/image29.png"/><Relationship Id="rIdI_check" Type="http://schemas.openxmlformats.org/officeDocument/2006/relationships/image" Target="../media/image27.png"/></Relationships>
</file>

<file path=ppt/slides/_rels/slide8.xml.rels><?xml version="1.0" encoding="UTF-8" standalone="yes"?>
<Relationships xmlns="http://schemas.openxmlformats.org/package/2006/relationships"><Relationship Id="rIdL" Type="http://schemas.openxmlformats.org/officeDocument/2006/relationships/slideLayout" Target="../slideLayouts/slideLayout7.xml"/><Relationship Id="rIdN" Type="http://schemas.openxmlformats.org/officeDocument/2006/relationships/notesSlide" Target="../notesSlides/notesSlide8.xml"/><Relationship Id="rIdI_sort" Type="http://schemas.openxmlformats.org/officeDocument/2006/relationships/image" Target="../media/image36.png"/><Relationship Id="rIdI_bell" Type="http://schemas.openxmlformats.org/officeDocument/2006/relationships/image" Target="../media/image26.png"/><Relationship Id="rIdI_pulse" Type="http://schemas.openxmlformats.org/officeDocument/2006/relationships/image" Target="../media/image12.png"/><Relationship Id="rIdI_check"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0.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1.png"/><Relationship Id="rId7"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53.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4.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8" Type="http://schemas.openxmlformats.org/officeDocument/2006/relationships/image" Target="../media/image58.png"/><Relationship Id="rId3" Type="http://schemas.microsoft.com/office/2007/relationships/media" Target="../media/media4.mp4"/><Relationship Id="rId7" Type="http://schemas.openxmlformats.org/officeDocument/2006/relationships/image" Target="../media/image57.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notesSlide" Target="../notesSlides/notesSlide25.xml"/><Relationship Id="rId5" Type="http://schemas.openxmlformats.org/officeDocument/2006/relationships/slideLayout" Target="../slideLayouts/slideLayout7.xml"/><Relationship Id="rId4" Type="http://schemas.openxmlformats.org/officeDocument/2006/relationships/video" Target="../media/media4.mp4"/></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vid_intro" descr="Opening: the tower windows spell the team names and university ID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17"/>
            <a:ext cx="12192000" cy="6858017"/>
          </a:xfrm>
          <a:prstGeom prst="rect">
            <a:avLst/>
          </a:prstGeom>
        </p:spPr>
      </p:pic>
      <p:sp>
        <p:nvSpPr>
          <p:cNvPr id="3" name="logo_bg"/>
          <p:cNvSpPr/>
          <p:nvPr/>
        </p:nvSpPr>
        <p:spPr>
          <a:xfrm>
            <a:off x="548640" y="548640"/>
            <a:ext cx="914400" cy="9144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4" name="logo" descr="King Abdulaziz University logo"/>
          <p:cNvPicPr>
            <a:picLocks noChangeAspect="1"/>
          </p:cNvPicPr>
          <p:nvPr/>
        </p:nvPicPr>
        <p:blipFill>
          <a:blip r:embed="rId6"/>
          <a:stretch>
            <a:fillRect/>
          </a:stretch>
        </p:blipFill>
        <p:spPr>
          <a:xfrm>
            <a:off x="594360" y="594360"/>
            <a:ext cx="822960" cy="822960"/>
          </a:xfrm>
          <a:prstGeom prst="rect">
            <a:avLst/>
          </a:prstGeom>
        </p:spPr>
      </p:pic>
      <p:sp>
        <p:nvSpPr>
          <p:cNvPr id="5" name="kick"/>
          <p:cNvSpPr txBox="1"/>
          <p:nvPr/>
        </p:nvSpPr>
        <p:spPr>
          <a:xfrm>
            <a:off x="1691640" y="640080"/>
            <a:ext cx="3840480" cy="731520"/>
          </a:xfrm>
          <a:prstGeom prst="rect">
            <a:avLst/>
          </a:prstGeom>
          <a:noFill/>
        </p:spPr>
        <p:txBody>
          <a:bodyPr wrap="square" lIns="0" tIns="0" rIns="0" bIns="0" anchor="t">
            <a:spAutoFit/>
          </a:bodyPr>
          <a:lstStyle/>
          <a:p>
            <a:pPr algn="l"/>
            <a:r>
              <a:rPr lang="en-US" sz="1300" b="0" i="0" spc="200" dirty="0">
                <a:solidFill>
                  <a:srgbClr val="B45309"/>
                </a:solidFill>
                <a:latin typeface="Segoe UI Semibold"/>
              </a:rPr>
              <a:t>EE499  SENIOR DESIGN PROJECT</a:t>
            </a:r>
          </a:p>
          <a:p>
            <a:pPr algn="l"/>
            <a:r>
              <a:rPr lang="en-US" sz="1300" b="0" i="0" dirty="0">
                <a:solidFill>
                  <a:srgbClr val="5B6B7F"/>
                </a:solidFill>
                <a:latin typeface="Segoe UI"/>
              </a:rPr>
              <a:t>Report 1 — Problem &amp; Design Requirements</a:t>
            </a:r>
          </a:p>
        </p:txBody>
      </p:sp>
      <p:sp>
        <p:nvSpPr>
          <p:cNvPr id="6" name="t1"/>
          <p:cNvSpPr txBox="1"/>
          <p:nvPr/>
        </p:nvSpPr>
        <p:spPr>
          <a:xfrm>
            <a:off x="548640" y="1737360"/>
            <a:ext cx="4709160" cy="1188720"/>
          </a:xfrm>
          <a:prstGeom prst="rect">
            <a:avLst/>
          </a:prstGeom>
          <a:noFill/>
        </p:spPr>
        <p:txBody>
          <a:bodyPr wrap="square" lIns="0" tIns="0" rIns="0" bIns="0" anchor="t">
            <a:spAutoFit/>
          </a:bodyPr>
          <a:lstStyle/>
          <a:p>
            <a:pPr algn="l">
              <a:lnSpc>
                <a:spcPct val="92000"/>
              </a:lnSpc>
            </a:pPr>
            <a:r>
              <a:rPr lang="en-US" sz="3400" b="0" i="0" dirty="0">
                <a:solidFill>
                  <a:srgbClr val="0E1B2C"/>
                </a:solidFill>
                <a:latin typeface="Bahnschrift SemiBold"/>
              </a:rPr>
              <a:t>Smart Home</a:t>
            </a:r>
          </a:p>
          <a:p>
            <a:pPr algn="l">
              <a:lnSpc>
                <a:spcPct val="92000"/>
              </a:lnSpc>
            </a:pPr>
            <a:r>
              <a:rPr lang="en-US" sz="3400" b="0" i="0" dirty="0">
                <a:solidFill>
                  <a:srgbClr val="0E1B2C"/>
                </a:solidFill>
                <a:latin typeface="Bahnschrift SemiBold"/>
              </a:rPr>
              <a:t>Energy Management</a:t>
            </a:r>
          </a:p>
        </p:txBody>
      </p:sp>
      <p:sp>
        <p:nvSpPr>
          <p:cNvPr id="7" name="t2"/>
          <p:cNvSpPr txBox="1"/>
          <p:nvPr/>
        </p:nvSpPr>
        <p:spPr>
          <a:xfrm>
            <a:off x="548640" y="2880360"/>
            <a:ext cx="4709160" cy="457200"/>
          </a:xfrm>
          <a:prstGeom prst="rect">
            <a:avLst/>
          </a:prstGeom>
          <a:noFill/>
        </p:spPr>
        <p:txBody>
          <a:bodyPr wrap="square" lIns="0" tIns="0" rIns="0" bIns="0" anchor="t">
            <a:spAutoFit/>
          </a:bodyPr>
          <a:lstStyle/>
          <a:p>
            <a:pPr algn="l"/>
            <a:r>
              <a:rPr lang="en-US" sz="2200" b="0" i="0" dirty="0">
                <a:solidFill>
                  <a:srgbClr val="B45309"/>
                </a:solidFill>
                <a:latin typeface="Bahnschrift SemiBold"/>
              </a:rPr>
              <a:t>with Priority-Based Load Control</a:t>
            </a:r>
          </a:p>
        </p:txBody>
      </p:sp>
      <p:sp>
        <p:nvSpPr>
          <p:cNvPr id="8" name="team"/>
          <p:cNvSpPr txBox="1"/>
          <p:nvPr/>
        </p:nvSpPr>
        <p:spPr>
          <a:xfrm>
            <a:off x="548640" y="3794760"/>
            <a:ext cx="4709160" cy="274320"/>
          </a:xfrm>
          <a:prstGeom prst="rect">
            <a:avLst/>
          </a:prstGeom>
          <a:noFill/>
        </p:spPr>
        <p:txBody>
          <a:bodyPr wrap="square" lIns="0" tIns="0" rIns="0" bIns="0" anchor="t">
            <a:spAutoFit/>
          </a:bodyPr>
          <a:lstStyle/>
          <a:p>
            <a:pPr algn="l"/>
            <a:r>
              <a:rPr lang="en-US" sz="1200" b="0" i="0" spc="200" dirty="0">
                <a:solidFill>
                  <a:srgbClr val="B45309"/>
                </a:solidFill>
                <a:latin typeface="Segoe UI Semibold"/>
              </a:rPr>
              <a:t>TEAM 16  ·  PME</a:t>
            </a:r>
          </a:p>
        </p:txBody>
      </p:sp>
      <p:sp>
        <p:nvSpPr>
          <p:cNvPr id="9" name="adv_k"/>
          <p:cNvSpPr txBox="1"/>
          <p:nvPr/>
        </p:nvSpPr>
        <p:spPr>
          <a:xfrm>
            <a:off x="548640" y="4297680"/>
            <a:ext cx="4709160" cy="274320"/>
          </a:xfrm>
          <a:prstGeom prst="rect">
            <a:avLst/>
          </a:prstGeom>
          <a:noFill/>
        </p:spPr>
        <p:txBody>
          <a:bodyPr wrap="square" lIns="0" tIns="0" rIns="0" bIns="0" anchor="t">
            <a:spAutoFit/>
          </a:bodyPr>
          <a:lstStyle/>
          <a:p>
            <a:pPr algn="l"/>
            <a:r>
              <a:rPr lang="en-US" sz="1300" b="0" i="0" spc="300" dirty="0">
                <a:solidFill>
                  <a:srgbClr val="B45309"/>
                </a:solidFill>
                <a:latin typeface="Segoe UI Semibold"/>
              </a:rPr>
              <a:t>ADVISOR &amp; CUSTOMER</a:t>
            </a:r>
          </a:p>
        </p:txBody>
      </p:sp>
      <p:sp>
        <p:nvSpPr>
          <p:cNvPr id="10" name="adv"/>
          <p:cNvSpPr txBox="1"/>
          <p:nvPr/>
        </p:nvSpPr>
        <p:spPr>
          <a:xfrm>
            <a:off x="548640" y="4617720"/>
            <a:ext cx="4709160" cy="411480"/>
          </a:xfrm>
          <a:prstGeom prst="rect">
            <a:avLst/>
          </a:prstGeom>
          <a:noFill/>
        </p:spPr>
        <p:txBody>
          <a:bodyPr wrap="square" lIns="0" tIns="0" rIns="0" bIns="0" anchor="t">
            <a:spAutoFit/>
          </a:bodyPr>
          <a:lstStyle/>
          <a:p>
            <a:pPr algn="l"/>
            <a:r>
              <a:rPr lang="en-US" sz="2400" b="0" i="0" dirty="0">
                <a:solidFill>
                  <a:srgbClr val="0E1B2C"/>
                </a:solidFill>
                <a:latin typeface="Segoe UI Semibold"/>
              </a:rPr>
              <a:t>Dr. Fahd Hariri</a:t>
            </a:r>
          </a:p>
        </p:txBody>
      </p:sp>
      <p:sp>
        <p:nvSpPr>
          <p:cNvPr id="11" name="uni"/>
          <p:cNvSpPr txBox="1"/>
          <p:nvPr/>
        </p:nvSpPr>
        <p:spPr>
          <a:xfrm>
            <a:off x="548640" y="5074920"/>
            <a:ext cx="4709160" cy="548640"/>
          </a:xfrm>
          <a:prstGeom prst="rect">
            <a:avLst/>
          </a:prstGeom>
          <a:noFill/>
        </p:spPr>
        <p:txBody>
          <a:bodyPr wrap="square" lIns="0" tIns="0" rIns="0" bIns="0" anchor="t">
            <a:spAutoFit/>
          </a:bodyPr>
          <a:lstStyle/>
          <a:p>
            <a:pPr algn="l"/>
            <a:r>
              <a:rPr lang="en-US" sz="1400" b="0" i="0" dirty="0">
                <a:solidFill>
                  <a:srgbClr val="5B6B7F"/>
                </a:solidFill>
                <a:latin typeface="Segoe UI Semibold"/>
              </a:rPr>
              <a:t>Electrical and Computer Engineering</a:t>
            </a:r>
          </a:p>
          <a:p>
            <a:pPr algn="l"/>
            <a:r>
              <a:rPr lang="en-US" sz="1400" b="0" i="0" dirty="0">
                <a:solidFill>
                  <a:srgbClr val="5B6B7F"/>
                </a:solidFill>
                <a:latin typeface="Segoe UI Semibold"/>
              </a:rPr>
              <a:t>King Abdulaziz University  ·  Fall 2026</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467" fill="hold"/>
                                        <p:tgtEl>
                                          <p:spTgt spid="2"/>
                                        </p:tgtEl>
                                      </p:cBhvr>
                                    </p:cmd>
                                  </p:childTnLst>
                                </p:cTn>
                              </p:par>
                            </p:childTnLst>
                          </p:cTn>
                        </p:par>
                        <p:par>
                          <p:cTn id="7" fill="hold">
                            <p:stCondLst>
                              <p:cond delay="10467"/>
                            </p:stCondLst>
                            <p:childTnLst>
                              <p:par>
                                <p:cTn id="8" presetID="42"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anim calcmode="lin" valueType="num">
                                      <p:cBhvr>
                                        <p:cTn id="11" dur="450" fill="hold"/>
                                        <p:tgtEl>
                                          <p:spTgt spid="3"/>
                                        </p:tgtEl>
                                        <p:attrNameLst>
                                          <p:attrName>ppt_x</p:attrName>
                                        </p:attrNameLst>
                                      </p:cBhvr>
                                      <p:tavLst>
                                        <p:tav tm="0">
                                          <p:val>
                                            <p:strVal val="#ppt_x"/>
                                          </p:val>
                                        </p:tav>
                                        <p:tav tm="100000">
                                          <p:val>
                                            <p:strVal val="#ppt_x"/>
                                          </p:val>
                                        </p:tav>
                                      </p:tavLst>
                                    </p:anim>
                                    <p:anim calcmode="lin" valueType="num">
                                      <p:cBhvr>
                                        <p:cTn id="12" dur="450" fill="hold"/>
                                        <p:tgtEl>
                                          <p:spTgt spid="3"/>
                                        </p:tgtEl>
                                        <p:attrNameLst>
                                          <p:attrName>ppt_y</p:attrName>
                                        </p:attrNameLst>
                                      </p:cBhvr>
                                      <p:tavLst>
                                        <p:tav tm="0">
                                          <p:val>
                                            <p:strVal val="#ppt_y+.1"/>
                                          </p:val>
                                        </p:tav>
                                        <p:tav tm="100000">
                                          <p:val>
                                            <p:strVal val="#ppt_y"/>
                                          </p:val>
                                        </p:tav>
                                      </p:tavLst>
                                    </p:anim>
                                  </p:childTnLst>
                                </p:cTn>
                              </p:par>
                            </p:childTnLst>
                          </p:cTn>
                        </p:par>
                        <p:par>
                          <p:cTn id="13" fill="hold">
                            <p:stCondLst>
                              <p:cond delay="10917"/>
                            </p:stCondLst>
                            <p:childTnLst>
                              <p:par>
                                <p:cTn id="14" presetID="42"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50"/>
                                        <p:tgtEl>
                                          <p:spTgt spid="4"/>
                                        </p:tgtEl>
                                      </p:cBhvr>
                                    </p:animEffect>
                                    <p:anim calcmode="lin" valueType="num">
                                      <p:cBhvr>
                                        <p:cTn id="17" dur="450" fill="hold"/>
                                        <p:tgtEl>
                                          <p:spTgt spid="4"/>
                                        </p:tgtEl>
                                        <p:attrNameLst>
                                          <p:attrName>ppt_x</p:attrName>
                                        </p:attrNameLst>
                                      </p:cBhvr>
                                      <p:tavLst>
                                        <p:tav tm="0">
                                          <p:val>
                                            <p:strVal val="#ppt_x"/>
                                          </p:val>
                                        </p:tav>
                                        <p:tav tm="100000">
                                          <p:val>
                                            <p:strVal val="#ppt_x"/>
                                          </p:val>
                                        </p:tav>
                                      </p:tavLst>
                                    </p:anim>
                                    <p:anim calcmode="lin" valueType="num">
                                      <p:cBhvr>
                                        <p:cTn id="18" dur="450" fill="hold"/>
                                        <p:tgtEl>
                                          <p:spTgt spid="4"/>
                                        </p:tgtEl>
                                        <p:attrNameLst>
                                          <p:attrName>ppt_y</p:attrName>
                                        </p:attrNameLst>
                                      </p:cBhvr>
                                      <p:tavLst>
                                        <p:tav tm="0">
                                          <p:val>
                                            <p:strVal val="#ppt_y+.1"/>
                                          </p:val>
                                        </p:tav>
                                        <p:tav tm="100000">
                                          <p:val>
                                            <p:strVal val="#ppt_y"/>
                                          </p:val>
                                        </p:tav>
                                      </p:tavLst>
                                    </p:anim>
                                  </p:childTnLst>
                                </p:cTn>
                              </p:par>
                            </p:childTnLst>
                          </p:cTn>
                        </p:par>
                        <p:par>
                          <p:cTn id="19" fill="hold">
                            <p:stCondLst>
                              <p:cond delay="11367"/>
                            </p:stCondLst>
                            <p:childTnLst>
                              <p:par>
                                <p:cTn id="20" presetID="42" presetClass="entr" presetSubtype="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anim calcmode="lin" valueType="num">
                                      <p:cBhvr>
                                        <p:cTn id="23" dur="450" fill="hold"/>
                                        <p:tgtEl>
                                          <p:spTgt spid="5"/>
                                        </p:tgtEl>
                                        <p:attrNameLst>
                                          <p:attrName>ppt_x</p:attrName>
                                        </p:attrNameLst>
                                      </p:cBhvr>
                                      <p:tavLst>
                                        <p:tav tm="0">
                                          <p:val>
                                            <p:strVal val="#ppt_x"/>
                                          </p:val>
                                        </p:tav>
                                        <p:tav tm="100000">
                                          <p:val>
                                            <p:strVal val="#ppt_x"/>
                                          </p:val>
                                        </p:tav>
                                      </p:tavLst>
                                    </p:anim>
                                    <p:anim calcmode="lin" valueType="num">
                                      <p:cBhvr>
                                        <p:cTn id="24" dur="450" fill="hold"/>
                                        <p:tgtEl>
                                          <p:spTgt spid="5"/>
                                        </p:tgtEl>
                                        <p:attrNameLst>
                                          <p:attrName>ppt_y</p:attrName>
                                        </p:attrNameLst>
                                      </p:cBhvr>
                                      <p:tavLst>
                                        <p:tav tm="0">
                                          <p:val>
                                            <p:strVal val="#ppt_y+.1"/>
                                          </p:val>
                                        </p:tav>
                                        <p:tav tm="100000">
                                          <p:val>
                                            <p:strVal val="#ppt_y"/>
                                          </p:val>
                                        </p:tav>
                                      </p:tavLst>
                                    </p:anim>
                                  </p:childTnLst>
                                </p:cTn>
                              </p:par>
                            </p:childTnLst>
                          </p:cTn>
                        </p:par>
                        <p:par>
                          <p:cTn id="25" fill="hold">
                            <p:stCondLst>
                              <p:cond delay="11817"/>
                            </p:stCondLst>
                            <p:childTnLst>
                              <p:par>
                                <p:cTn id="26" presetID="42"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50"/>
                                        <p:tgtEl>
                                          <p:spTgt spid="6"/>
                                        </p:tgtEl>
                                      </p:cBhvr>
                                    </p:animEffect>
                                    <p:anim calcmode="lin" valueType="num">
                                      <p:cBhvr>
                                        <p:cTn id="29" dur="450" fill="hold"/>
                                        <p:tgtEl>
                                          <p:spTgt spid="6"/>
                                        </p:tgtEl>
                                        <p:attrNameLst>
                                          <p:attrName>ppt_x</p:attrName>
                                        </p:attrNameLst>
                                      </p:cBhvr>
                                      <p:tavLst>
                                        <p:tav tm="0">
                                          <p:val>
                                            <p:strVal val="#ppt_x"/>
                                          </p:val>
                                        </p:tav>
                                        <p:tav tm="100000">
                                          <p:val>
                                            <p:strVal val="#ppt_x"/>
                                          </p:val>
                                        </p:tav>
                                      </p:tavLst>
                                    </p:anim>
                                    <p:anim calcmode="lin" valueType="num">
                                      <p:cBhvr>
                                        <p:cTn id="30" dur="450" fill="hold"/>
                                        <p:tgtEl>
                                          <p:spTgt spid="6"/>
                                        </p:tgtEl>
                                        <p:attrNameLst>
                                          <p:attrName>ppt_y</p:attrName>
                                        </p:attrNameLst>
                                      </p:cBhvr>
                                      <p:tavLst>
                                        <p:tav tm="0">
                                          <p:val>
                                            <p:strVal val="#ppt_y+.1"/>
                                          </p:val>
                                        </p:tav>
                                        <p:tav tm="100000">
                                          <p:val>
                                            <p:strVal val="#ppt_y"/>
                                          </p:val>
                                        </p:tav>
                                      </p:tavLst>
                                    </p:anim>
                                  </p:childTnLst>
                                </p:cTn>
                              </p:par>
                            </p:childTnLst>
                          </p:cTn>
                        </p:par>
                        <p:par>
                          <p:cTn id="31" fill="hold">
                            <p:stCondLst>
                              <p:cond delay="12267"/>
                            </p:stCondLst>
                            <p:childTnLst>
                              <p:par>
                                <p:cTn id="32" presetID="42" presetClass="entr" presetSubtype="0"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450"/>
                                        <p:tgtEl>
                                          <p:spTgt spid="7"/>
                                        </p:tgtEl>
                                      </p:cBhvr>
                                    </p:animEffect>
                                    <p:anim calcmode="lin" valueType="num">
                                      <p:cBhvr>
                                        <p:cTn id="35" dur="450" fill="hold"/>
                                        <p:tgtEl>
                                          <p:spTgt spid="7"/>
                                        </p:tgtEl>
                                        <p:attrNameLst>
                                          <p:attrName>ppt_x</p:attrName>
                                        </p:attrNameLst>
                                      </p:cBhvr>
                                      <p:tavLst>
                                        <p:tav tm="0">
                                          <p:val>
                                            <p:strVal val="#ppt_x"/>
                                          </p:val>
                                        </p:tav>
                                        <p:tav tm="100000">
                                          <p:val>
                                            <p:strVal val="#ppt_x"/>
                                          </p:val>
                                        </p:tav>
                                      </p:tavLst>
                                    </p:anim>
                                    <p:anim calcmode="lin" valueType="num">
                                      <p:cBhvr>
                                        <p:cTn id="36" dur="450" fill="hold"/>
                                        <p:tgtEl>
                                          <p:spTgt spid="7"/>
                                        </p:tgtEl>
                                        <p:attrNameLst>
                                          <p:attrName>ppt_y</p:attrName>
                                        </p:attrNameLst>
                                      </p:cBhvr>
                                      <p:tavLst>
                                        <p:tav tm="0">
                                          <p:val>
                                            <p:strVal val="#ppt_y+.1"/>
                                          </p:val>
                                        </p:tav>
                                        <p:tav tm="100000">
                                          <p:val>
                                            <p:strVal val="#ppt_y"/>
                                          </p:val>
                                        </p:tav>
                                      </p:tavLst>
                                    </p:anim>
                                  </p:childTnLst>
                                </p:cTn>
                              </p:par>
                            </p:childTnLst>
                          </p:cTn>
                        </p:par>
                        <p:par>
                          <p:cTn id="37" fill="hold">
                            <p:stCondLst>
                              <p:cond delay="12717"/>
                            </p:stCondLst>
                            <p:childTnLst>
                              <p:par>
                                <p:cTn id="38" presetID="42" presetClass="entr" presetSubtype="0"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450"/>
                                        <p:tgtEl>
                                          <p:spTgt spid="8"/>
                                        </p:tgtEl>
                                      </p:cBhvr>
                                    </p:animEffect>
                                    <p:anim calcmode="lin" valueType="num">
                                      <p:cBhvr>
                                        <p:cTn id="41" dur="450" fill="hold"/>
                                        <p:tgtEl>
                                          <p:spTgt spid="8"/>
                                        </p:tgtEl>
                                        <p:attrNameLst>
                                          <p:attrName>ppt_x</p:attrName>
                                        </p:attrNameLst>
                                      </p:cBhvr>
                                      <p:tavLst>
                                        <p:tav tm="0">
                                          <p:val>
                                            <p:strVal val="#ppt_x"/>
                                          </p:val>
                                        </p:tav>
                                        <p:tav tm="100000">
                                          <p:val>
                                            <p:strVal val="#ppt_x"/>
                                          </p:val>
                                        </p:tav>
                                      </p:tavLst>
                                    </p:anim>
                                    <p:anim calcmode="lin" valueType="num">
                                      <p:cBhvr>
                                        <p:cTn id="42" dur="450" fill="hold"/>
                                        <p:tgtEl>
                                          <p:spTgt spid="8"/>
                                        </p:tgtEl>
                                        <p:attrNameLst>
                                          <p:attrName>ppt_y</p:attrName>
                                        </p:attrNameLst>
                                      </p:cBhvr>
                                      <p:tavLst>
                                        <p:tav tm="0">
                                          <p:val>
                                            <p:strVal val="#ppt_y+.1"/>
                                          </p:val>
                                        </p:tav>
                                        <p:tav tm="100000">
                                          <p:val>
                                            <p:strVal val="#ppt_y"/>
                                          </p:val>
                                        </p:tav>
                                      </p:tavLst>
                                    </p:anim>
                                  </p:childTnLst>
                                </p:cTn>
                              </p:par>
                            </p:childTnLst>
                          </p:cTn>
                        </p:par>
                        <p:par>
                          <p:cTn id="43" fill="hold">
                            <p:stCondLst>
                              <p:cond delay="13167"/>
                            </p:stCondLst>
                            <p:childTnLst>
                              <p:par>
                                <p:cTn id="44" presetID="42" presetClass="entr" presetSubtype="0" fill="hold"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450"/>
                                        <p:tgtEl>
                                          <p:spTgt spid="9"/>
                                        </p:tgtEl>
                                      </p:cBhvr>
                                    </p:animEffect>
                                    <p:anim calcmode="lin" valueType="num">
                                      <p:cBhvr>
                                        <p:cTn id="47" dur="450" fill="hold"/>
                                        <p:tgtEl>
                                          <p:spTgt spid="9"/>
                                        </p:tgtEl>
                                        <p:attrNameLst>
                                          <p:attrName>ppt_x</p:attrName>
                                        </p:attrNameLst>
                                      </p:cBhvr>
                                      <p:tavLst>
                                        <p:tav tm="0">
                                          <p:val>
                                            <p:strVal val="#ppt_x"/>
                                          </p:val>
                                        </p:tav>
                                        <p:tav tm="100000">
                                          <p:val>
                                            <p:strVal val="#ppt_x"/>
                                          </p:val>
                                        </p:tav>
                                      </p:tavLst>
                                    </p:anim>
                                    <p:anim calcmode="lin" valueType="num">
                                      <p:cBhvr>
                                        <p:cTn id="48" dur="450" fill="hold"/>
                                        <p:tgtEl>
                                          <p:spTgt spid="9"/>
                                        </p:tgtEl>
                                        <p:attrNameLst>
                                          <p:attrName>ppt_y</p:attrName>
                                        </p:attrNameLst>
                                      </p:cBhvr>
                                      <p:tavLst>
                                        <p:tav tm="0">
                                          <p:val>
                                            <p:strVal val="#ppt_y+.1"/>
                                          </p:val>
                                        </p:tav>
                                        <p:tav tm="100000">
                                          <p:val>
                                            <p:strVal val="#ppt_y"/>
                                          </p:val>
                                        </p:tav>
                                      </p:tavLst>
                                    </p:anim>
                                  </p:childTnLst>
                                </p:cTn>
                              </p:par>
                            </p:childTnLst>
                          </p:cTn>
                        </p:par>
                        <p:par>
                          <p:cTn id="49" fill="hold">
                            <p:stCondLst>
                              <p:cond delay="13617"/>
                            </p:stCondLst>
                            <p:childTnLst>
                              <p:par>
                                <p:cTn id="50" presetID="42" presetClass="entr" presetSubtype="0" fill="hold" nodeType="after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450"/>
                                        <p:tgtEl>
                                          <p:spTgt spid="10"/>
                                        </p:tgtEl>
                                      </p:cBhvr>
                                    </p:animEffect>
                                    <p:anim calcmode="lin" valueType="num">
                                      <p:cBhvr>
                                        <p:cTn id="53" dur="450" fill="hold"/>
                                        <p:tgtEl>
                                          <p:spTgt spid="10"/>
                                        </p:tgtEl>
                                        <p:attrNameLst>
                                          <p:attrName>ppt_x</p:attrName>
                                        </p:attrNameLst>
                                      </p:cBhvr>
                                      <p:tavLst>
                                        <p:tav tm="0">
                                          <p:val>
                                            <p:strVal val="#ppt_x"/>
                                          </p:val>
                                        </p:tav>
                                        <p:tav tm="100000">
                                          <p:val>
                                            <p:strVal val="#ppt_x"/>
                                          </p:val>
                                        </p:tav>
                                      </p:tavLst>
                                    </p:anim>
                                    <p:anim calcmode="lin" valueType="num">
                                      <p:cBhvr>
                                        <p:cTn id="54" dur="450" fill="hold"/>
                                        <p:tgtEl>
                                          <p:spTgt spid="10"/>
                                        </p:tgtEl>
                                        <p:attrNameLst>
                                          <p:attrName>ppt_y</p:attrName>
                                        </p:attrNameLst>
                                      </p:cBhvr>
                                      <p:tavLst>
                                        <p:tav tm="0">
                                          <p:val>
                                            <p:strVal val="#ppt_y+.1"/>
                                          </p:val>
                                        </p:tav>
                                        <p:tav tm="100000">
                                          <p:val>
                                            <p:strVal val="#ppt_y"/>
                                          </p:val>
                                        </p:tav>
                                      </p:tavLst>
                                    </p:anim>
                                  </p:childTnLst>
                                </p:cTn>
                              </p:par>
                            </p:childTnLst>
                          </p:cTn>
                        </p:par>
                        <p:par>
                          <p:cTn id="55" fill="hold">
                            <p:stCondLst>
                              <p:cond delay="14067"/>
                            </p:stCondLst>
                            <p:childTnLst>
                              <p:par>
                                <p:cTn id="56" presetID="42" presetClass="entr" presetSubtype="0" fill="hold" nodeType="after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450"/>
                                        <p:tgtEl>
                                          <p:spTgt spid="11"/>
                                        </p:tgtEl>
                                      </p:cBhvr>
                                    </p:animEffect>
                                    <p:anim calcmode="lin" valueType="num">
                                      <p:cBhvr>
                                        <p:cTn id="59" dur="450" fill="hold"/>
                                        <p:tgtEl>
                                          <p:spTgt spid="11"/>
                                        </p:tgtEl>
                                        <p:attrNameLst>
                                          <p:attrName>ppt_x</p:attrName>
                                        </p:attrNameLst>
                                      </p:cBhvr>
                                      <p:tavLst>
                                        <p:tav tm="0">
                                          <p:val>
                                            <p:strVal val="#ppt_x"/>
                                          </p:val>
                                        </p:tav>
                                        <p:tav tm="100000">
                                          <p:val>
                                            <p:strVal val="#ppt_x"/>
                                          </p:val>
                                        </p:tav>
                                      </p:tavLst>
                                    </p:anim>
                                    <p:anim calcmode="lin" valueType="num">
                                      <p:cBhvr>
                                        <p:cTn id="60" dur="4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61" fill="hold" display="0">
                  <p:stCondLst>
                    <p:cond delay="indefinite"/>
                  </p:stCondLst>
                </p:cTn>
                <p:tgtEl>
                  <p:spTgt spid="2"/>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379083"/>
            <a:ext cx="914400" cy="169277"/>
          </a:xfrm>
          <a:prstGeom prst="rect">
            <a:avLst/>
          </a:prstGeom>
          <a:noFill/>
        </p:spPr>
        <p:txBody>
          <a:bodyPr wrap="square" lIns="0" tIns="0" rIns="0" bIns="0" anchor="t">
            <a:spAutoFit/>
          </a:bodyPr>
          <a:lstStyle/>
          <a:p>
            <a:pPr algn="r"/>
            <a:fld id="{35E37EAE-E740-43CF-8A9E-0B280DC15897}" type="slidenum">
              <a:rPr lang="en-US" sz="1100" b="0" i="0" dirty="0">
                <a:solidFill>
                  <a:srgbClr val="5B6B7F"/>
                </a:solidFill>
                <a:latin typeface="Bahnschrift"/>
              </a:rPr>
              <a:t>2</a:t>
            </a:fld>
            <a:endParaRPr sz="1100" b="0" i="0" dirty="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AGENDA</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What we will cover</a:t>
            </a:r>
          </a:p>
        </p:txBody>
      </p:sp>
      <p:grpSp>
        <p:nvGrpSpPr>
          <p:cNvPr id="10" name="tile0"/>
          <p:cNvGrpSpPr/>
          <p:nvPr/>
        </p:nvGrpSpPr>
        <p:grpSpPr>
          <a:xfrm>
            <a:off x="685800" y="2194560"/>
            <a:ext cx="2542032" cy="2926080"/>
            <a:chOff x="685800" y="2194560"/>
            <a:chExt cx="2542032" cy="2926080"/>
          </a:xfrm>
        </p:grpSpPr>
        <p:sp>
          <p:nvSpPr>
            <p:cNvPr id="6" name="Rounded Rectangle 5"/>
            <p:cNvSpPr/>
            <p:nvPr/>
          </p:nvSpPr>
          <p:spPr>
            <a:xfrm>
              <a:off x="685800"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05840"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home_white.png"/>
            <p:cNvPicPr>
              <a:picLocks noChangeAspect="1"/>
            </p:cNvPicPr>
            <p:nvPr/>
          </p:nvPicPr>
          <p:blipFill>
            <a:blip r:embed="rId3"/>
            <a:stretch>
              <a:fillRect/>
            </a:stretch>
          </p:blipFill>
          <p:spPr>
            <a:xfrm>
              <a:off x="1188720" y="2697480"/>
              <a:ext cx="502920" cy="502920"/>
            </a:xfrm>
            <a:prstGeom prst="rect">
              <a:avLst/>
            </a:prstGeom>
          </p:spPr>
        </p:pic>
        <p:sp>
          <p:nvSpPr>
            <p:cNvPr id="9" name="TextBox 8"/>
            <p:cNvSpPr txBox="1"/>
            <p:nvPr/>
          </p:nvSpPr>
          <p:spPr>
            <a:xfrm>
              <a:off x="1005840"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Introduction</a:t>
              </a:r>
            </a:p>
          </p:txBody>
        </p:sp>
      </p:grpSp>
      <p:sp>
        <p:nvSpPr>
          <p:cNvPr id="11" name="!!sec1"/>
          <p:cNvSpPr txBox="1"/>
          <p:nvPr/>
        </p:nvSpPr>
        <p:spPr>
          <a:xfrm>
            <a:off x="2103120"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01</a:t>
            </a:r>
          </a:p>
        </p:txBody>
      </p:sp>
      <p:grpSp>
        <p:nvGrpSpPr>
          <p:cNvPr id="16" name="tile1"/>
          <p:cNvGrpSpPr/>
          <p:nvPr/>
        </p:nvGrpSpPr>
        <p:grpSpPr>
          <a:xfrm>
            <a:off x="3456432" y="2194560"/>
            <a:ext cx="2542032" cy="2926080"/>
            <a:chOff x="3456432" y="2194560"/>
            <a:chExt cx="2542032" cy="2926080"/>
          </a:xfrm>
        </p:grpSpPr>
        <p:sp>
          <p:nvSpPr>
            <p:cNvPr id="12" name="Rounded Rectangle 11"/>
            <p:cNvSpPr/>
            <p:nvPr/>
          </p:nvSpPr>
          <p:spPr>
            <a:xfrm>
              <a:off x="3456432"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3776472"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warning_white.png"/>
            <p:cNvPicPr>
              <a:picLocks noChangeAspect="1"/>
            </p:cNvPicPr>
            <p:nvPr/>
          </p:nvPicPr>
          <p:blipFill>
            <a:blip r:embed="rId4"/>
            <a:stretch>
              <a:fillRect/>
            </a:stretch>
          </p:blipFill>
          <p:spPr>
            <a:xfrm>
              <a:off x="3959352" y="2697480"/>
              <a:ext cx="502920" cy="502920"/>
            </a:xfrm>
            <a:prstGeom prst="rect">
              <a:avLst/>
            </a:prstGeom>
          </p:spPr>
        </p:pic>
        <p:sp>
          <p:nvSpPr>
            <p:cNvPr id="15" name="TextBox 14"/>
            <p:cNvSpPr txBox="1"/>
            <p:nvPr/>
          </p:nvSpPr>
          <p:spPr>
            <a:xfrm>
              <a:off x="3776472"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Problem Statement</a:t>
              </a:r>
            </a:p>
          </p:txBody>
        </p:sp>
      </p:grpSp>
      <p:sp>
        <p:nvSpPr>
          <p:cNvPr id="17" name="!!sec2"/>
          <p:cNvSpPr txBox="1"/>
          <p:nvPr/>
        </p:nvSpPr>
        <p:spPr>
          <a:xfrm>
            <a:off x="4873752"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02</a:t>
            </a:r>
          </a:p>
        </p:txBody>
      </p:sp>
      <p:grpSp>
        <p:nvGrpSpPr>
          <p:cNvPr id="22" name="tile2"/>
          <p:cNvGrpSpPr/>
          <p:nvPr/>
        </p:nvGrpSpPr>
        <p:grpSpPr>
          <a:xfrm>
            <a:off x="6227064" y="2194560"/>
            <a:ext cx="2542032" cy="2926080"/>
            <a:chOff x="6227064" y="2194560"/>
            <a:chExt cx="2542032" cy="2926080"/>
          </a:xfrm>
        </p:grpSpPr>
        <p:sp>
          <p:nvSpPr>
            <p:cNvPr id="18" name="Rounded Rectangle 17"/>
            <p:cNvSpPr/>
            <p:nvPr/>
          </p:nvSpPr>
          <p:spPr>
            <a:xfrm>
              <a:off x="6227064"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547103"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target_white.png"/>
            <p:cNvPicPr>
              <a:picLocks noChangeAspect="1"/>
            </p:cNvPicPr>
            <p:nvPr/>
          </p:nvPicPr>
          <p:blipFill>
            <a:blip r:embed="rId5"/>
            <a:stretch>
              <a:fillRect/>
            </a:stretch>
          </p:blipFill>
          <p:spPr>
            <a:xfrm>
              <a:off x="6729983" y="2697480"/>
              <a:ext cx="502920" cy="502920"/>
            </a:xfrm>
            <a:prstGeom prst="rect">
              <a:avLst/>
            </a:prstGeom>
          </p:spPr>
        </p:pic>
        <p:sp>
          <p:nvSpPr>
            <p:cNvPr id="21" name="TextBox 20"/>
            <p:cNvSpPr txBox="1"/>
            <p:nvPr/>
          </p:nvSpPr>
          <p:spPr>
            <a:xfrm>
              <a:off x="6547103"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Objectives</a:t>
              </a:r>
            </a:p>
          </p:txBody>
        </p:sp>
      </p:grpSp>
      <p:sp>
        <p:nvSpPr>
          <p:cNvPr id="23" name="!!sec3"/>
          <p:cNvSpPr txBox="1"/>
          <p:nvPr/>
        </p:nvSpPr>
        <p:spPr>
          <a:xfrm>
            <a:off x="7644383"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03</a:t>
            </a:r>
          </a:p>
        </p:txBody>
      </p:sp>
      <p:grpSp>
        <p:nvGrpSpPr>
          <p:cNvPr id="28" name="tile3"/>
          <p:cNvGrpSpPr/>
          <p:nvPr/>
        </p:nvGrpSpPr>
        <p:grpSpPr>
          <a:xfrm>
            <a:off x="8997696" y="2194560"/>
            <a:ext cx="2542032" cy="2926080"/>
            <a:chOff x="8997696" y="2194560"/>
            <a:chExt cx="2542032" cy="2926080"/>
          </a:xfrm>
        </p:grpSpPr>
        <p:sp>
          <p:nvSpPr>
            <p:cNvPr id="24" name="Rounded Rectangle 23"/>
            <p:cNvSpPr/>
            <p:nvPr/>
          </p:nvSpPr>
          <p:spPr>
            <a:xfrm>
              <a:off x="8997696"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317736"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checklist_white.png"/>
            <p:cNvPicPr>
              <a:picLocks noChangeAspect="1"/>
            </p:cNvPicPr>
            <p:nvPr/>
          </p:nvPicPr>
          <p:blipFill>
            <a:blip r:embed="rId6"/>
            <a:stretch>
              <a:fillRect/>
            </a:stretch>
          </p:blipFill>
          <p:spPr>
            <a:xfrm>
              <a:off x="9500616" y="2697480"/>
              <a:ext cx="502920" cy="502920"/>
            </a:xfrm>
            <a:prstGeom prst="rect">
              <a:avLst/>
            </a:prstGeom>
          </p:spPr>
        </p:pic>
        <p:sp>
          <p:nvSpPr>
            <p:cNvPr id="27" name="TextBox 26"/>
            <p:cNvSpPr txBox="1"/>
            <p:nvPr/>
          </p:nvSpPr>
          <p:spPr>
            <a:xfrm>
              <a:off x="9317736"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Design Requirements</a:t>
              </a:r>
            </a:p>
          </p:txBody>
        </p:sp>
      </p:grpSp>
      <p:sp>
        <p:nvSpPr>
          <p:cNvPr id="29" name="!!sec4"/>
          <p:cNvSpPr txBox="1"/>
          <p:nvPr/>
        </p:nvSpPr>
        <p:spPr>
          <a:xfrm>
            <a:off x="10415016"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04</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par>
                          <p:cTn id="13" fill="hold">
                            <p:stCondLst>
                              <p:cond delay="600"/>
                            </p:stCondLst>
                            <p:childTnLst>
                              <p:par>
                                <p:cTn id="14" presetID="42" presetClass="entr" presetSubtype="0" fill="hold" nodeType="afterEffect">
                                  <p:stCondLst>
                                    <p:cond delay="1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anim calcmode="lin" valueType="num">
                                      <p:cBhvr>
                                        <p:cTn id="17" dur="500" fill="hold"/>
                                        <p:tgtEl>
                                          <p:spTgt spid="16"/>
                                        </p:tgtEl>
                                        <p:attrNameLst>
                                          <p:attrName>ppt_x</p:attrName>
                                        </p:attrNameLst>
                                      </p:cBhvr>
                                      <p:tavLst>
                                        <p:tav tm="0">
                                          <p:val>
                                            <p:strVal val="#ppt_x"/>
                                          </p:val>
                                        </p:tav>
                                        <p:tav tm="100000">
                                          <p:val>
                                            <p:strVal val="#ppt_x"/>
                                          </p:val>
                                        </p:tav>
                                      </p:tavLst>
                                    </p:anim>
                                    <p:anim calcmode="lin" valueType="num">
                                      <p:cBhvr>
                                        <p:cTn id="18" dur="500" fill="hold"/>
                                        <p:tgtEl>
                                          <p:spTgt spid="16"/>
                                        </p:tgtEl>
                                        <p:attrNameLst>
                                          <p:attrName>ppt_y</p:attrName>
                                        </p:attrNameLst>
                                      </p:cBhvr>
                                      <p:tavLst>
                                        <p:tav tm="0">
                                          <p:val>
                                            <p:strVal val="#ppt_y+.1"/>
                                          </p:val>
                                        </p:tav>
                                        <p:tav tm="100000">
                                          <p:val>
                                            <p:strVal val="#ppt_y"/>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par>
                          <p:cTn id="22" fill="hold">
                            <p:stCondLst>
                              <p:cond delay="1200"/>
                            </p:stCondLst>
                            <p:childTnLst>
                              <p:par>
                                <p:cTn id="23" presetID="42" presetClass="entr" presetSubtype="0" fill="hold" nodeType="afterEffect">
                                  <p:stCondLst>
                                    <p:cond delay="10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anim calcmode="lin" valueType="num">
                                      <p:cBhvr>
                                        <p:cTn id="26" dur="500" fill="hold"/>
                                        <p:tgtEl>
                                          <p:spTgt spid="22"/>
                                        </p:tgtEl>
                                        <p:attrNameLst>
                                          <p:attrName>ppt_x</p:attrName>
                                        </p:attrNameLst>
                                      </p:cBhvr>
                                      <p:tavLst>
                                        <p:tav tm="0">
                                          <p:val>
                                            <p:strVal val="#ppt_x"/>
                                          </p:val>
                                        </p:tav>
                                        <p:tav tm="100000">
                                          <p:val>
                                            <p:strVal val="#ppt_x"/>
                                          </p:val>
                                        </p:tav>
                                      </p:tavLst>
                                    </p:anim>
                                    <p:anim calcmode="lin" valueType="num">
                                      <p:cBhvr>
                                        <p:cTn id="27" dur="500" fill="hold"/>
                                        <p:tgtEl>
                                          <p:spTgt spid="22"/>
                                        </p:tgtEl>
                                        <p:attrNameLst>
                                          <p:attrName>ppt_y</p:attrName>
                                        </p:attrNameLst>
                                      </p:cBhvr>
                                      <p:tavLst>
                                        <p:tav tm="0">
                                          <p:val>
                                            <p:strVal val="#ppt_y+.1"/>
                                          </p:val>
                                        </p:tav>
                                        <p:tav tm="100000">
                                          <p:val>
                                            <p:strVal val="#ppt_y"/>
                                          </p:val>
                                        </p:tav>
                                      </p:tavLst>
                                    </p:anim>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par>
                          <p:cTn id="31" fill="hold">
                            <p:stCondLst>
                              <p:cond delay="1800"/>
                            </p:stCondLst>
                            <p:childTnLst>
                              <p:par>
                                <p:cTn id="32" presetID="42" presetClass="entr" presetSubtype="0" fill="hold" nodeType="afterEffect">
                                  <p:stCondLst>
                                    <p:cond delay="10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anim calcmode="lin" valueType="num">
                                      <p:cBhvr>
                                        <p:cTn id="35" dur="500" fill="hold"/>
                                        <p:tgtEl>
                                          <p:spTgt spid="28"/>
                                        </p:tgtEl>
                                        <p:attrNameLst>
                                          <p:attrName>ppt_x</p:attrName>
                                        </p:attrNameLst>
                                      </p:cBhvr>
                                      <p:tavLst>
                                        <p:tav tm="0">
                                          <p:val>
                                            <p:strVal val="#ppt_x"/>
                                          </p:val>
                                        </p:tav>
                                        <p:tav tm="100000">
                                          <p:val>
                                            <p:strVal val="#ppt_x"/>
                                          </p:val>
                                        </p:tav>
                                      </p:tavLst>
                                    </p:anim>
                                    <p:anim calcmode="lin" valueType="num">
                                      <p:cBhvr>
                                        <p:cTn id="36" dur="500" fill="hold"/>
                                        <p:tgtEl>
                                          <p:spTgt spid="28"/>
                                        </p:tgtEl>
                                        <p:attrNameLst>
                                          <p:attrName>ppt_y</p:attrName>
                                        </p:attrNameLst>
                                      </p:cBhvr>
                                      <p:tavLst>
                                        <p:tav tm="0">
                                          <p:val>
                                            <p:strVal val="#ppt_y+.1"/>
                                          </p:val>
                                        </p:tav>
                                        <p:tav tm="100000">
                                          <p:val>
                                            <p:strVal val="#ppt_y"/>
                                          </p:val>
                                        </p:tav>
                                      </p:tavLst>
                                    </p:anim>
                                  </p:childTnLst>
                                </p:cTn>
                              </p:par>
                              <p:par>
                                <p:cTn id="37" presetID="10"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23"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1"/>
          <p:cNvSpPr txBox="1"/>
          <p:nvPr/>
        </p:nvSpPr>
        <p:spPr>
          <a:xfrm>
            <a:off x="822960" y="914400"/>
            <a:ext cx="4572000" cy="2377440"/>
          </a:xfrm>
          <a:prstGeom prst="rect">
            <a:avLst/>
          </a:prstGeom>
          <a:noFill/>
        </p:spPr>
        <p:txBody>
          <a:bodyPr wrap="square" lIns="0" tIns="0" rIns="0" bIns="0" anchor="t">
            <a:spAutoFit/>
          </a:bodyPr>
          <a:lstStyle/>
          <a:p>
            <a:pPr algn="l"/>
            <a:r>
              <a:rPr sz="20000" b="0" i="0" dirty="0">
                <a:solidFill>
                  <a:srgbClr val="B45309"/>
                </a:solidFill>
                <a:latin typeface="Bahnschrift SemiBold"/>
              </a:rPr>
              <a:t>01</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dirty="0">
                <a:solidFill>
                  <a:srgbClr val="0E1B2C"/>
                </a:solidFill>
                <a:latin typeface="Bahnschrift SemiBold"/>
              </a:rPr>
              <a:t>Introduction</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Why household energy needs managing</a:t>
            </a:r>
          </a:p>
        </p:txBody>
      </p:sp>
      <p:pic>
        <p:nvPicPr>
          <p:cNvPr id="5" name="dicon" descr="home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564DB13A-17D6-417D-A9BC-E16F9CC4B97E}" type="slidenum">
              <a:rPr lang="en-US" sz="1100" b="0" i="0">
                <a:solidFill>
                  <a:srgbClr val="5B6B7F"/>
                </a:solidFill>
                <a:latin typeface="Bahnschrift"/>
              </a:rPr>
              <a:t>4</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Where household electricity goes</a:t>
            </a:r>
          </a:p>
        </p:txBody>
      </p:sp>
      <p:grpSp>
        <p:nvGrpSpPr>
          <p:cNvPr id="10" name="stat0"/>
          <p:cNvGrpSpPr/>
          <p:nvPr/>
        </p:nvGrpSpPr>
        <p:grpSpPr>
          <a:xfrm>
            <a:off x="685800" y="1783080"/>
            <a:ext cx="3422904" cy="3794760"/>
            <a:chOff x="685800" y="1783080"/>
            <a:chExt cx="3422904" cy="3794760"/>
          </a:xfrm>
        </p:grpSpPr>
        <p:sp>
          <p:nvSpPr>
            <p:cNvPr id="11" name="card0"/>
            <p:cNvSpPr/>
            <p:nvPr/>
          </p:nvSpPr>
          <p:spPr>
            <a:xfrm>
              <a:off x="685800"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0"/>
            <p:cNvSpPr/>
            <p:nvPr/>
          </p:nvSpPr>
          <p:spPr>
            <a:xfrm>
              <a:off x="1005840"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0" descr="home_amberd.png"/>
            <p:cNvPicPr>
              <a:picLocks noChangeAspect="1"/>
            </p:cNvPicPr>
            <p:nvPr/>
          </p:nvPicPr>
          <p:blipFill>
            <a:blip r:embed="rId3"/>
            <a:stretch>
              <a:fillRect/>
            </a:stretch>
          </p:blipFill>
          <p:spPr>
            <a:xfrm>
              <a:off x="1175004" y="2272284"/>
              <a:ext cx="438912" cy="438912"/>
            </a:xfrm>
            <a:prstGeom prst="rect">
              <a:avLst/>
            </a:prstGeom>
          </p:spPr>
        </p:pic>
        <p:sp>
          <p:nvSpPr>
            <p:cNvPr id="14" name="big0"/>
            <p:cNvSpPr txBox="1"/>
            <p:nvPr/>
          </p:nvSpPr>
          <p:spPr>
            <a:xfrm>
              <a:off x="1005840"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47 %</a:t>
              </a:r>
            </a:p>
          </p:txBody>
        </p:sp>
        <p:sp>
          <p:nvSpPr>
            <p:cNvPr id="15" name="label0"/>
            <p:cNvSpPr txBox="1"/>
            <p:nvPr/>
          </p:nvSpPr>
          <p:spPr>
            <a:xfrm>
              <a:off x="1005840"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of Saudi electricity → homes</a:t>
              </a:r>
            </a:p>
          </p:txBody>
        </p:sp>
        <p:sp>
          <p:nvSpPr>
            <p:cNvPr id="16" name="sub0"/>
            <p:cNvSpPr txBox="1"/>
            <p:nvPr/>
          </p:nvSpPr>
          <p:spPr>
            <a:xfrm>
              <a:off x="1005840"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Residential share of national consumption</a:t>
              </a:r>
            </a:p>
          </p:txBody>
        </p:sp>
      </p:grpSp>
      <p:grpSp>
        <p:nvGrpSpPr>
          <p:cNvPr id="20" name="stat1"/>
          <p:cNvGrpSpPr/>
          <p:nvPr/>
        </p:nvGrpSpPr>
        <p:grpSpPr>
          <a:xfrm>
            <a:off x="4383024" y="1783080"/>
            <a:ext cx="3422904" cy="3794760"/>
            <a:chOff x="4383024" y="1783080"/>
            <a:chExt cx="3422904" cy="3794760"/>
          </a:xfrm>
        </p:grpSpPr>
        <p:sp>
          <p:nvSpPr>
            <p:cNvPr id="21" name="card1"/>
            <p:cNvSpPr/>
            <p:nvPr/>
          </p:nvSpPr>
          <p:spPr>
            <a:xfrm>
              <a:off x="4383024"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oval1"/>
            <p:cNvSpPr/>
            <p:nvPr/>
          </p:nvSpPr>
          <p:spPr>
            <a:xfrm>
              <a:off x="4703064"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23" name="icon1" descr="ac_amberd.png"/>
            <p:cNvPicPr>
              <a:picLocks noChangeAspect="1"/>
            </p:cNvPicPr>
            <p:nvPr/>
          </p:nvPicPr>
          <p:blipFill>
            <a:blip r:embed="rId4"/>
            <a:stretch>
              <a:fillRect/>
            </a:stretch>
          </p:blipFill>
          <p:spPr>
            <a:xfrm>
              <a:off x="4872228" y="2272284"/>
              <a:ext cx="438912" cy="438912"/>
            </a:xfrm>
            <a:prstGeom prst="rect">
              <a:avLst/>
            </a:prstGeom>
          </p:spPr>
        </p:pic>
        <p:sp>
          <p:nvSpPr>
            <p:cNvPr id="24" name="big1"/>
            <p:cNvSpPr txBox="1"/>
            <p:nvPr/>
          </p:nvSpPr>
          <p:spPr>
            <a:xfrm>
              <a:off x="4703064"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 70 %</a:t>
              </a:r>
            </a:p>
          </p:txBody>
        </p:sp>
        <p:sp>
          <p:nvSpPr>
            <p:cNvPr id="25" name="label1"/>
            <p:cNvSpPr txBox="1"/>
            <p:nvPr/>
          </p:nvSpPr>
          <p:spPr>
            <a:xfrm>
              <a:off x="4703064"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of home electricity → air-conditioning</a:t>
              </a:r>
            </a:p>
          </p:txBody>
        </p:sp>
        <p:sp>
          <p:nvSpPr>
            <p:cNvPr id="26" name="sub1"/>
            <p:cNvSpPr txBox="1"/>
            <p:nvPr/>
          </p:nvSpPr>
          <p:spPr>
            <a:xfrm>
              <a:off x="4703064"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Highest share worldwide</a:t>
              </a:r>
            </a:p>
          </p:txBody>
        </p:sp>
      </p:grpSp>
      <p:grpSp>
        <p:nvGrpSpPr>
          <p:cNvPr id="30" name="stat2"/>
          <p:cNvGrpSpPr/>
          <p:nvPr/>
        </p:nvGrpSpPr>
        <p:grpSpPr>
          <a:xfrm>
            <a:off x="8080248" y="1783080"/>
            <a:ext cx="3422904" cy="3794760"/>
            <a:chOff x="8080248" y="1783080"/>
            <a:chExt cx="3422904" cy="3794760"/>
          </a:xfrm>
        </p:grpSpPr>
        <p:sp>
          <p:nvSpPr>
            <p:cNvPr id="31" name="card2"/>
            <p:cNvSpPr/>
            <p:nvPr/>
          </p:nvSpPr>
          <p:spPr>
            <a:xfrm>
              <a:off x="8080248"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2" name="oval2"/>
            <p:cNvSpPr/>
            <p:nvPr/>
          </p:nvSpPr>
          <p:spPr>
            <a:xfrm>
              <a:off x="8400288" y="2103120"/>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33" name="icon2" descr="trend_redd.png"/>
            <p:cNvPicPr>
              <a:picLocks noChangeAspect="1"/>
            </p:cNvPicPr>
            <p:nvPr/>
          </p:nvPicPr>
          <p:blipFill>
            <a:blip r:embed="rId5"/>
            <a:stretch>
              <a:fillRect/>
            </a:stretch>
          </p:blipFill>
          <p:spPr>
            <a:xfrm>
              <a:off x="8569452" y="2272284"/>
              <a:ext cx="438912" cy="438912"/>
            </a:xfrm>
            <a:prstGeom prst="rect">
              <a:avLst/>
            </a:prstGeom>
          </p:spPr>
        </p:pic>
        <p:sp>
          <p:nvSpPr>
            <p:cNvPr id="34" name="big2"/>
            <p:cNvSpPr txBox="1"/>
            <p:nvPr/>
          </p:nvSpPr>
          <p:spPr>
            <a:xfrm>
              <a:off x="8400288" y="3063240"/>
              <a:ext cx="2874264" cy="914400"/>
            </a:xfrm>
            <a:prstGeom prst="rect">
              <a:avLst/>
            </a:prstGeom>
            <a:noFill/>
          </p:spPr>
          <p:txBody>
            <a:bodyPr wrap="square" lIns="0" tIns="0" rIns="0" bIns="0" anchor="t">
              <a:spAutoFit/>
            </a:bodyPr>
            <a:lstStyle/>
            <a:p>
              <a:pPr algn="l"/>
              <a:r>
                <a:rPr lang="en-US" sz="5400" b="0" i="0" dirty="0">
                  <a:solidFill>
                    <a:srgbClr val="DC2626"/>
                  </a:solidFill>
                  <a:latin typeface="Bahnschrift SemiBold"/>
                </a:rPr>
                <a:t>+67 %</a:t>
              </a:r>
            </a:p>
          </p:txBody>
        </p:sp>
        <p:sp>
          <p:nvSpPr>
            <p:cNvPr id="35" name="label2"/>
            <p:cNvSpPr txBox="1"/>
            <p:nvPr/>
          </p:nvSpPr>
          <p:spPr>
            <a:xfrm>
              <a:off x="8400288"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per extra kWh above 6,000 kWh / month</a:t>
              </a:r>
            </a:p>
          </p:txBody>
        </p:sp>
        <p:sp>
          <p:nvSpPr>
            <p:cNvPr id="36" name="sub2"/>
            <p:cNvSpPr txBox="1"/>
            <p:nvPr/>
          </p:nvSpPr>
          <p:spPr>
            <a:xfrm>
              <a:off x="8400288"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18 → 30 halalas / kWh</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anim calcmode="lin" valueType="num">
                                      <p:cBhvr>
                                        <p:cTn id="14" dur="450" fill="hold"/>
                                        <p:tgtEl>
                                          <p:spTgt spid="20"/>
                                        </p:tgtEl>
                                        <p:attrNameLst>
                                          <p:attrName>ppt_x</p:attrName>
                                        </p:attrNameLst>
                                      </p:cBhvr>
                                      <p:tavLst>
                                        <p:tav tm="0">
                                          <p:val>
                                            <p:strVal val="#ppt_x"/>
                                          </p:val>
                                        </p:tav>
                                        <p:tav tm="100000">
                                          <p:val>
                                            <p:strVal val="#ppt_x"/>
                                          </p:val>
                                        </p:tav>
                                      </p:tavLst>
                                    </p:anim>
                                    <p:anim calcmode="lin" valueType="num">
                                      <p:cBhvr>
                                        <p:cTn id="15" dur="45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65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anim calcmode="lin" valueType="num">
                                      <p:cBhvr>
                                        <p:cTn id="20" dur="450" fill="hold"/>
                                        <p:tgtEl>
                                          <p:spTgt spid="30"/>
                                        </p:tgtEl>
                                        <p:attrNameLst>
                                          <p:attrName>ppt_x</p:attrName>
                                        </p:attrNameLst>
                                      </p:cBhvr>
                                      <p:tavLst>
                                        <p:tav tm="0">
                                          <p:val>
                                            <p:strVal val="#ppt_x"/>
                                          </p:val>
                                        </p:tav>
                                        <p:tav tm="100000">
                                          <p:val>
                                            <p:strVal val="#ppt_x"/>
                                          </p:val>
                                        </p:tav>
                                      </p:tavLst>
                                    </p:anim>
                                    <p:anim calcmode="lin" valueType="num">
                                      <p:cBhvr>
                                        <p:cTn id="21"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45A0D21-20D7-45B6-B76C-28424A9AEB19}" type="slidenum">
              <a:rPr lang="en-US" sz="1100" b="0" i="0">
                <a:solidFill>
                  <a:srgbClr val="5B6B7F"/>
                </a:solidFill>
                <a:latin typeface="Bahnschrift"/>
              </a:rPr>
              <a:t>5</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What the single total hides</a:t>
            </a:r>
          </a:p>
        </p:txBody>
      </p:sp>
      <p:grpSp>
        <p:nvGrpSpPr>
          <p:cNvPr id="10" name="stat0"/>
          <p:cNvGrpSpPr/>
          <p:nvPr/>
        </p:nvGrpSpPr>
        <p:grpSpPr>
          <a:xfrm>
            <a:off x="685800" y="1783080"/>
            <a:ext cx="3422904" cy="3794760"/>
            <a:chOff x="685800" y="1783080"/>
            <a:chExt cx="3422904" cy="3794760"/>
          </a:xfrm>
        </p:grpSpPr>
        <p:sp>
          <p:nvSpPr>
            <p:cNvPr id="11" name="card0"/>
            <p:cNvSpPr/>
            <p:nvPr/>
          </p:nvSpPr>
          <p:spPr>
            <a:xfrm>
              <a:off x="685800"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0"/>
            <p:cNvSpPr/>
            <p:nvPr/>
          </p:nvSpPr>
          <p:spPr>
            <a:xfrm>
              <a:off x="1005840" y="2103120"/>
              <a:ext cx="777240" cy="7772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0" descr="chart_teald.png"/>
            <p:cNvPicPr>
              <a:picLocks noChangeAspect="1"/>
            </p:cNvPicPr>
            <p:nvPr/>
          </p:nvPicPr>
          <p:blipFill>
            <a:blip r:embed="rId3"/>
            <a:stretch>
              <a:fillRect/>
            </a:stretch>
          </p:blipFill>
          <p:spPr>
            <a:xfrm>
              <a:off x="1175004" y="2272284"/>
              <a:ext cx="438912" cy="438912"/>
            </a:xfrm>
            <a:prstGeom prst="rect">
              <a:avLst/>
            </a:prstGeom>
          </p:spPr>
        </p:pic>
        <p:sp>
          <p:nvSpPr>
            <p:cNvPr id="14" name="big0"/>
            <p:cNvSpPr txBox="1"/>
            <p:nvPr/>
          </p:nvSpPr>
          <p:spPr>
            <a:xfrm>
              <a:off x="1005840" y="3063240"/>
              <a:ext cx="2874264" cy="914400"/>
            </a:xfrm>
            <a:prstGeom prst="rect">
              <a:avLst/>
            </a:prstGeom>
            <a:noFill/>
          </p:spPr>
          <p:txBody>
            <a:bodyPr wrap="square" lIns="0" tIns="0" rIns="0" bIns="0" anchor="t">
              <a:spAutoFit/>
            </a:bodyPr>
            <a:lstStyle/>
            <a:p>
              <a:pPr algn="l"/>
              <a:r>
                <a:rPr lang="en-US" sz="5400" b="0" i="0" dirty="0">
                  <a:solidFill>
                    <a:srgbClr val="0F766E"/>
                  </a:solidFill>
                  <a:latin typeface="Bahnschrift SemiBold"/>
                </a:rPr>
                <a:t>14 %</a:t>
              </a:r>
            </a:p>
          </p:txBody>
        </p:sp>
        <p:sp>
          <p:nvSpPr>
            <p:cNvPr id="15" name="label0"/>
            <p:cNvSpPr txBox="1"/>
            <p:nvPr/>
          </p:nvSpPr>
          <p:spPr>
            <a:xfrm>
              <a:off x="1005840"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median electricity saved</a:t>
              </a:r>
            </a:p>
          </p:txBody>
        </p:sp>
        <p:sp>
          <p:nvSpPr>
            <p:cNvPr id="16" name="sub0"/>
            <p:cNvSpPr txBox="1"/>
            <p:nvPr/>
          </p:nvSpPr>
          <p:spPr>
            <a:xfrm>
              <a:off x="1005840"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with real-time, per-appliance feedback</a:t>
              </a:r>
            </a:p>
          </p:txBody>
        </p:sp>
      </p:grpSp>
      <p:grpSp>
        <p:nvGrpSpPr>
          <p:cNvPr id="20" name="stat1"/>
          <p:cNvGrpSpPr/>
          <p:nvPr/>
        </p:nvGrpSpPr>
        <p:grpSpPr>
          <a:xfrm>
            <a:off x="4383024" y="1783080"/>
            <a:ext cx="3422904" cy="3794760"/>
            <a:chOff x="4383024" y="1783080"/>
            <a:chExt cx="3422904" cy="3794760"/>
          </a:xfrm>
        </p:grpSpPr>
        <p:sp>
          <p:nvSpPr>
            <p:cNvPr id="21" name="card1"/>
            <p:cNvSpPr/>
            <p:nvPr/>
          </p:nvSpPr>
          <p:spPr>
            <a:xfrm>
              <a:off x="4383024"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oval1"/>
            <p:cNvSpPr/>
            <p:nvPr/>
          </p:nvSpPr>
          <p:spPr>
            <a:xfrm>
              <a:off x="4703064"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23" name="icon1" descr="pulse_amberd.png"/>
            <p:cNvPicPr>
              <a:picLocks noChangeAspect="1"/>
            </p:cNvPicPr>
            <p:nvPr/>
          </p:nvPicPr>
          <p:blipFill>
            <a:blip r:embed="rId4"/>
            <a:stretch>
              <a:fillRect/>
            </a:stretch>
          </p:blipFill>
          <p:spPr>
            <a:xfrm>
              <a:off x="4872228" y="2272284"/>
              <a:ext cx="438912" cy="438912"/>
            </a:xfrm>
            <a:prstGeom prst="rect">
              <a:avLst/>
            </a:prstGeom>
          </p:spPr>
        </p:pic>
        <p:sp>
          <p:nvSpPr>
            <p:cNvPr id="24" name="big1"/>
            <p:cNvSpPr txBox="1"/>
            <p:nvPr/>
          </p:nvSpPr>
          <p:spPr>
            <a:xfrm>
              <a:off x="4703064"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5–15 %</a:t>
              </a:r>
            </a:p>
          </p:txBody>
        </p:sp>
        <p:sp>
          <p:nvSpPr>
            <p:cNvPr id="25" name="label1"/>
            <p:cNvSpPr txBox="1"/>
            <p:nvPr/>
          </p:nvSpPr>
          <p:spPr>
            <a:xfrm>
              <a:off x="4703064"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extra AC energy from a dirty filter</a:t>
              </a:r>
            </a:p>
          </p:txBody>
        </p:sp>
        <p:sp>
          <p:nvSpPr>
            <p:cNvPr id="26" name="sub1"/>
            <p:cNvSpPr txBox="1"/>
            <p:nvPr/>
          </p:nvSpPr>
          <p:spPr>
            <a:xfrm>
              <a:off x="4703064"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Hidden in the total — visible per appliance</a:t>
              </a:r>
            </a:p>
          </p:txBody>
        </p:sp>
      </p:grpSp>
      <p:grpSp>
        <p:nvGrpSpPr>
          <p:cNvPr id="30" name="stat2"/>
          <p:cNvGrpSpPr/>
          <p:nvPr/>
        </p:nvGrpSpPr>
        <p:grpSpPr>
          <a:xfrm>
            <a:off x="8080248" y="1783080"/>
            <a:ext cx="3422904" cy="3794760"/>
            <a:chOff x="8080248" y="1783080"/>
            <a:chExt cx="3422904" cy="3794760"/>
          </a:xfrm>
        </p:grpSpPr>
        <p:sp>
          <p:nvSpPr>
            <p:cNvPr id="31" name="card2"/>
            <p:cNvSpPr/>
            <p:nvPr/>
          </p:nvSpPr>
          <p:spPr>
            <a:xfrm>
              <a:off x="8080248"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2" name="oval2"/>
            <p:cNvSpPr/>
            <p:nvPr/>
          </p:nvSpPr>
          <p:spPr>
            <a:xfrm>
              <a:off x="8400288" y="2103120"/>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33" name="icon2" descr="shield_redd.png"/>
            <p:cNvPicPr>
              <a:picLocks noChangeAspect="1"/>
            </p:cNvPicPr>
            <p:nvPr/>
          </p:nvPicPr>
          <p:blipFill>
            <a:blip r:embed="rId5"/>
            <a:stretch>
              <a:fillRect/>
            </a:stretch>
          </p:blipFill>
          <p:spPr>
            <a:xfrm>
              <a:off x="8569452" y="2272284"/>
              <a:ext cx="438912" cy="438912"/>
            </a:xfrm>
            <a:prstGeom prst="rect">
              <a:avLst/>
            </a:prstGeom>
          </p:spPr>
        </p:pic>
        <p:sp>
          <p:nvSpPr>
            <p:cNvPr id="34" name="big2"/>
            <p:cNvSpPr txBox="1"/>
            <p:nvPr/>
          </p:nvSpPr>
          <p:spPr>
            <a:xfrm>
              <a:off x="8400288" y="3063240"/>
              <a:ext cx="2874264" cy="914400"/>
            </a:xfrm>
            <a:prstGeom prst="rect">
              <a:avLst/>
            </a:prstGeom>
            <a:noFill/>
          </p:spPr>
          <p:txBody>
            <a:bodyPr wrap="square" lIns="0" tIns="0" rIns="0" bIns="0" anchor="t">
              <a:spAutoFit/>
            </a:bodyPr>
            <a:lstStyle/>
            <a:p>
              <a:pPr algn="l"/>
              <a:r>
                <a:rPr lang="en-US" sz="5400" b="0" i="0" dirty="0">
                  <a:solidFill>
                    <a:srgbClr val="DC2626"/>
                  </a:solidFill>
                  <a:latin typeface="Bahnschrift SemiBold"/>
                </a:rPr>
                <a:t>≈ 53</a:t>
              </a:r>
            </a:p>
          </p:txBody>
        </p:sp>
        <p:sp>
          <p:nvSpPr>
            <p:cNvPr id="35" name="label2"/>
            <p:cNvSpPr txBox="1"/>
            <p:nvPr/>
          </p:nvSpPr>
          <p:spPr>
            <a:xfrm>
              <a:off x="8400288"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house fires / day in KSA</a:t>
              </a:r>
            </a:p>
          </p:txBody>
        </p:sp>
        <p:sp>
          <p:nvSpPr>
            <p:cNvPr id="36" name="sub2"/>
            <p:cNvSpPr txBox="1"/>
            <p:nvPr/>
          </p:nvSpPr>
          <p:spPr>
            <a:xfrm>
              <a:off x="8400288"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#1 cause: electrical incidents</a:t>
              </a:r>
            </a:p>
          </p:txBody>
        </p:sp>
      </p:grpSp>
      <p:sp>
        <p:nvSpPr>
          <p:cNvPr id="50" name="src"/>
          <p:cNvSpPr txBox="1"/>
          <p:nvPr/>
        </p:nvSpPr>
        <p:spPr>
          <a:xfrm>
            <a:off x="685800" y="5742432"/>
            <a:ext cx="10817352" cy="548640"/>
          </a:xfrm>
          <a:prstGeom prst="rect">
            <a:avLst/>
          </a:prstGeom>
          <a:noFill/>
        </p:spPr>
        <p:txBody>
          <a:bodyPr wrap="square" lIns="0" tIns="0" rIns="0" bIns="0" anchor="t">
            <a:spAutoFit/>
          </a:bodyPr>
          <a:lstStyle/>
          <a:p>
            <a:pPr algn="l"/>
            <a:r>
              <a:rPr lang="en-US" sz="1050" b="0" i="1" dirty="0">
                <a:solidFill>
                  <a:srgbClr val="5B6B7F"/>
                </a:solidFill>
                <a:latin typeface="Segoe UI"/>
              </a:rPr>
              <a:t>14 %: ACEEE meta-review, 57 studies (2010) — an indication, not a promise.  ·  5–15 %: U.S. DOE, Energy Saver, “Maintaining your air conditioner”.</a:t>
            </a:r>
          </a:p>
          <a:p>
            <a:pPr algn="l"/>
            <a:r>
              <a:rPr lang="en-US" sz="1050" b="0" i="1" dirty="0">
                <a:solidFill>
                  <a:srgbClr val="5B6B7F"/>
                </a:solidFill>
                <a:latin typeface="Segoe UI"/>
              </a:rPr>
              <a:t>53 / day: 193,437 house fires in 10 years (Civil Defense via Arab News, 2015) ÷ 3,650 days.</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anim calcmode="lin" valueType="num">
                                      <p:cBhvr>
                                        <p:cTn id="14" dur="450" fill="hold"/>
                                        <p:tgtEl>
                                          <p:spTgt spid="20"/>
                                        </p:tgtEl>
                                        <p:attrNameLst>
                                          <p:attrName>ppt_x</p:attrName>
                                        </p:attrNameLst>
                                      </p:cBhvr>
                                      <p:tavLst>
                                        <p:tav tm="0">
                                          <p:val>
                                            <p:strVal val="#ppt_x"/>
                                          </p:val>
                                        </p:tav>
                                        <p:tav tm="100000">
                                          <p:val>
                                            <p:strVal val="#ppt_x"/>
                                          </p:val>
                                        </p:tav>
                                      </p:tavLst>
                                    </p:anim>
                                    <p:anim calcmode="lin" valueType="num">
                                      <p:cBhvr>
                                        <p:cTn id="15" dur="45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65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anim calcmode="lin" valueType="num">
                                      <p:cBhvr>
                                        <p:cTn id="20" dur="450" fill="hold"/>
                                        <p:tgtEl>
                                          <p:spTgt spid="30"/>
                                        </p:tgtEl>
                                        <p:attrNameLst>
                                          <p:attrName>ppt_x</p:attrName>
                                        </p:attrNameLst>
                                      </p:cBhvr>
                                      <p:tavLst>
                                        <p:tav tm="0">
                                          <p:val>
                                            <p:strVal val="#ppt_x"/>
                                          </p:val>
                                        </p:tav>
                                        <p:tav tm="100000">
                                          <p:val>
                                            <p:strVal val="#ppt_x"/>
                                          </p:val>
                                        </p:tav>
                                      </p:tavLst>
                                    </p:anim>
                                    <p:anim calcmode="lin" valueType="num">
                                      <p:cBhvr>
                                        <p:cTn id="21"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26B802E0-9DF8-4A7C-A685-6506FCA9C7F2}" type="slidenum">
              <a:rPr lang="en-US" sz="1100" b="0" i="0">
                <a:solidFill>
                  <a:srgbClr val="5B6B7F"/>
                </a:solidFill>
                <a:latin typeface="Bahnschrift"/>
              </a:rPr>
              <a:t>6</a:t>
            </a:fld>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One total vs. per-appliance visibility</a:t>
            </a:r>
          </a:p>
        </p:txBody>
      </p:sp>
      <p:grpSp>
        <p:nvGrpSpPr>
          <p:cNvPr id="10" name="g11"/>
          <p:cNvGrpSpPr/>
          <p:nvPr/>
        </p:nvGrpSpPr>
        <p:grpSpPr>
          <a:xfrm>
            <a:off x="685800" y="1783080"/>
            <a:ext cx="5074920" cy="4069080"/>
            <a:chOff x="685800" y="1783080"/>
            <a:chExt cx="5074920" cy="4069080"/>
          </a:xfrm>
        </p:grpSpPr>
        <p:sp>
          <p:nvSpPr>
            <p:cNvPr id="11" name="card11"/>
            <p:cNvSpPr/>
            <p:nvPr/>
          </p:nvSpPr>
          <p:spPr>
            <a:xfrm>
              <a:off x="685800" y="1783080"/>
              <a:ext cx="5074920" cy="4069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11"/>
            <p:cNvSpPr/>
            <p:nvPr/>
          </p:nvSpPr>
          <p:spPr>
            <a:xfrm>
              <a:off x="1005840" y="2103120"/>
              <a:ext cx="731520" cy="731520"/>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11" descr="meter"/>
            <p:cNvPicPr>
              <a:picLocks noChangeAspect="1"/>
            </p:cNvPicPr>
            <p:nvPr/>
          </p:nvPicPr>
          <p:blipFill>
            <a:blip r:embed="rIdI_meter"/>
            <a:stretch>
              <a:fillRect/>
            </a:stretch>
          </p:blipFill>
          <p:spPr>
            <a:xfrm>
              <a:off x="1179576" y="2276856"/>
              <a:ext cx="384048" cy="384048"/>
            </a:xfrm>
            <a:prstGeom prst="rect">
              <a:avLst/>
            </a:prstGeom>
          </p:spPr>
        </p:pic>
        <p:sp>
          <p:nvSpPr>
            <p:cNvPr id="14" name="title11"/>
            <p:cNvSpPr txBox="1"/>
            <p:nvPr/>
          </p:nvSpPr>
          <p:spPr>
            <a:xfrm>
              <a:off x="1965960" y="2112264"/>
              <a:ext cx="3611880" cy="411480"/>
            </a:xfrm>
            <a:prstGeom prst="rect">
              <a:avLst/>
            </a:prstGeom>
            <a:noFill/>
          </p:spPr>
          <p:txBody>
            <a:bodyPr wrap="square" lIns="0" tIns="0" rIns="0" bIns="0" anchor="t">
              <a:spAutoFit/>
            </a:bodyPr>
            <a:lstStyle/>
            <a:p>
              <a:pPr algn="l"/>
              <a:r>
                <a:rPr lang="en-US" sz="2200" b="0" i="0" dirty="0">
                  <a:solidFill>
                    <a:srgbClr val="0E1B2C"/>
                  </a:solidFill>
                  <a:latin typeface="Bahnschrift SemiBold"/>
                </a:rPr>
                <a:t>Conventional meter</a:t>
              </a:r>
            </a:p>
          </p:txBody>
        </p:sp>
        <p:sp>
          <p:nvSpPr>
            <p:cNvPr id="15" name="sub11"/>
            <p:cNvSpPr txBox="1"/>
            <p:nvPr/>
          </p:nvSpPr>
          <p:spPr>
            <a:xfrm>
              <a:off x="1965960" y="2532888"/>
              <a:ext cx="3611880" cy="320040"/>
            </a:xfrm>
            <a:prstGeom prst="rect">
              <a:avLst/>
            </a:prstGeom>
            <a:noFill/>
          </p:spPr>
          <p:txBody>
            <a:bodyPr wrap="square" lIns="0" tIns="0" rIns="0" bIns="0" anchor="t">
              <a:spAutoFit/>
            </a:bodyPr>
            <a:lstStyle/>
            <a:p>
              <a:pPr algn="l"/>
              <a:r>
                <a:rPr lang="en-US" sz="1400" b="0" i="0" dirty="0">
                  <a:solidFill>
                    <a:srgbClr val="5B6B7F"/>
                  </a:solidFill>
                  <a:latin typeface="Segoe UI"/>
                </a:rPr>
                <a:t>One number for the whole house</a:t>
              </a:r>
            </a:p>
          </p:txBody>
        </p:sp>
        <p:sp>
          <p:nvSpPr>
            <p:cNvPr id="21" name="qb21"/>
            <p:cNvSpPr/>
            <p:nvPr/>
          </p:nvSpPr>
          <p:spPr>
            <a:xfrm>
              <a:off x="1051560" y="3291840"/>
              <a:ext cx="402336" cy="402336"/>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qt21"/>
            <p:cNvSpPr txBox="1"/>
            <p:nvPr/>
          </p:nvSpPr>
          <p:spPr>
            <a:xfrm>
              <a:off x="1051560" y="3319272"/>
              <a:ext cx="402336" cy="347472"/>
            </a:xfrm>
            <a:prstGeom prst="rect">
              <a:avLst/>
            </a:prstGeom>
            <a:noFill/>
          </p:spPr>
          <p:txBody>
            <a:bodyPr wrap="square" lIns="0" tIns="0" rIns="0" bIns="0" anchor="ctr">
              <a:spAutoFit/>
            </a:bodyPr>
            <a:lstStyle/>
            <a:p>
              <a:pPr algn="ctr"/>
              <a:r>
                <a:rPr lang="en-US" sz="1600" b="0" i="0" dirty="0">
                  <a:solidFill>
                    <a:srgbClr val="DC2626"/>
                  </a:solidFill>
                  <a:latin typeface="Bahnschrift SemiBold"/>
                </a:rPr>
                <a:t>?</a:t>
              </a:r>
            </a:p>
          </p:txBody>
        </p:sp>
        <p:sp>
          <p:nvSpPr>
            <p:cNvPr id="24" name="row21"/>
            <p:cNvSpPr txBox="1"/>
            <p:nvPr/>
          </p:nvSpPr>
          <p:spPr>
            <a:xfrm>
              <a:off x="1645920" y="3273552"/>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Which appliance uses the most?</a:t>
              </a:r>
            </a:p>
          </p:txBody>
        </p:sp>
        <p:sp>
          <p:nvSpPr>
            <p:cNvPr id="25" name="qb25"/>
            <p:cNvSpPr/>
            <p:nvPr/>
          </p:nvSpPr>
          <p:spPr>
            <a:xfrm>
              <a:off x="1051560" y="4096512"/>
              <a:ext cx="402336" cy="402336"/>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6" name="qt25"/>
            <p:cNvSpPr txBox="1"/>
            <p:nvPr/>
          </p:nvSpPr>
          <p:spPr>
            <a:xfrm>
              <a:off x="1051560" y="4123944"/>
              <a:ext cx="402336" cy="347472"/>
            </a:xfrm>
            <a:prstGeom prst="rect">
              <a:avLst/>
            </a:prstGeom>
            <a:noFill/>
          </p:spPr>
          <p:txBody>
            <a:bodyPr wrap="square" lIns="0" tIns="0" rIns="0" bIns="0" anchor="ctr">
              <a:spAutoFit/>
            </a:bodyPr>
            <a:lstStyle/>
            <a:p>
              <a:pPr algn="ctr"/>
              <a:r>
                <a:rPr lang="en-US" sz="1600" b="0" i="0" dirty="0">
                  <a:solidFill>
                    <a:srgbClr val="DC2626"/>
                  </a:solidFill>
                  <a:latin typeface="Bahnschrift SemiBold"/>
                </a:rPr>
                <a:t>?</a:t>
              </a:r>
            </a:p>
          </p:txBody>
        </p:sp>
        <p:sp>
          <p:nvSpPr>
            <p:cNvPr id="28" name="row25"/>
            <p:cNvSpPr txBox="1"/>
            <p:nvPr/>
          </p:nvSpPr>
          <p:spPr>
            <a:xfrm>
              <a:off x="1645920" y="4078224"/>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Which load can wait?</a:t>
              </a:r>
            </a:p>
          </p:txBody>
        </p:sp>
        <p:sp>
          <p:nvSpPr>
            <p:cNvPr id="29" name="qb29"/>
            <p:cNvSpPr/>
            <p:nvPr/>
          </p:nvSpPr>
          <p:spPr>
            <a:xfrm>
              <a:off x="1051560" y="4901184"/>
              <a:ext cx="402336" cy="402336"/>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0" name="qt29"/>
            <p:cNvSpPr txBox="1"/>
            <p:nvPr/>
          </p:nvSpPr>
          <p:spPr>
            <a:xfrm>
              <a:off x="1051560" y="4928616"/>
              <a:ext cx="402336" cy="347472"/>
            </a:xfrm>
            <a:prstGeom prst="rect">
              <a:avLst/>
            </a:prstGeom>
            <a:noFill/>
          </p:spPr>
          <p:txBody>
            <a:bodyPr wrap="square" lIns="0" tIns="0" rIns="0" bIns="0" anchor="ctr">
              <a:spAutoFit/>
            </a:bodyPr>
            <a:lstStyle/>
            <a:p>
              <a:pPr algn="ctr"/>
              <a:r>
                <a:rPr lang="en-US" sz="1600" b="0" i="0" dirty="0">
                  <a:solidFill>
                    <a:srgbClr val="DC2626"/>
                  </a:solidFill>
                  <a:latin typeface="Bahnschrift SemiBold"/>
                </a:rPr>
                <a:t>?</a:t>
              </a:r>
            </a:p>
          </p:txBody>
        </p:sp>
        <p:sp>
          <p:nvSpPr>
            <p:cNvPr id="32" name="row29"/>
            <p:cNvSpPr txBox="1"/>
            <p:nvPr/>
          </p:nvSpPr>
          <p:spPr>
            <a:xfrm>
              <a:off x="1645920" y="4882896"/>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Which one is misbehaving?</a:t>
              </a:r>
            </a:p>
          </p:txBody>
        </p:sp>
      </p:grpSp>
      <p:sp>
        <p:nvSpPr>
          <p:cNvPr id="60" name="arrow"/>
          <p:cNvSpPr/>
          <p:nvPr/>
        </p:nvSpPr>
        <p:spPr>
          <a:xfrm>
            <a:off x="5870448" y="3611880"/>
            <a:ext cx="438912" cy="457200"/>
          </a:xfrm>
          <a:prstGeom prst="rightArrow">
            <a:avLst/>
          </a:prstGeom>
          <a:solidFill>
            <a:srgbClr val="0F766E"/>
          </a:solidFill>
          <a:ln>
            <a:noFill/>
          </a:ln>
        </p:spPr>
        <p:txBody>
          <a:bodyPr rtlCol="0" anchor="ctr"/>
          <a:lstStyle/>
          <a:p>
            <a:endParaRPr lang="en-US"/>
          </a:p>
        </p:txBody>
      </p:sp>
      <p:grpSp>
        <p:nvGrpSpPr>
          <p:cNvPr id="70" name="g71"/>
          <p:cNvGrpSpPr/>
          <p:nvPr/>
        </p:nvGrpSpPr>
        <p:grpSpPr>
          <a:xfrm>
            <a:off x="6428232" y="1783080"/>
            <a:ext cx="5074920" cy="4069080"/>
            <a:chOff x="6428232" y="1783080"/>
            <a:chExt cx="5074920" cy="4069080"/>
          </a:xfrm>
        </p:grpSpPr>
        <p:sp>
          <p:nvSpPr>
            <p:cNvPr id="71" name="card71"/>
            <p:cNvSpPr/>
            <p:nvPr/>
          </p:nvSpPr>
          <p:spPr>
            <a:xfrm>
              <a:off x="6428232" y="1783080"/>
              <a:ext cx="5074920" cy="4069080"/>
            </a:xfrm>
            <a:prstGeom prst="roundRect">
              <a:avLst>
                <a:gd name="adj" fmla="val 6666"/>
              </a:avLst>
            </a:prstGeom>
            <a:solidFill>
              <a:srgbClr val="E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2" name="oval71"/>
            <p:cNvSpPr/>
            <p:nvPr/>
          </p:nvSpPr>
          <p:spPr>
            <a:xfrm>
              <a:off x="6748272" y="2103120"/>
              <a:ext cx="731520" cy="73152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73" name="icon71" descr="plug"/>
            <p:cNvPicPr>
              <a:picLocks noChangeAspect="1"/>
            </p:cNvPicPr>
            <p:nvPr/>
          </p:nvPicPr>
          <p:blipFill>
            <a:blip r:embed="rIdI_plug"/>
            <a:stretch>
              <a:fillRect/>
            </a:stretch>
          </p:blipFill>
          <p:spPr>
            <a:xfrm>
              <a:off x="6922008" y="2276856"/>
              <a:ext cx="384048" cy="384048"/>
            </a:xfrm>
            <a:prstGeom prst="rect">
              <a:avLst/>
            </a:prstGeom>
          </p:spPr>
        </p:pic>
        <p:sp>
          <p:nvSpPr>
            <p:cNvPr id="74" name="title71"/>
            <p:cNvSpPr txBox="1"/>
            <p:nvPr/>
          </p:nvSpPr>
          <p:spPr>
            <a:xfrm>
              <a:off x="7708392" y="2112264"/>
              <a:ext cx="3611880" cy="411480"/>
            </a:xfrm>
            <a:prstGeom prst="rect">
              <a:avLst/>
            </a:prstGeom>
            <a:noFill/>
          </p:spPr>
          <p:txBody>
            <a:bodyPr wrap="square" lIns="0" tIns="0" rIns="0" bIns="0" anchor="t">
              <a:spAutoFit/>
            </a:bodyPr>
            <a:lstStyle/>
            <a:p>
              <a:pPr algn="l"/>
              <a:r>
                <a:rPr lang="en-US" sz="2200" b="0" i="0" dirty="0">
                  <a:solidFill>
                    <a:srgbClr val="0E1B2C"/>
                  </a:solidFill>
                  <a:latin typeface="Bahnschrift SemiBold"/>
                </a:rPr>
                <a:t>Per-appliance monitoring</a:t>
              </a:r>
            </a:p>
          </p:txBody>
        </p:sp>
        <p:sp>
          <p:nvSpPr>
            <p:cNvPr id="75" name="sub71"/>
            <p:cNvSpPr txBox="1"/>
            <p:nvPr/>
          </p:nvSpPr>
          <p:spPr>
            <a:xfrm>
              <a:off x="7708392" y="2532888"/>
              <a:ext cx="3611880" cy="320040"/>
            </a:xfrm>
            <a:prstGeom prst="rect">
              <a:avLst/>
            </a:prstGeom>
            <a:noFill/>
          </p:spPr>
          <p:txBody>
            <a:bodyPr wrap="square" lIns="0" tIns="0" rIns="0" bIns="0" anchor="t">
              <a:spAutoFit/>
            </a:bodyPr>
            <a:lstStyle/>
            <a:p>
              <a:pPr algn="l"/>
              <a:r>
                <a:rPr lang="en-US" sz="1400" b="0" i="0" dirty="0">
                  <a:solidFill>
                    <a:srgbClr val="5B6B7F"/>
                  </a:solidFill>
                  <a:latin typeface="Segoe UI"/>
                </a:rPr>
                <a:t>Every load measured on its own</a:t>
              </a:r>
            </a:p>
          </p:txBody>
        </p:sp>
        <p:sp>
          <p:nvSpPr>
            <p:cNvPr id="81" name="cb81"/>
            <p:cNvSpPr/>
            <p:nvPr/>
          </p:nvSpPr>
          <p:spPr>
            <a:xfrm>
              <a:off x="6793992" y="3291840"/>
              <a:ext cx="402336" cy="402336"/>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82" name="ci81" descr="check"/>
            <p:cNvPicPr>
              <a:picLocks noChangeAspect="1"/>
            </p:cNvPicPr>
            <p:nvPr/>
          </p:nvPicPr>
          <p:blipFill>
            <a:blip r:embed="rIdI_check"/>
            <a:stretch>
              <a:fillRect/>
            </a:stretch>
          </p:blipFill>
          <p:spPr>
            <a:xfrm>
              <a:off x="6867144" y="3364992"/>
              <a:ext cx="256032" cy="256032"/>
            </a:xfrm>
            <a:prstGeom prst="rect">
              <a:avLst/>
            </a:prstGeom>
          </p:spPr>
        </p:pic>
        <p:sp>
          <p:nvSpPr>
            <p:cNvPr id="84" name="row81"/>
            <p:cNvSpPr txBox="1"/>
            <p:nvPr/>
          </p:nvSpPr>
          <p:spPr>
            <a:xfrm>
              <a:off x="7388352" y="3273552"/>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V · I · P · kWh · ON/OFF per load</a:t>
              </a:r>
            </a:p>
          </p:txBody>
        </p:sp>
        <p:sp>
          <p:nvSpPr>
            <p:cNvPr id="85" name="cb85"/>
            <p:cNvSpPr/>
            <p:nvPr/>
          </p:nvSpPr>
          <p:spPr>
            <a:xfrm>
              <a:off x="6793992" y="4096512"/>
              <a:ext cx="402336" cy="402336"/>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86" name="ci85" descr="check"/>
            <p:cNvPicPr>
              <a:picLocks noChangeAspect="1"/>
            </p:cNvPicPr>
            <p:nvPr/>
          </p:nvPicPr>
          <p:blipFill>
            <a:blip r:embed="rIdI_check"/>
            <a:stretch>
              <a:fillRect/>
            </a:stretch>
          </p:blipFill>
          <p:spPr>
            <a:xfrm>
              <a:off x="6867144" y="4169664"/>
              <a:ext cx="256032" cy="256032"/>
            </a:xfrm>
            <a:prstGeom prst="rect">
              <a:avLst/>
            </a:prstGeom>
          </p:spPr>
        </p:pic>
        <p:sp>
          <p:nvSpPr>
            <p:cNvPr id="88" name="row85"/>
            <p:cNvSpPr txBox="1"/>
            <p:nvPr/>
          </p:nvSpPr>
          <p:spPr>
            <a:xfrm>
              <a:off x="7388352" y="4078224"/>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Cost per appliance → stay in budget</a:t>
              </a:r>
            </a:p>
          </p:txBody>
        </p:sp>
        <p:sp>
          <p:nvSpPr>
            <p:cNvPr id="89" name="cb89"/>
            <p:cNvSpPr/>
            <p:nvPr/>
          </p:nvSpPr>
          <p:spPr>
            <a:xfrm>
              <a:off x="6793992" y="4901184"/>
              <a:ext cx="402336" cy="402336"/>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90" name="ci89" descr="check"/>
            <p:cNvPicPr>
              <a:picLocks noChangeAspect="1"/>
            </p:cNvPicPr>
            <p:nvPr/>
          </p:nvPicPr>
          <p:blipFill>
            <a:blip r:embed="rIdI_check"/>
            <a:stretch>
              <a:fillRect/>
            </a:stretch>
          </p:blipFill>
          <p:spPr>
            <a:xfrm>
              <a:off x="6867144" y="4974336"/>
              <a:ext cx="256032" cy="256032"/>
            </a:xfrm>
            <a:prstGeom prst="rect">
              <a:avLst/>
            </a:prstGeom>
          </p:spPr>
        </p:pic>
        <p:sp>
          <p:nvSpPr>
            <p:cNvPr id="92" name="row89"/>
            <p:cNvSpPr txBox="1"/>
            <p:nvPr/>
          </p:nvSpPr>
          <p:spPr>
            <a:xfrm>
              <a:off x="7388352" y="4882896"/>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Essentials stay ON · early warnings</a:t>
              </a:r>
            </a:p>
          </p:txBody>
        </p:sp>
      </p:grpSp>
      <p:sp>
        <p:nvSpPr>
          <p:cNvPr id="99" name="tag"/>
          <p:cNvSpPr txBox="1"/>
          <p:nvPr/>
        </p:nvSpPr>
        <p:spPr>
          <a:xfrm>
            <a:off x="685800" y="5961888"/>
            <a:ext cx="10817352" cy="320040"/>
          </a:xfrm>
          <a:prstGeom prst="rect">
            <a:avLst/>
          </a:prstGeom>
          <a:noFill/>
        </p:spPr>
        <p:txBody>
          <a:bodyPr wrap="square" lIns="0" tIns="0" rIns="0" bIns="0" anchor="t">
            <a:spAutoFit/>
          </a:bodyPr>
          <a:lstStyle/>
          <a:p>
            <a:pPr algn="ctr"/>
            <a:r>
              <a:rPr lang="en-US" sz="1500" b="0" i="0" dirty="0">
                <a:solidFill>
                  <a:srgbClr val="5B6B7F"/>
                </a:solidFill>
                <a:latin typeface="Segoe UI Semibold"/>
              </a:rPr>
              <a:t xml:space="preserve">Not a luxury — </a:t>
            </a:r>
            <a:r>
              <a:rPr lang="en-US" sz="1500" b="0" i="0" dirty="0">
                <a:solidFill>
                  <a:srgbClr val="B45309"/>
                </a:solidFill>
                <a:latin typeface="Segoe UI Semibold"/>
              </a:rPr>
              <a:t>a need.</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 fill="hold">
                            <p:stCondLst>
                              <p:cond delay="150"/>
                            </p:stCondLst>
                            <p:childTnLst>
                              <p:par>
                                <p:cTn id="4" presetID="42" presetClass="entr" presetSubtype="0" fill="hold" nodeType="after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450"/>
                                        <p:tgtEl>
                                          <p:spTgt spid="10"/>
                                        </p:tgtEl>
                                      </p:cBhvr>
                                    </p:animEffect>
                                    <p:anim calcmode="lin" valueType="num">
                                      <p:cBhvr>
                                        <p:cTn id="7" dur="450" fill="hold"/>
                                        <p:tgtEl>
                                          <p:spTgt spid="10"/>
                                        </p:tgtEl>
                                        <p:attrNameLst>
                                          <p:attrName>ppt_x</p:attrName>
                                        </p:attrNameLst>
                                      </p:cBhvr>
                                      <p:tavLst>
                                        <p:tav tm="0">
                                          <p:val>
                                            <p:strVal val="#ppt_x"/>
                                          </p:val>
                                        </p:tav>
                                        <p:tav tm="100000">
                                          <p:val>
                                            <p:strVal val="#ppt_x"/>
                                          </p:val>
                                        </p:tav>
                                      </p:tavLst>
                                    </p:anim>
                                    <p:anim calcmode="lin" valueType="num">
                                      <p:cBhvr>
                                        <p:cTn id="8" dur="450" fill="hold"/>
                                        <p:tgtEl>
                                          <p:spTgt spid="10"/>
                                        </p:tgtEl>
                                        <p:attrNameLst>
                                          <p:attrName>ppt_y</p:attrName>
                                        </p:attrNameLst>
                                      </p:cBhvr>
                                      <p:tavLst>
                                        <p:tav tm="0">
                                          <p:val>
                                            <p:strVal val="#ppt_y+.1"/>
                                          </p:val>
                                        </p:tav>
                                        <p:tav tm="100000">
                                          <p:val>
                                            <p:strVal val="#ppt_y"/>
                                          </p:val>
                                        </p:tav>
                                      </p:tavLst>
                                    </p:anim>
                                  </p:childTnLst>
                                </p:cTn>
                              </p:par>
                            </p:childTnLst>
                          </p:cTn>
                        </p:par>
                        <p:par>
                          <p:cTn id="9" fill="hold">
                            <p:stCondLst>
                              <p:cond delay="450"/>
                            </p:stCondLst>
                            <p:childTnLst>
                              <p:par>
                                <p:cTn id="10" presetID="42" presetClass="entr" presetSubtype="0" fill="hold" nodeType="after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450"/>
                                        <p:tgtEl>
                                          <p:spTgt spid="60"/>
                                        </p:tgtEl>
                                      </p:cBhvr>
                                    </p:animEffect>
                                    <p:anim calcmode="lin" valueType="num">
                                      <p:cBhvr>
                                        <p:cTn id="13" dur="450" fill="hold"/>
                                        <p:tgtEl>
                                          <p:spTgt spid="60"/>
                                        </p:tgtEl>
                                        <p:attrNameLst>
                                          <p:attrName>ppt_x</p:attrName>
                                        </p:attrNameLst>
                                      </p:cBhvr>
                                      <p:tavLst>
                                        <p:tav tm="0">
                                          <p:val>
                                            <p:strVal val="#ppt_x"/>
                                          </p:val>
                                        </p:tav>
                                        <p:tav tm="100000">
                                          <p:val>
                                            <p:strVal val="#ppt_x"/>
                                          </p:val>
                                        </p:tav>
                                      </p:tavLst>
                                    </p:anim>
                                    <p:anim calcmode="lin" valueType="num">
                                      <p:cBhvr>
                                        <p:cTn id="14" dur="450" fill="hold"/>
                                        <p:tgtEl>
                                          <p:spTgt spid="60"/>
                                        </p:tgtEl>
                                        <p:attrNameLst>
                                          <p:attrName>ppt_y</p:attrName>
                                        </p:attrNameLst>
                                      </p:cBhvr>
                                      <p:tavLst>
                                        <p:tav tm="0">
                                          <p:val>
                                            <p:strVal val="#ppt_y+.1"/>
                                          </p:val>
                                        </p:tav>
                                        <p:tav tm="100000">
                                          <p:val>
                                            <p:strVal val="#ppt_y"/>
                                          </p:val>
                                        </p:tav>
                                      </p:tavLst>
                                    </p:anim>
                                  </p:childTnLst>
                                </p:cTn>
                              </p:par>
                            </p:childTnLst>
                          </p:cTn>
                        </p:par>
                        <p:par>
                          <p:cTn id="15" fill="hold">
                            <p:stCondLst>
                              <p:cond delay="750"/>
                            </p:stCondLst>
                            <p:childTnLst>
                              <p:par>
                                <p:cTn id="16" presetID="42" presetClass="entr" presetSubtype="0" fill="hold" nodeType="afterEffect">
                                  <p:stCondLst>
                                    <p:cond delay="0"/>
                                  </p:stCondLst>
                                  <p:childTnLst>
                                    <p:set>
                                      <p:cBhvr>
                                        <p:cTn id="17" dur="1" fill="hold">
                                          <p:stCondLst>
                                            <p:cond delay="0"/>
                                          </p:stCondLst>
                                        </p:cTn>
                                        <p:tgtEl>
                                          <p:spTgt spid="70"/>
                                        </p:tgtEl>
                                        <p:attrNameLst>
                                          <p:attrName>style.visibility</p:attrName>
                                        </p:attrNameLst>
                                      </p:cBhvr>
                                      <p:to>
                                        <p:strVal val="visible"/>
                                      </p:to>
                                    </p:set>
                                    <p:animEffect transition="in" filter="fade">
                                      <p:cBhvr>
                                        <p:cTn id="18" dur="450"/>
                                        <p:tgtEl>
                                          <p:spTgt spid="70"/>
                                        </p:tgtEl>
                                      </p:cBhvr>
                                    </p:animEffect>
                                    <p:anim calcmode="lin" valueType="num">
                                      <p:cBhvr>
                                        <p:cTn id="19" dur="450" fill="hold"/>
                                        <p:tgtEl>
                                          <p:spTgt spid="70"/>
                                        </p:tgtEl>
                                        <p:attrNameLst>
                                          <p:attrName>ppt_x</p:attrName>
                                        </p:attrNameLst>
                                      </p:cBhvr>
                                      <p:tavLst>
                                        <p:tav tm="0">
                                          <p:val>
                                            <p:strVal val="#ppt_x"/>
                                          </p:val>
                                        </p:tav>
                                        <p:tav tm="100000">
                                          <p:val>
                                            <p:strVal val="#ppt_x"/>
                                          </p:val>
                                        </p:tav>
                                      </p:tavLst>
                                    </p:anim>
                                    <p:anim calcmode="lin" valueType="num">
                                      <p:cBhvr>
                                        <p:cTn id="20" dur="450" fill="hold"/>
                                        <p:tgtEl>
                                          <p:spTgt spid="70"/>
                                        </p:tgtEl>
                                        <p:attrNameLst>
                                          <p:attrName>ppt_y</p:attrName>
                                        </p:attrNameLst>
                                      </p:cBhvr>
                                      <p:tavLst>
                                        <p:tav tm="0">
                                          <p:val>
                                            <p:strVal val="#ppt_y+.1"/>
                                          </p:val>
                                        </p:tav>
                                        <p:tav tm="100000">
                                          <p:val>
                                            <p:strVal val="#ppt_y"/>
                                          </p:val>
                                        </p:tav>
                                      </p:tavLst>
                                    </p:anim>
                                  </p:childTnLst>
                                </p:cTn>
                              </p:par>
                            </p:childTnLst>
                          </p:cTn>
                        </p:par>
                        <p:par>
                          <p:cTn id="21" fill="hold">
                            <p:stCondLst>
                              <p:cond delay="1050"/>
                            </p:stCondLst>
                            <p:childTnLst>
                              <p:par>
                                <p:cTn id="22" presetID="42" presetClass="entr" presetSubtype="0" fill="hold" nodeType="afterEffect">
                                  <p:stCondLst>
                                    <p:cond delay="0"/>
                                  </p:stCondLst>
                                  <p:childTnLst>
                                    <p:set>
                                      <p:cBhvr>
                                        <p:cTn id="23" dur="1" fill="hold">
                                          <p:stCondLst>
                                            <p:cond delay="0"/>
                                          </p:stCondLst>
                                        </p:cTn>
                                        <p:tgtEl>
                                          <p:spTgt spid="99"/>
                                        </p:tgtEl>
                                        <p:attrNameLst>
                                          <p:attrName>style.visibility</p:attrName>
                                        </p:attrNameLst>
                                      </p:cBhvr>
                                      <p:to>
                                        <p:strVal val="visible"/>
                                      </p:to>
                                    </p:set>
                                    <p:animEffect transition="in" filter="fade">
                                      <p:cBhvr>
                                        <p:cTn id="24" dur="450"/>
                                        <p:tgtEl>
                                          <p:spTgt spid="99"/>
                                        </p:tgtEl>
                                      </p:cBhvr>
                                    </p:animEffect>
                                    <p:anim calcmode="lin" valueType="num">
                                      <p:cBhvr>
                                        <p:cTn id="25" dur="450" fill="hold"/>
                                        <p:tgtEl>
                                          <p:spTgt spid="99"/>
                                        </p:tgtEl>
                                        <p:attrNameLst>
                                          <p:attrName>ppt_x</p:attrName>
                                        </p:attrNameLst>
                                      </p:cBhvr>
                                      <p:tavLst>
                                        <p:tav tm="0">
                                          <p:val>
                                            <p:strVal val="#ppt_x"/>
                                          </p:val>
                                        </p:tav>
                                        <p:tav tm="100000">
                                          <p:val>
                                            <p:strVal val="#ppt_x"/>
                                          </p:val>
                                        </p:tav>
                                      </p:tavLst>
                                    </p:anim>
                                    <p:anim calcmode="lin" valueType="num">
                                      <p:cBhvr>
                                        <p:cTn id="26" dur="450" fill="hold"/>
                                        <p:tgtEl>
                                          <p:spTgt spid="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AAEE00B3-0198-4C61-B59D-6772A34BF1B9}" type="slidenum">
              <a:rPr lang="en-US" sz="1100" b="0" i="0">
                <a:solidFill>
                  <a:srgbClr val="5B6B7F"/>
                </a:solidFill>
                <a:latin typeface="Bahnschrift"/>
              </a:rPr>
              <a:t>7</a:t>
            </a:fld>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Priority control &amp; abnormal warning</a:t>
            </a:r>
          </a:p>
        </p:txBody>
      </p:sp>
      <p:grpSp>
        <p:nvGrpSpPr>
          <p:cNvPr id="10" name="g11"/>
          <p:cNvGrpSpPr/>
          <p:nvPr/>
        </p:nvGrpSpPr>
        <p:grpSpPr>
          <a:xfrm>
            <a:off x="685800" y="1783080"/>
            <a:ext cx="5074920" cy="4069080"/>
            <a:chOff x="685800" y="1783080"/>
            <a:chExt cx="5074920" cy="4069080"/>
          </a:xfrm>
        </p:grpSpPr>
        <p:sp>
          <p:nvSpPr>
            <p:cNvPr id="11" name="card11"/>
            <p:cNvSpPr/>
            <p:nvPr/>
          </p:nvSpPr>
          <p:spPr>
            <a:xfrm>
              <a:off x="685800" y="1783080"/>
              <a:ext cx="5074920" cy="4069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11"/>
            <p:cNvSpPr/>
            <p:nvPr/>
          </p:nvSpPr>
          <p:spPr>
            <a:xfrm>
              <a:off x="1005840" y="2103120"/>
              <a:ext cx="731520" cy="73152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11" descr="sort"/>
            <p:cNvPicPr>
              <a:picLocks noChangeAspect="1"/>
            </p:cNvPicPr>
            <p:nvPr/>
          </p:nvPicPr>
          <p:blipFill>
            <a:blip r:embed="rIdI_sort"/>
            <a:stretch>
              <a:fillRect/>
            </a:stretch>
          </p:blipFill>
          <p:spPr>
            <a:xfrm>
              <a:off x="1179576" y="2276856"/>
              <a:ext cx="384048" cy="384048"/>
            </a:xfrm>
            <a:prstGeom prst="rect">
              <a:avLst/>
            </a:prstGeom>
          </p:spPr>
        </p:pic>
        <p:sp>
          <p:nvSpPr>
            <p:cNvPr id="14" name="title11"/>
            <p:cNvSpPr txBox="1"/>
            <p:nvPr/>
          </p:nvSpPr>
          <p:spPr>
            <a:xfrm>
              <a:off x="1965960" y="2112264"/>
              <a:ext cx="3611880" cy="411480"/>
            </a:xfrm>
            <a:prstGeom prst="rect">
              <a:avLst/>
            </a:prstGeom>
            <a:noFill/>
          </p:spPr>
          <p:txBody>
            <a:bodyPr wrap="square" lIns="0" tIns="0" rIns="0" bIns="0" anchor="t">
              <a:spAutoFit/>
            </a:bodyPr>
            <a:lstStyle/>
            <a:p>
              <a:pPr algn="l"/>
              <a:r>
                <a:rPr lang="en-US" sz="2200" b="0" i="0" dirty="0">
                  <a:solidFill>
                    <a:srgbClr val="0E1B2C"/>
                  </a:solidFill>
                  <a:latin typeface="Bahnschrift SemiBold"/>
                </a:rPr>
                <a:t>Priority-based control</a:t>
              </a:r>
            </a:p>
          </p:txBody>
        </p:sp>
        <p:sp>
          <p:nvSpPr>
            <p:cNvPr id="15" name="sub11"/>
            <p:cNvSpPr txBox="1"/>
            <p:nvPr/>
          </p:nvSpPr>
          <p:spPr>
            <a:xfrm>
              <a:off x="1965960" y="2532888"/>
              <a:ext cx="3611880" cy="320040"/>
            </a:xfrm>
            <a:prstGeom prst="rect">
              <a:avLst/>
            </a:prstGeom>
            <a:noFill/>
          </p:spPr>
          <p:txBody>
            <a:bodyPr wrap="square" lIns="0" tIns="0" rIns="0" bIns="0" anchor="t">
              <a:spAutoFit/>
            </a:bodyPr>
            <a:lstStyle/>
            <a:p>
              <a:pPr algn="l"/>
              <a:r>
                <a:rPr lang="en-US" sz="1400" b="0" i="0" dirty="0">
                  <a:solidFill>
                    <a:srgbClr val="5B6B7F"/>
                  </a:solidFill>
                  <a:latin typeface="Segoe UI"/>
                </a:rPr>
                <a:t>Core function</a:t>
              </a:r>
            </a:p>
          </p:txBody>
        </p:sp>
        <p:sp>
          <p:nvSpPr>
            <p:cNvPr id="21" name="nb21"/>
            <p:cNvSpPr/>
            <p:nvPr/>
          </p:nvSpPr>
          <p:spPr>
            <a:xfrm>
              <a:off x="1051560" y="3291840"/>
              <a:ext cx="402336" cy="40233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nt21"/>
            <p:cNvSpPr txBox="1"/>
            <p:nvPr/>
          </p:nvSpPr>
          <p:spPr>
            <a:xfrm>
              <a:off x="1051560" y="3328416"/>
              <a:ext cx="402336" cy="329184"/>
            </a:xfrm>
            <a:prstGeom prst="rect">
              <a:avLst/>
            </a:prstGeom>
            <a:noFill/>
          </p:spPr>
          <p:txBody>
            <a:bodyPr wrap="square" lIns="0" tIns="0" rIns="0" bIns="0" anchor="ctr">
              <a:spAutoFit/>
            </a:bodyPr>
            <a:lstStyle/>
            <a:p>
              <a:pPr algn="ctr"/>
              <a:r>
                <a:rPr lang="en-US" sz="1500" b="0" i="0" dirty="0">
                  <a:solidFill>
                    <a:srgbClr val="FFFFFF"/>
                  </a:solidFill>
                  <a:latin typeface="Bahnschrift SemiBold"/>
                </a:rPr>
                <a:t>1</a:t>
              </a:r>
            </a:p>
          </p:txBody>
        </p:sp>
        <p:sp>
          <p:nvSpPr>
            <p:cNvPr id="24" name="row21"/>
            <p:cNvSpPr txBox="1"/>
            <p:nvPr/>
          </p:nvSpPr>
          <p:spPr>
            <a:xfrm>
              <a:off x="1645920" y="3273552"/>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User sets load priorities</a:t>
              </a:r>
            </a:p>
          </p:txBody>
        </p:sp>
        <p:sp>
          <p:nvSpPr>
            <p:cNvPr id="25" name="nb25"/>
            <p:cNvSpPr/>
            <p:nvPr/>
          </p:nvSpPr>
          <p:spPr>
            <a:xfrm>
              <a:off x="1051560" y="4096512"/>
              <a:ext cx="402336" cy="40233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6" name="nt25"/>
            <p:cNvSpPr txBox="1"/>
            <p:nvPr/>
          </p:nvSpPr>
          <p:spPr>
            <a:xfrm>
              <a:off x="1051560" y="4133088"/>
              <a:ext cx="402336" cy="329184"/>
            </a:xfrm>
            <a:prstGeom prst="rect">
              <a:avLst/>
            </a:prstGeom>
            <a:noFill/>
          </p:spPr>
          <p:txBody>
            <a:bodyPr wrap="square" lIns="0" tIns="0" rIns="0" bIns="0" anchor="ctr">
              <a:spAutoFit/>
            </a:bodyPr>
            <a:lstStyle/>
            <a:p>
              <a:pPr algn="ctr"/>
              <a:r>
                <a:rPr lang="en-US" sz="1500" b="0" i="0" dirty="0">
                  <a:solidFill>
                    <a:srgbClr val="FFFFFF"/>
                  </a:solidFill>
                  <a:latin typeface="Bahnschrift SemiBold"/>
                </a:rPr>
                <a:t>2</a:t>
              </a:r>
            </a:p>
          </p:txBody>
        </p:sp>
        <p:sp>
          <p:nvSpPr>
            <p:cNvPr id="28" name="row25"/>
            <p:cNvSpPr txBox="1"/>
            <p:nvPr/>
          </p:nvSpPr>
          <p:spPr>
            <a:xfrm>
              <a:off x="1645920" y="4078224"/>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Demand &gt; limit → shed lowest first</a:t>
              </a:r>
            </a:p>
          </p:txBody>
        </p:sp>
        <p:sp>
          <p:nvSpPr>
            <p:cNvPr id="29" name="nb29"/>
            <p:cNvSpPr/>
            <p:nvPr/>
          </p:nvSpPr>
          <p:spPr>
            <a:xfrm>
              <a:off x="1051560" y="4901184"/>
              <a:ext cx="402336" cy="40233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0" name="nt29"/>
            <p:cNvSpPr txBox="1"/>
            <p:nvPr/>
          </p:nvSpPr>
          <p:spPr>
            <a:xfrm>
              <a:off x="1051560" y="4937760"/>
              <a:ext cx="402336" cy="329184"/>
            </a:xfrm>
            <a:prstGeom prst="rect">
              <a:avLst/>
            </a:prstGeom>
            <a:noFill/>
          </p:spPr>
          <p:txBody>
            <a:bodyPr wrap="square" lIns="0" tIns="0" rIns="0" bIns="0" anchor="ctr">
              <a:spAutoFit/>
            </a:bodyPr>
            <a:lstStyle/>
            <a:p>
              <a:pPr algn="ctr"/>
              <a:r>
                <a:rPr lang="en-US" sz="1500" b="0" i="0" dirty="0">
                  <a:solidFill>
                    <a:srgbClr val="FFFFFF"/>
                  </a:solidFill>
                  <a:latin typeface="Bahnschrift SemiBold"/>
                </a:rPr>
                <a:t>3</a:t>
              </a:r>
            </a:p>
          </p:txBody>
        </p:sp>
        <p:sp>
          <p:nvSpPr>
            <p:cNvPr id="32" name="row29"/>
            <p:cNvSpPr txBox="1"/>
            <p:nvPr/>
          </p:nvSpPr>
          <p:spPr>
            <a:xfrm>
              <a:off x="1645920" y="4882896"/>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Essential loads stay ON</a:t>
              </a:r>
            </a:p>
          </p:txBody>
        </p:sp>
      </p:grpSp>
      <p:grpSp>
        <p:nvGrpSpPr>
          <p:cNvPr id="70" name="g71"/>
          <p:cNvGrpSpPr/>
          <p:nvPr/>
        </p:nvGrpSpPr>
        <p:grpSpPr>
          <a:xfrm>
            <a:off x="6428232" y="1783080"/>
            <a:ext cx="5074920" cy="4069080"/>
            <a:chOff x="6428232" y="1783080"/>
            <a:chExt cx="5074920" cy="4069080"/>
          </a:xfrm>
        </p:grpSpPr>
        <p:sp>
          <p:nvSpPr>
            <p:cNvPr id="71" name="card71"/>
            <p:cNvSpPr/>
            <p:nvPr/>
          </p:nvSpPr>
          <p:spPr>
            <a:xfrm>
              <a:off x="6428232" y="1783080"/>
              <a:ext cx="5074920" cy="4069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2" name="oval71"/>
            <p:cNvSpPr/>
            <p:nvPr/>
          </p:nvSpPr>
          <p:spPr>
            <a:xfrm>
              <a:off x="6748272" y="2103120"/>
              <a:ext cx="731520" cy="73152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73" name="icon71" descr="bell"/>
            <p:cNvPicPr>
              <a:picLocks noChangeAspect="1"/>
            </p:cNvPicPr>
            <p:nvPr/>
          </p:nvPicPr>
          <p:blipFill>
            <a:blip r:embed="rIdI_bell"/>
            <a:stretch>
              <a:fillRect/>
            </a:stretch>
          </p:blipFill>
          <p:spPr>
            <a:xfrm>
              <a:off x="6922008" y="2276856"/>
              <a:ext cx="384048" cy="384048"/>
            </a:xfrm>
            <a:prstGeom prst="rect">
              <a:avLst/>
            </a:prstGeom>
          </p:spPr>
        </p:pic>
        <p:sp>
          <p:nvSpPr>
            <p:cNvPr id="74" name="title71"/>
            <p:cNvSpPr txBox="1"/>
            <p:nvPr/>
          </p:nvSpPr>
          <p:spPr>
            <a:xfrm>
              <a:off x="7708392" y="2112264"/>
              <a:ext cx="3611880" cy="411480"/>
            </a:xfrm>
            <a:prstGeom prst="rect">
              <a:avLst/>
            </a:prstGeom>
            <a:noFill/>
          </p:spPr>
          <p:txBody>
            <a:bodyPr wrap="square" lIns="0" tIns="0" rIns="0" bIns="0" anchor="t">
              <a:spAutoFit/>
            </a:bodyPr>
            <a:lstStyle/>
            <a:p>
              <a:pPr algn="l"/>
              <a:r>
                <a:rPr lang="en-US" sz="2200" b="0" i="0" dirty="0">
                  <a:solidFill>
                    <a:srgbClr val="0E1B2C"/>
                  </a:solidFill>
                  <a:latin typeface="Bahnschrift SemiBold"/>
                </a:rPr>
                <a:t>Abnormal warning</a:t>
              </a:r>
            </a:p>
          </p:txBody>
        </p:sp>
        <p:sp>
          <p:nvSpPr>
            <p:cNvPr id="75" name="sub71"/>
            <p:cNvSpPr txBox="1"/>
            <p:nvPr/>
          </p:nvSpPr>
          <p:spPr>
            <a:xfrm>
              <a:off x="7708392" y="2532888"/>
              <a:ext cx="3611880" cy="320040"/>
            </a:xfrm>
            <a:prstGeom prst="rect">
              <a:avLst/>
            </a:prstGeom>
            <a:noFill/>
          </p:spPr>
          <p:txBody>
            <a:bodyPr wrap="square" lIns="0" tIns="0" rIns="0" bIns="0" anchor="t">
              <a:spAutoFit/>
            </a:bodyPr>
            <a:lstStyle/>
            <a:p>
              <a:pPr algn="l"/>
              <a:r>
                <a:rPr lang="en-US" sz="1400" b="0" i="0" dirty="0">
                  <a:solidFill>
                    <a:srgbClr val="5B6B7F"/>
                  </a:solidFill>
                  <a:latin typeface="Segoe UI"/>
                </a:rPr>
                <a:t>Supporting function</a:t>
              </a:r>
            </a:p>
          </p:txBody>
        </p:sp>
        <p:sp>
          <p:nvSpPr>
            <p:cNvPr id="81" name="ib81"/>
            <p:cNvSpPr/>
            <p:nvPr/>
          </p:nvSpPr>
          <p:spPr>
            <a:xfrm>
              <a:off x="6793992" y="3291840"/>
              <a:ext cx="402336" cy="402336"/>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82" name="ii81" descr="pulse"/>
            <p:cNvPicPr>
              <a:picLocks noChangeAspect="1"/>
            </p:cNvPicPr>
            <p:nvPr/>
          </p:nvPicPr>
          <p:blipFill>
            <a:blip r:embed="rIdI_pulse"/>
            <a:stretch>
              <a:fillRect/>
            </a:stretch>
          </p:blipFill>
          <p:spPr>
            <a:xfrm>
              <a:off x="6867144" y="3364992"/>
              <a:ext cx="256032" cy="256032"/>
            </a:xfrm>
            <a:prstGeom prst="rect">
              <a:avLst/>
            </a:prstGeom>
          </p:spPr>
        </p:pic>
        <p:sp>
          <p:nvSpPr>
            <p:cNvPr id="84" name="row81"/>
            <p:cNvSpPr txBox="1"/>
            <p:nvPr/>
          </p:nvSpPr>
          <p:spPr>
            <a:xfrm>
              <a:off x="7388352" y="3273552"/>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Deviation from baseline</a:t>
              </a:r>
            </a:p>
          </p:txBody>
        </p:sp>
        <p:sp>
          <p:nvSpPr>
            <p:cNvPr id="85" name="ib85"/>
            <p:cNvSpPr/>
            <p:nvPr/>
          </p:nvSpPr>
          <p:spPr>
            <a:xfrm>
              <a:off x="6793992" y="4096512"/>
              <a:ext cx="402336" cy="402336"/>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86" name="ii85" descr="bell"/>
            <p:cNvPicPr>
              <a:picLocks noChangeAspect="1"/>
            </p:cNvPicPr>
            <p:nvPr/>
          </p:nvPicPr>
          <p:blipFill>
            <a:blip r:embed="rIdI_bell"/>
            <a:stretch>
              <a:fillRect/>
            </a:stretch>
          </p:blipFill>
          <p:spPr>
            <a:xfrm>
              <a:off x="6867144" y="4169664"/>
              <a:ext cx="256032" cy="256032"/>
            </a:xfrm>
            <a:prstGeom prst="rect">
              <a:avLst/>
            </a:prstGeom>
          </p:spPr>
        </p:pic>
        <p:sp>
          <p:nvSpPr>
            <p:cNvPr id="88" name="row85"/>
            <p:cNvSpPr txBox="1"/>
            <p:nvPr/>
          </p:nvSpPr>
          <p:spPr>
            <a:xfrm>
              <a:off x="7388352" y="4078224"/>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User warning</a:t>
              </a:r>
            </a:p>
          </p:txBody>
        </p:sp>
        <p:sp>
          <p:nvSpPr>
            <p:cNvPr id="89" name="ib89"/>
            <p:cNvSpPr/>
            <p:nvPr/>
          </p:nvSpPr>
          <p:spPr>
            <a:xfrm>
              <a:off x="6793992" y="4901184"/>
              <a:ext cx="402336" cy="402336"/>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90" name="ii89" descr="check"/>
            <p:cNvPicPr>
              <a:picLocks noChangeAspect="1"/>
            </p:cNvPicPr>
            <p:nvPr/>
          </p:nvPicPr>
          <p:blipFill>
            <a:blip r:embed="rIdI_check"/>
            <a:stretch>
              <a:fillRect/>
            </a:stretch>
          </p:blipFill>
          <p:spPr>
            <a:xfrm>
              <a:off x="6867144" y="4974336"/>
              <a:ext cx="256032" cy="256032"/>
            </a:xfrm>
            <a:prstGeom prst="rect">
              <a:avLst/>
            </a:prstGeom>
          </p:spPr>
        </p:pic>
        <p:sp>
          <p:nvSpPr>
            <p:cNvPr id="92" name="row89"/>
            <p:cNvSpPr txBox="1"/>
            <p:nvPr/>
          </p:nvSpPr>
          <p:spPr>
            <a:xfrm>
              <a:off x="7388352" y="4882896"/>
              <a:ext cx="3886200" cy="457200"/>
            </a:xfrm>
            <a:prstGeom prst="rect">
              <a:avLst/>
            </a:prstGeom>
            <a:noFill/>
          </p:spPr>
          <p:txBody>
            <a:bodyPr wrap="square" lIns="0" tIns="0" rIns="0" bIns="0" anchor="ctr">
              <a:spAutoFit/>
            </a:bodyPr>
            <a:lstStyle/>
            <a:p>
              <a:pPr algn="l"/>
              <a:r>
                <a:rPr lang="en-US" sz="1700" b="0" i="0" dirty="0">
                  <a:solidFill>
                    <a:srgbClr val="0E1B2C"/>
                  </a:solidFill>
                  <a:latin typeface="Segoe UI"/>
                </a:rPr>
                <a:t>Supports — not replaces — control</a:t>
              </a:r>
            </a:p>
          </p:txBody>
        </p:sp>
      </p:grpSp>
      <p:sp>
        <p:nvSpPr>
          <p:cNvPr id="99" name="src"/>
          <p:cNvSpPr txBox="1"/>
          <p:nvPr/>
        </p:nvSpPr>
        <p:spPr>
          <a:xfrm>
            <a:off x="685800" y="5989320"/>
            <a:ext cx="10817352" cy="274320"/>
          </a:xfrm>
          <a:prstGeom prst="rect">
            <a:avLst/>
          </a:prstGeom>
          <a:noFill/>
        </p:spPr>
        <p:txBody>
          <a:bodyPr wrap="square" lIns="0" tIns="0" rIns="0" bIns="0" anchor="t">
            <a:spAutoFit/>
          </a:bodyPr>
          <a:lstStyle/>
          <a:p>
            <a:pPr algn="l"/>
            <a:r>
              <a:rPr lang="en-US" sz="1100" b="0" i="1" dirty="0">
                <a:solidFill>
                  <a:srgbClr val="5B6B7F"/>
                </a:solidFill>
                <a:latin typeface="Segoe UI"/>
              </a:rPr>
              <a:t>Priority scheduling concept: [4]  ·  Appliance anomaly detection: Rashid et al. [5]</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 fill="hold">
                            <p:stCondLst>
                              <p:cond delay="150"/>
                            </p:stCondLst>
                            <p:childTnLst>
                              <p:par>
                                <p:cTn id="4" presetID="42" presetClass="entr" presetSubtype="0" fill="hold" nodeType="after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450"/>
                                        <p:tgtEl>
                                          <p:spTgt spid="10"/>
                                        </p:tgtEl>
                                      </p:cBhvr>
                                    </p:animEffect>
                                    <p:anim calcmode="lin" valueType="num">
                                      <p:cBhvr>
                                        <p:cTn id="7" dur="450" fill="hold"/>
                                        <p:tgtEl>
                                          <p:spTgt spid="10"/>
                                        </p:tgtEl>
                                        <p:attrNameLst>
                                          <p:attrName>ppt_x</p:attrName>
                                        </p:attrNameLst>
                                      </p:cBhvr>
                                      <p:tavLst>
                                        <p:tav tm="0">
                                          <p:val>
                                            <p:strVal val="#ppt_x"/>
                                          </p:val>
                                        </p:tav>
                                        <p:tav tm="100000">
                                          <p:val>
                                            <p:strVal val="#ppt_x"/>
                                          </p:val>
                                        </p:tav>
                                      </p:tavLst>
                                    </p:anim>
                                    <p:anim calcmode="lin" valueType="num">
                                      <p:cBhvr>
                                        <p:cTn id="8" dur="450" fill="hold"/>
                                        <p:tgtEl>
                                          <p:spTgt spid="10"/>
                                        </p:tgtEl>
                                        <p:attrNameLst>
                                          <p:attrName>ppt_y</p:attrName>
                                        </p:attrNameLst>
                                      </p:cBhvr>
                                      <p:tavLst>
                                        <p:tav tm="0">
                                          <p:val>
                                            <p:strVal val="#ppt_y+.1"/>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450"/>
                                        <p:tgtEl>
                                          <p:spTgt spid="70"/>
                                        </p:tgtEl>
                                      </p:cBhvr>
                                    </p:animEffect>
                                    <p:anim calcmode="lin" valueType="num">
                                      <p:cBhvr>
                                        <p:cTn id="13" dur="450" fill="hold"/>
                                        <p:tgtEl>
                                          <p:spTgt spid="70"/>
                                        </p:tgtEl>
                                        <p:attrNameLst>
                                          <p:attrName>ppt_x</p:attrName>
                                        </p:attrNameLst>
                                      </p:cBhvr>
                                      <p:tavLst>
                                        <p:tav tm="0">
                                          <p:val>
                                            <p:strVal val="#ppt_x"/>
                                          </p:val>
                                        </p:tav>
                                        <p:tav tm="100000">
                                          <p:val>
                                            <p:strVal val="#ppt_x"/>
                                          </p:val>
                                        </p:tav>
                                      </p:tavLst>
                                    </p:anim>
                                    <p:anim calcmode="lin" valueType="num">
                                      <p:cBhvr>
                                        <p:cTn id="14" dur="450" fill="hold"/>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2"/>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02</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Problem Statement</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The engineering need</a:t>
            </a:r>
          </a:p>
        </p:txBody>
      </p:sp>
      <p:pic>
        <p:nvPicPr>
          <p:cNvPr id="5" name="dicon" descr="warning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8E587B3-30AB-464A-B604-1AD587AA0C53}" type="slidenum">
              <a:rPr lang="en-US" sz="1100" b="0" i="0">
                <a:solidFill>
                  <a:srgbClr val="5B6B7F"/>
                </a:solidFill>
                <a:latin typeface="Bahnschrift"/>
              </a:rPr>
              <a:t>9</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What households face today</a:t>
            </a:r>
          </a:p>
        </p:txBody>
      </p:sp>
      <p:grpSp>
        <p:nvGrpSpPr>
          <p:cNvPr id="10" name="pb0"/>
          <p:cNvGrpSpPr/>
          <p:nvPr/>
        </p:nvGrpSpPr>
        <p:grpSpPr>
          <a:xfrm>
            <a:off x="685800" y="1810512"/>
            <a:ext cx="10817352" cy="749808"/>
            <a:chOff x="685800" y="1810512"/>
            <a:chExt cx="10817352" cy="749808"/>
          </a:xfrm>
        </p:grpSpPr>
        <p:sp>
          <p:nvSpPr>
            <p:cNvPr id="6" name="Rounded Rectangle 5"/>
            <p:cNvSpPr/>
            <p:nvPr/>
          </p:nvSpPr>
          <p:spPr>
            <a:xfrm>
              <a:off x="685800" y="1810512"/>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868680" y="1911095"/>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eye_redd.png"/>
            <p:cNvPicPr>
              <a:picLocks noChangeAspect="1"/>
            </p:cNvPicPr>
            <p:nvPr/>
          </p:nvPicPr>
          <p:blipFill>
            <a:blip r:embed="rId3"/>
            <a:stretch>
              <a:fillRect/>
            </a:stretch>
          </p:blipFill>
          <p:spPr>
            <a:xfrm>
              <a:off x="989380" y="2031796"/>
              <a:ext cx="307238" cy="307238"/>
            </a:xfrm>
            <a:prstGeom prst="rect">
              <a:avLst/>
            </a:prstGeom>
          </p:spPr>
        </p:pic>
        <p:sp>
          <p:nvSpPr>
            <p:cNvPr id="9" name="TextBox 8"/>
            <p:cNvSpPr txBox="1"/>
            <p:nvPr/>
          </p:nvSpPr>
          <p:spPr>
            <a:xfrm>
              <a:off x="1691640" y="1965960"/>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No per-appliance visibility</a:t>
              </a:r>
            </a:p>
          </p:txBody>
        </p:sp>
      </p:grpSp>
      <p:grpSp>
        <p:nvGrpSpPr>
          <p:cNvPr id="15" name="pb1"/>
          <p:cNvGrpSpPr/>
          <p:nvPr/>
        </p:nvGrpSpPr>
        <p:grpSpPr>
          <a:xfrm>
            <a:off x="685800" y="2697480"/>
            <a:ext cx="10817352" cy="749808"/>
            <a:chOff x="685800" y="2697480"/>
            <a:chExt cx="10817352" cy="749808"/>
          </a:xfrm>
        </p:grpSpPr>
        <p:sp>
          <p:nvSpPr>
            <p:cNvPr id="11" name="Rounded Rectangle 10"/>
            <p:cNvSpPr/>
            <p:nvPr/>
          </p:nvSpPr>
          <p:spPr>
            <a:xfrm>
              <a:off x="685800" y="2697480"/>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Oval 11"/>
            <p:cNvSpPr/>
            <p:nvPr/>
          </p:nvSpPr>
          <p:spPr>
            <a:xfrm>
              <a:off x="868680" y="2798064"/>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bolt_redd.png"/>
            <p:cNvPicPr>
              <a:picLocks noChangeAspect="1"/>
            </p:cNvPicPr>
            <p:nvPr/>
          </p:nvPicPr>
          <p:blipFill>
            <a:blip r:embed="rId4"/>
            <a:stretch>
              <a:fillRect/>
            </a:stretch>
          </p:blipFill>
          <p:spPr>
            <a:xfrm>
              <a:off x="989380" y="2918764"/>
              <a:ext cx="307238" cy="307238"/>
            </a:xfrm>
            <a:prstGeom prst="rect">
              <a:avLst/>
            </a:prstGeom>
          </p:spPr>
        </p:pic>
        <p:sp>
          <p:nvSpPr>
            <p:cNvPr id="14" name="TextBox 13"/>
            <p:cNvSpPr txBox="1"/>
            <p:nvPr/>
          </p:nvSpPr>
          <p:spPr>
            <a:xfrm>
              <a:off x="1691640" y="2852928"/>
              <a:ext cx="9144000" cy="369332"/>
            </a:xfrm>
            <a:prstGeom prst="rect">
              <a:avLst/>
            </a:prstGeom>
            <a:noFill/>
          </p:spPr>
          <p:txBody>
            <a:bodyPr wrap="square" lIns="0" tIns="0" rIns="0" bIns="0" anchor="t">
              <a:spAutoFit/>
            </a:bodyPr>
            <a:lstStyle/>
            <a:p>
              <a:pPr algn="l"/>
              <a:r>
                <a:rPr sz="2400" b="0" i="0" dirty="0">
                  <a:solidFill>
                    <a:srgbClr val="0E1B2C"/>
                  </a:solidFill>
                  <a:latin typeface="Bahnschrift SemiBold"/>
                </a:rPr>
                <a:t>Heavy-demand loads</a:t>
              </a:r>
            </a:p>
          </p:txBody>
        </p:sp>
      </p:grpSp>
      <p:grpSp>
        <p:nvGrpSpPr>
          <p:cNvPr id="20" name="pb2"/>
          <p:cNvGrpSpPr/>
          <p:nvPr/>
        </p:nvGrpSpPr>
        <p:grpSpPr>
          <a:xfrm>
            <a:off x="685800" y="3584448"/>
            <a:ext cx="10817352" cy="749808"/>
            <a:chOff x="685800" y="3584448"/>
            <a:chExt cx="10817352" cy="749808"/>
          </a:xfrm>
        </p:grpSpPr>
        <p:sp>
          <p:nvSpPr>
            <p:cNvPr id="16" name="Rounded Rectangle 15"/>
            <p:cNvSpPr/>
            <p:nvPr/>
          </p:nvSpPr>
          <p:spPr>
            <a:xfrm>
              <a:off x="685800" y="3584448"/>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868680" y="3685032"/>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trend_redd.png"/>
            <p:cNvPicPr>
              <a:picLocks noChangeAspect="1"/>
            </p:cNvPicPr>
            <p:nvPr/>
          </p:nvPicPr>
          <p:blipFill>
            <a:blip r:embed="rId5"/>
            <a:stretch>
              <a:fillRect/>
            </a:stretch>
          </p:blipFill>
          <p:spPr>
            <a:xfrm>
              <a:off x="989380" y="3805732"/>
              <a:ext cx="307238" cy="307238"/>
            </a:xfrm>
            <a:prstGeom prst="rect">
              <a:avLst/>
            </a:prstGeom>
          </p:spPr>
        </p:pic>
        <p:sp>
          <p:nvSpPr>
            <p:cNvPr id="19" name="TextBox 18"/>
            <p:cNvSpPr txBox="1"/>
            <p:nvPr/>
          </p:nvSpPr>
          <p:spPr>
            <a:xfrm>
              <a:off x="1691640" y="3739896"/>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Costs rise unnoticed</a:t>
              </a:r>
            </a:p>
          </p:txBody>
        </p:sp>
      </p:grpSp>
      <p:grpSp>
        <p:nvGrpSpPr>
          <p:cNvPr id="25" name="pb3"/>
          <p:cNvGrpSpPr/>
          <p:nvPr/>
        </p:nvGrpSpPr>
        <p:grpSpPr>
          <a:xfrm>
            <a:off x="685800" y="4471416"/>
            <a:ext cx="10817352" cy="749808"/>
            <a:chOff x="685800" y="4471416"/>
            <a:chExt cx="10817352" cy="749808"/>
          </a:xfrm>
        </p:grpSpPr>
        <p:sp>
          <p:nvSpPr>
            <p:cNvPr id="21" name="Rounded Rectangle 20"/>
            <p:cNvSpPr/>
            <p:nvPr/>
          </p:nvSpPr>
          <p:spPr>
            <a:xfrm>
              <a:off x="685800" y="4471416"/>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868680" y="4572000"/>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ort_redd.png"/>
            <p:cNvPicPr>
              <a:picLocks noChangeAspect="1"/>
            </p:cNvPicPr>
            <p:nvPr/>
          </p:nvPicPr>
          <p:blipFill>
            <a:blip r:embed="rId6"/>
            <a:stretch>
              <a:fillRect/>
            </a:stretch>
          </p:blipFill>
          <p:spPr>
            <a:xfrm>
              <a:off x="989380" y="4692700"/>
              <a:ext cx="307238" cy="307238"/>
            </a:xfrm>
            <a:prstGeom prst="rect">
              <a:avLst/>
            </a:prstGeom>
          </p:spPr>
        </p:pic>
        <p:sp>
          <p:nvSpPr>
            <p:cNvPr id="24" name="TextBox 23"/>
            <p:cNvSpPr txBox="1"/>
            <p:nvPr/>
          </p:nvSpPr>
          <p:spPr>
            <a:xfrm>
              <a:off x="1691640" y="4626864"/>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Essentials not prioritised</a:t>
              </a:r>
            </a:p>
          </p:txBody>
        </p:sp>
      </p:grpSp>
      <p:grpSp>
        <p:nvGrpSpPr>
          <p:cNvPr id="30" name="pb4"/>
          <p:cNvGrpSpPr/>
          <p:nvPr/>
        </p:nvGrpSpPr>
        <p:grpSpPr>
          <a:xfrm>
            <a:off x="685800" y="5358383"/>
            <a:ext cx="10817352" cy="749808"/>
            <a:chOff x="685800" y="5358383"/>
            <a:chExt cx="10817352" cy="749808"/>
          </a:xfrm>
        </p:grpSpPr>
        <p:sp>
          <p:nvSpPr>
            <p:cNvPr id="26" name="Rounded Rectangle 25"/>
            <p:cNvSpPr/>
            <p:nvPr/>
          </p:nvSpPr>
          <p:spPr>
            <a:xfrm>
              <a:off x="685800" y="5358383"/>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868680" y="5458968"/>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pulse_redd.png"/>
            <p:cNvPicPr>
              <a:picLocks noChangeAspect="1"/>
            </p:cNvPicPr>
            <p:nvPr/>
          </p:nvPicPr>
          <p:blipFill>
            <a:blip r:embed="rId7"/>
            <a:stretch>
              <a:fillRect/>
            </a:stretch>
          </p:blipFill>
          <p:spPr>
            <a:xfrm>
              <a:off x="989380" y="5579668"/>
              <a:ext cx="307238" cy="307238"/>
            </a:xfrm>
            <a:prstGeom prst="rect">
              <a:avLst/>
            </a:prstGeom>
          </p:spPr>
        </p:pic>
        <p:sp>
          <p:nvSpPr>
            <p:cNvPr id="29" name="TextBox 28"/>
            <p:cNvSpPr txBox="1"/>
            <p:nvPr/>
          </p:nvSpPr>
          <p:spPr>
            <a:xfrm>
              <a:off x="1691640" y="5513831"/>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Abnormal behaviour hidden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anim calcmode="lin" valueType="num">
                                      <p:cBhvr>
                                        <p:cTn id="14" dur="450" fill="hold"/>
                                        <p:tgtEl>
                                          <p:spTgt spid="15"/>
                                        </p:tgtEl>
                                        <p:attrNameLst>
                                          <p:attrName>ppt_x</p:attrName>
                                        </p:attrNameLst>
                                      </p:cBhvr>
                                      <p:tavLst>
                                        <p:tav tm="0">
                                          <p:val>
                                            <p:strVal val="#ppt_x"/>
                                          </p:val>
                                        </p:tav>
                                        <p:tav tm="100000">
                                          <p:val>
                                            <p:strVal val="#ppt_x"/>
                                          </p:val>
                                        </p:tav>
                                      </p:tavLst>
                                    </p:anim>
                                    <p:anim calcmode="lin" valueType="num">
                                      <p:cBhvr>
                                        <p:cTn id="15" dur="45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1"/>
                                          </p:val>
                                        </p:tav>
                                        <p:tav tm="100000">
                                          <p:val>
                                            <p:strVal val="#ppt_y"/>
                                          </p:val>
                                        </p:tav>
                                      </p:tavLst>
                                    </p:anim>
                                  </p:childTnLst>
                                </p:cTn>
                              </p:par>
                            </p:childTnLst>
                          </p:cTn>
                        </p:par>
                        <p:par>
                          <p:cTn id="28" fill="hold">
                            <p:stCondLst>
                              <p:cond delay="2200"/>
                            </p:stCondLst>
                            <p:childTnLst>
                              <p:par>
                                <p:cTn id="29" presetID="42" presetClass="entr" presetSubtype="0" fill="hold" nodeType="afterEffect">
                                  <p:stCondLst>
                                    <p:cond delay="1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anim calcmode="lin" valueType="num">
                                      <p:cBhvr>
                                        <p:cTn id="32" dur="450" fill="hold"/>
                                        <p:tgtEl>
                                          <p:spTgt spid="30"/>
                                        </p:tgtEl>
                                        <p:attrNameLst>
                                          <p:attrName>ppt_x</p:attrName>
                                        </p:attrNameLst>
                                      </p:cBhvr>
                                      <p:tavLst>
                                        <p:tav tm="0">
                                          <p:val>
                                            <p:strVal val="#ppt_x"/>
                                          </p:val>
                                        </p:tav>
                                        <p:tav tm="100000">
                                          <p:val>
                                            <p:strVal val="#ppt_x"/>
                                          </p:val>
                                        </p:tav>
                                      </p:tavLst>
                                    </p:anim>
                                    <p:anim calcmode="lin" valueType="num">
                                      <p:cBhvr>
                                        <p:cTn id="33"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mc:AlternateContent xmlns:mc="http://schemas.openxmlformats.org/markup-compatibility/2006" xmlns:p14="http://schemas.microsoft.com/office/powerpoint/2010/main">
  <mc:Choice Requires="p14">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8E587B3-30AB-464A-B604-1AD587AA0C53}" type="slidenum">
                  <a:rPr lang="en-US" sz="1100" b="0" i="0">
                    <a:solidFill>
                      <a:srgbClr val="5B6B7F"/>
                    </a:solidFill>
                    <a:latin typeface="Bahnschrift"/>
                  </a:rPr>
                  <a:t>10</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615553"/>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Two core problems</a:t>
                </a:r>
                <a:endParaRPr sz="4000" b="0" i="0" dirty="0">
                  <a:solidFill>
                    <a:srgbClr val="0E1B2C"/>
                  </a:solidFill>
                  <a:latin typeface="Bahnschrift SemiBold"/>
                </a:endParaRPr>
              </a:p>
            </p:txBody>
          </p:sp>
          <p:grpSp>
            <p:nvGrpSpPr>
              <p:cNvPr id="10" name="card10"/>
              <p:cNvGrpSpPr/>
              <p:nvPr/>
            </p:nvGrpSpPr>
            <p:grpSpPr>
              <a:xfrm>
                <a:off x="685800" y="1810512"/>
                <a:ext cx="10817352" cy="1600200"/>
                <a:chOff x="685800" y="1810512"/>
                <a:chExt cx="10817352" cy="1600200"/>
              </a:xfrm>
            </p:grpSpPr>
            <p:sp>
              <p:nvSpPr>
                <p:cNvPr id="6" name="Card 6"/>
                <p:cNvSpPr/>
                <p:nvPr/>
              </p:nvSpPr>
              <p:spPr>
                <a:xfrm>
                  <a:off x="685800" y="1810512"/>
                  <a:ext cx="10817352" cy="1600200"/>
                </a:xfrm>
                <a:prstGeom prst="roundRect">
                  <a:avLst>
                    <a:gd name="adj" fmla="val 16000"/>
                  </a:avLst>
                </a:prstGeom>
                <a:solidFill>
                  <a:srgbClr val="F1F5F9"/>
                </a:solidFill>
                <a:ln>
                  <a:noFill/>
                </a:ln>
                <a:effectLst/>
              </p:spPr>
              <p:txBody>
                <a:bodyPr rtlCol="0" anchor="ctr"/>
                <a:lstStyle/>
                <a:p>
                  <a:endParaRPr lang="en-US"/>
                </a:p>
              </p:txBody>
            </p:sp>
            <p:sp>
              <p:nvSpPr>
                <p:cNvPr id="7" name="Icon circle 7"/>
                <p:cNvSpPr/>
                <p:nvPr/>
              </p:nvSpPr>
              <p:spPr>
                <a:xfrm>
                  <a:off x="868680" y="2290572"/>
                  <a:ext cx="640080" cy="640080"/>
                </a:xfrm>
                <a:prstGeom prst="ellipse">
                  <a:avLst/>
                </a:prstGeom>
                <a:solidFill>
                  <a:srgbClr val="FEE2E2"/>
                </a:solidFill>
                <a:ln>
                  <a:noFill/>
                </a:ln>
                <a:effectLst/>
              </p:spPr>
              <p:txBody>
                <a:bodyPr rtlCol="0" anchor="ctr"/>
                <a:lstStyle/>
                <a:p>
                  <a:endParaRPr lang="en-US"/>
                </a:p>
              </p:txBody>
            </p:sp>
            <p:pic>
              <p:nvPicPr>
                <p:cNvPr id="8" name="Icon 8" descr="eye_redd.png"/>
                <p:cNvPicPr>
                  <a:picLocks noChangeAspect="1"/>
                </p:cNvPicPr>
                <p:nvPr/>
              </p:nvPicPr>
              <p:blipFill>
                <a:blip r:embed="rId3"/>
                <a:stretch>
                  <a:fillRect/>
                </a:stretch>
              </p:blipFill>
              <p:spPr>
                <a:xfrm>
                  <a:off x="1005840" y="2427732"/>
                  <a:ext cx="365760" cy="365760"/>
                </a:xfrm>
                <a:prstGeom prst="rect">
                  <a:avLst/>
                </a:prstGeom>
              </p:spPr>
            </p:pic>
            <p:sp>
              <p:nvSpPr>
                <p:cNvPr id="9" name="Text 9"/>
                <p:cNvSpPr txBox="1"/>
                <p:nvPr/>
              </p:nvSpPr>
              <p:spPr>
                <a:xfrm>
                  <a:off x="1691640" y="1947672"/>
                  <a:ext cx="9445752" cy="1325880"/>
                </a:xfrm>
                <a:prstGeom prst="rect">
                  <a:avLst/>
                </a:prstGeom>
                <a:noFill/>
              </p:spPr>
              <p:txBody>
                <a:bodyPr wrap="square" lIns="0" tIns="0" rIns="0" bIns="0" anchor="ctr">
                  <a:noAutofit/>
                </a:bodyPr>
                <a:lstStyle/>
                <a:p>
                  <a:pPr algn="l"/>
                  <a:r>
                    <a:rPr lang="en-US" sz="2400" b="0" i="0">
                      <a:solidFill>
                        <a:srgbClr val="0E1B2C"/>
                      </a:solidFill>
                      <a:latin typeface="Bahnschrift SemiBold"/>
                    </a:rPr>
                    <a:t>Limited visibility of energy &amp; cost</a:t>
                  </a:r>
                </a:p>
                <a:p>
                  <a:pPr algn="l">
                    <a:spcBef>
                      <a:spcPts val="800"/>
                    </a:spcBef>
                  </a:pPr>
                  <a:r>
                    <a:rPr lang="en-US" sz="1600" b="0" i="0">
                      <a:solidFill>
                        <a:srgbClr val="475569"/>
                      </a:solidFill>
                      <a:latin typeface="Segoe UI"/>
                    </a:rPr>
                    <a:t>Conventional meters report only total household energy, making it hard to track individual appliances or spot abnormal behaviour.</a:t>
                  </a:r>
                </a:p>
              </p:txBody>
            </p:sp>
          </p:grpSp>
          <p:grpSp>
            <p:nvGrpSpPr>
              <p:cNvPr id="15" name="card15"/>
              <p:cNvGrpSpPr/>
              <p:nvPr/>
            </p:nvGrpSpPr>
            <p:grpSpPr>
              <a:xfrm>
                <a:off x="685800" y="3639312"/>
                <a:ext cx="10817352" cy="1600200"/>
                <a:chOff x="685800" y="3639312"/>
                <a:chExt cx="10817352" cy="1600200"/>
              </a:xfrm>
            </p:grpSpPr>
            <p:sp>
              <p:nvSpPr>
                <p:cNvPr id="11" name="Card 11"/>
                <p:cNvSpPr/>
                <p:nvPr/>
              </p:nvSpPr>
              <p:spPr>
                <a:xfrm>
                  <a:off x="685800" y="3639312"/>
                  <a:ext cx="10817352" cy="1600200"/>
                </a:xfrm>
                <a:prstGeom prst="roundRect">
                  <a:avLst>
                    <a:gd name="adj" fmla="val 16000"/>
                  </a:avLst>
                </a:prstGeom>
                <a:solidFill>
                  <a:srgbClr val="F1F5F9"/>
                </a:solidFill>
                <a:ln>
                  <a:noFill/>
                </a:ln>
                <a:effectLst/>
              </p:spPr>
              <p:txBody>
                <a:bodyPr rtlCol="0" anchor="ctr"/>
                <a:lstStyle/>
                <a:p>
                  <a:endParaRPr lang="en-US"/>
                </a:p>
              </p:txBody>
            </p:sp>
            <p:sp>
              <p:nvSpPr>
                <p:cNvPr id="12" name="Icon circle 12"/>
                <p:cNvSpPr/>
                <p:nvPr/>
              </p:nvSpPr>
              <p:spPr>
                <a:xfrm>
                  <a:off x="868680" y="4119372"/>
                  <a:ext cx="640080" cy="640080"/>
                </a:xfrm>
                <a:prstGeom prst="ellipse">
                  <a:avLst/>
                </a:prstGeom>
                <a:solidFill>
                  <a:srgbClr val="FEE2E2"/>
                </a:solidFill>
                <a:ln>
                  <a:noFill/>
                </a:ln>
                <a:effectLst/>
              </p:spPr>
              <p:txBody>
                <a:bodyPr rtlCol="0" anchor="ctr"/>
                <a:lstStyle/>
                <a:p>
                  <a:endParaRPr lang="en-US"/>
                </a:p>
              </p:txBody>
            </p:sp>
            <p:pic>
              <p:nvPicPr>
                <p:cNvPr id="13" name="Icon 13" descr="sort_redd.png"/>
                <p:cNvPicPr>
                  <a:picLocks noChangeAspect="1"/>
                </p:cNvPicPr>
                <p:nvPr/>
              </p:nvPicPr>
              <p:blipFill>
                <a:blip r:embed="rId4"/>
                <a:stretch>
                  <a:fillRect/>
                </a:stretch>
              </p:blipFill>
              <p:spPr>
                <a:xfrm>
                  <a:off x="1005840" y="4256532"/>
                  <a:ext cx="365760" cy="365760"/>
                </a:xfrm>
                <a:prstGeom prst="rect">
                  <a:avLst/>
                </a:prstGeom>
              </p:spPr>
            </p:pic>
            <p:sp>
              <p:nvSpPr>
                <p:cNvPr id="14" name="Text 14"/>
                <p:cNvSpPr txBox="1"/>
                <p:nvPr/>
              </p:nvSpPr>
              <p:spPr>
                <a:xfrm>
                  <a:off x="1691640" y="3776472"/>
                  <a:ext cx="9445752" cy="1325880"/>
                </a:xfrm>
                <a:prstGeom prst="rect">
                  <a:avLst/>
                </a:prstGeom>
                <a:noFill/>
              </p:spPr>
              <p:txBody>
                <a:bodyPr wrap="square" lIns="0" tIns="0" rIns="0" bIns="0" anchor="ctr">
                  <a:noAutofit/>
                </a:bodyPr>
                <a:lstStyle/>
                <a:p>
                  <a:pPr algn="l"/>
                  <a:r>
                    <a:rPr lang="en-US" sz="2400" b="0" i="0">
                      <a:solidFill>
                        <a:srgbClr val="0E1B2C"/>
                      </a:solidFill>
                      <a:latin typeface="Bahnschrift SemiBold"/>
                    </a:rPr>
                    <a:t>Lack of priority-based load control</a:t>
                  </a:r>
                </a:p>
                <a:p>
                  <a:pPr algn="l">
                    <a:spcBef>
                      <a:spcPts val="800"/>
                    </a:spcBef>
                  </a:pPr>
                  <a:r>
                    <a:rPr lang="en-US" sz="1600" b="0" i="0">
                      <a:solidFill>
                        <a:srgbClr val="475569"/>
                      </a:solidFill>
                      <a:latin typeface="Segoe UI"/>
                    </a:rPr>
                    <a:t>High-demand appliances run at the same time without real-time tracking, and essential loads are not prioritised when power is limited.</a:t>
                  </a:r>
                </a:p>
              </p:txBody>
            </p:sp>
          </p:grpSp>
        </p:spTree>
        <p:extLst>
          <p:ext uri="{BB962C8B-B14F-4D97-AF65-F5344CB8AC3E}">
            <p14:creationId val="3281241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550"/>
                          </p:stCondLst>
                          <p:childTnLst>
                            <p:par>
                              <p:cTn id="9" fill="hold">
                                <p:stCondLst>
                                  <p:cond delay="0"/>
                                </p:stCondLst>
                                <p:childTnLst>
                                  <p:par>
                                    <p:cTn id="10" presetID="10" presetClass="entr" presetSubtype="0" fill="hold" nodeType="afterEffect">
                                      <p:stCondLst>
                                        <p:cond delay="1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mc:Choice>
  <mc:Fallback xmlns:p14="http://schemas.microsoft.com/office/powerpoint/2010/main" xmlns="" xmlns:a="http://schemas.openxmlformats.org/drawingml/2006/main" xmlns:r="http://schemas.openxmlformats.org/officeDocument/2006/relationships" xmlns:p="http://schemas.openxmlformats.org/presentationml/2006/main" xmlns:mc="http://schemas.openxmlformats.org/markup-compatibility/2006">
    <p:transition spd="med">
      <p:fade/>
    </p:transition>
  </mc:Fallback>
</mc:AlternateContent>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730AC84E-AEE1-45CE-B00D-192BC8FB1455}" type="slidenum">
              <a:rPr lang="en-US" sz="1100" b="0" i="0">
                <a:solidFill>
                  <a:srgbClr val="5B6B7F"/>
                </a:solidFill>
                <a:latin typeface="Bahnschrift"/>
              </a:rPr>
              <a:t>11</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Problem statement</a:t>
            </a:r>
          </a:p>
        </p:txBody>
      </p:sp>
      <p:sp>
        <p:nvSpPr>
          <p:cNvPr id="40" name="stmt_card"/>
          <p:cNvSpPr/>
          <p:nvPr/>
        </p:nvSpPr>
        <p:spPr>
          <a:xfrm>
            <a:off x="685800" y="1737360"/>
            <a:ext cx="10817352" cy="22402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41" name="statement"/>
          <p:cNvSpPr txBox="1"/>
          <p:nvPr/>
        </p:nvSpPr>
        <p:spPr>
          <a:xfrm>
            <a:off x="1051560" y="1965960"/>
            <a:ext cx="10085832" cy="1828800"/>
          </a:xfrm>
          <a:prstGeom prst="rect">
            <a:avLst/>
          </a:prstGeom>
          <a:noFill/>
        </p:spPr>
        <p:txBody>
          <a:bodyPr wrap="square" lIns="0" tIns="0" rIns="0" bIns="0" anchor="ctr">
            <a:spAutoFit/>
          </a:bodyPr>
          <a:lstStyle/>
          <a:p>
            <a:pPr algn="l">
              <a:lnSpc>
                <a:spcPct val="118000"/>
              </a:lnSpc>
            </a:pPr>
            <a:r>
              <a:rPr lang="en-US" sz="2200" b="0" i="0" dirty="0">
                <a:solidFill>
                  <a:srgbClr val="0E1B2C"/>
                </a:solidFill>
                <a:latin typeface="Segoe UI"/>
              </a:rPr>
              <a:t>There is a need for a residential energy-management approach that provides </a:t>
            </a:r>
            <a:r>
              <a:rPr lang="en-US" sz="2200" b="0" i="0" dirty="0">
                <a:solidFill>
                  <a:srgbClr val="B45309"/>
                </a:solidFill>
                <a:latin typeface="Segoe UI Semibold"/>
              </a:rPr>
              <a:t>① appliance-level monitoring</a:t>
            </a:r>
            <a:r>
              <a:rPr lang="en-US" sz="2200" b="0" i="0" dirty="0">
                <a:solidFill>
                  <a:srgbClr val="0E1B2C"/>
                </a:solidFill>
                <a:latin typeface="Segoe UI"/>
              </a:rPr>
              <a:t>, supports </a:t>
            </a:r>
            <a:r>
              <a:rPr lang="en-US" sz="2200" b="0" i="0" dirty="0">
                <a:solidFill>
                  <a:srgbClr val="B45309"/>
                </a:solidFill>
                <a:latin typeface="Segoe UI Semibold"/>
              </a:rPr>
              <a:t>② priority-based control of connected loads</a:t>
            </a:r>
            <a:r>
              <a:rPr lang="en-US" sz="2200" b="0" i="0" dirty="0">
                <a:solidFill>
                  <a:srgbClr val="0E1B2C"/>
                </a:solidFill>
                <a:latin typeface="Segoe UI"/>
              </a:rPr>
              <a:t>, and helps users </a:t>
            </a:r>
            <a:r>
              <a:rPr lang="en-US" sz="2200" b="0" i="0" dirty="0">
                <a:solidFill>
                  <a:srgbClr val="B45309"/>
                </a:solidFill>
                <a:latin typeface="Segoe UI Semibold"/>
              </a:rPr>
              <a:t>③ manage electricity consumption and cost</a:t>
            </a:r>
            <a:r>
              <a:rPr lang="en-US" sz="2200" b="0" i="0" dirty="0">
                <a:solidFill>
                  <a:srgbClr val="0E1B2C"/>
                </a:solidFill>
                <a:latin typeface="Segoe UI"/>
              </a:rPr>
              <a:t> while </a:t>
            </a:r>
            <a:r>
              <a:rPr lang="en-US" sz="2200" b="0" i="0" dirty="0">
                <a:solidFill>
                  <a:srgbClr val="B45309"/>
                </a:solidFill>
                <a:latin typeface="Segoe UI Semibold"/>
              </a:rPr>
              <a:t>④ maintaining supply to essential loads</a:t>
            </a:r>
            <a:r>
              <a:rPr lang="en-US" sz="2200" b="0" i="0" dirty="0">
                <a:solidFill>
                  <a:srgbClr val="0E1B2C"/>
                </a:solidFill>
                <a:latin typeface="Segoe UI"/>
              </a:rPr>
              <a:t>.</a:t>
            </a:r>
          </a:p>
        </p:txBody>
      </p:sp>
      <p:grpSp>
        <p:nvGrpSpPr>
          <p:cNvPr id="50" name="need0"/>
          <p:cNvGrpSpPr/>
          <p:nvPr/>
        </p:nvGrpSpPr>
        <p:grpSpPr>
          <a:xfrm>
            <a:off x="685800" y="4206240"/>
            <a:ext cx="2532888" cy="1783080"/>
            <a:chOff x="685800" y="4206240"/>
            <a:chExt cx="2532888" cy="1783080"/>
          </a:xfrm>
        </p:grpSpPr>
        <p:sp>
          <p:nvSpPr>
            <p:cNvPr id="51" name="need_bg0"/>
            <p:cNvSpPr/>
            <p:nvPr/>
          </p:nvSpPr>
          <p:spPr>
            <a:xfrm>
              <a:off x="685800"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52" name="need_oval0"/>
            <p:cNvSpPr/>
            <p:nvPr/>
          </p:nvSpPr>
          <p:spPr>
            <a:xfrm>
              <a:off x="960120" y="4480560"/>
              <a:ext cx="685800" cy="68580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53" name="need_icon0" descr="gauge_teald.png"/>
            <p:cNvPicPr>
              <a:picLocks noChangeAspect="1"/>
            </p:cNvPicPr>
            <p:nvPr/>
          </p:nvPicPr>
          <p:blipFill>
            <a:blip r:embed="rId3"/>
            <a:stretch>
              <a:fillRect/>
            </a:stretch>
          </p:blipFill>
          <p:spPr>
            <a:xfrm>
              <a:off x="1110996" y="4631436"/>
              <a:ext cx="384048" cy="384048"/>
            </a:xfrm>
            <a:prstGeom prst="rect">
              <a:avLst/>
            </a:prstGeom>
          </p:spPr>
        </p:pic>
        <p:sp>
          <p:nvSpPr>
            <p:cNvPr id="54" name="need_n0"/>
            <p:cNvSpPr txBox="1"/>
            <p:nvPr/>
          </p:nvSpPr>
          <p:spPr>
            <a:xfrm>
              <a:off x="1828800"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①</a:t>
              </a:r>
            </a:p>
          </p:txBody>
        </p:sp>
        <p:sp>
          <p:nvSpPr>
            <p:cNvPr id="154" name="need_t0"/>
            <p:cNvSpPr txBox="1"/>
            <p:nvPr/>
          </p:nvSpPr>
          <p:spPr>
            <a:xfrm>
              <a:off x="960120"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Appliance-level monitoring</a:t>
              </a:r>
            </a:p>
          </p:txBody>
        </p:sp>
      </p:grpSp>
      <p:grpSp>
        <p:nvGrpSpPr>
          <p:cNvPr id="55" name="need1"/>
          <p:cNvGrpSpPr/>
          <p:nvPr/>
        </p:nvGrpSpPr>
        <p:grpSpPr>
          <a:xfrm>
            <a:off x="3447288" y="4206240"/>
            <a:ext cx="2532888" cy="1783080"/>
            <a:chOff x="3447288" y="4206240"/>
            <a:chExt cx="2532888" cy="1783080"/>
          </a:xfrm>
        </p:grpSpPr>
        <p:sp>
          <p:nvSpPr>
            <p:cNvPr id="56" name="need_bg1"/>
            <p:cNvSpPr/>
            <p:nvPr/>
          </p:nvSpPr>
          <p:spPr>
            <a:xfrm>
              <a:off x="3447288"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57" name="need_oval1"/>
            <p:cNvSpPr/>
            <p:nvPr/>
          </p:nvSpPr>
          <p:spPr>
            <a:xfrm>
              <a:off x="3721608" y="4480560"/>
              <a:ext cx="685800" cy="68580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58" name="need_icon1" descr="sort_amberd.png"/>
            <p:cNvPicPr>
              <a:picLocks noChangeAspect="1"/>
            </p:cNvPicPr>
            <p:nvPr/>
          </p:nvPicPr>
          <p:blipFill>
            <a:blip r:embed="rId4"/>
            <a:stretch>
              <a:fillRect/>
            </a:stretch>
          </p:blipFill>
          <p:spPr>
            <a:xfrm>
              <a:off x="3872484" y="4631436"/>
              <a:ext cx="384048" cy="384048"/>
            </a:xfrm>
            <a:prstGeom prst="rect">
              <a:avLst/>
            </a:prstGeom>
          </p:spPr>
        </p:pic>
        <p:sp>
          <p:nvSpPr>
            <p:cNvPr id="59" name="need_n1"/>
            <p:cNvSpPr txBox="1"/>
            <p:nvPr/>
          </p:nvSpPr>
          <p:spPr>
            <a:xfrm>
              <a:off x="4590288"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②</a:t>
              </a:r>
            </a:p>
          </p:txBody>
        </p:sp>
        <p:sp>
          <p:nvSpPr>
            <p:cNvPr id="159" name="need_t1"/>
            <p:cNvSpPr txBox="1"/>
            <p:nvPr/>
          </p:nvSpPr>
          <p:spPr>
            <a:xfrm>
              <a:off x="3721608"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Priority-based load control</a:t>
              </a:r>
            </a:p>
          </p:txBody>
        </p:sp>
      </p:grpSp>
      <p:grpSp>
        <p:nvGrpSpPr>
          <p:cNvPr id="60" name="need2"/>
          <p:cNvGrpSpPr/>
          <p:nvPr/>
        </p:nvGrpSpPr>
        <p:grpSpPr>
          <a:xfrm>
            <a:off x="6208776" y="4206240"/>
            <a:ext cx="2532888" cy="1783080"/>
            <a:chOff x="6208776" y="4206240"/>
            <a:chExt cx="2532888" cy="1783080"/>
          </a:xfrm>
        </p:grpSpPr>
        <p:sp>
          <p:nvSpPr>
            <p:cNvPr id="61" name="need_bg2"/>
            <p:cNvSpPr/>
            <p:nvPr/>
          </p:nvSpPr>
          <p:spPr>
            <a:xfrm>
              <a:off x="6208776"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2" name="need_oval2"/>
            <p:cNvSpPr/>
            <p:nvPr/>
          </p:nvSpPr>
          <p:spPr>
            <a:xfrm>
              <a:off x="6483096" y="4480560"/>
              <a:ext cx="685800" cy="685800"/>
            </a:xfrm>
            <a:prstGeom prst="ellipse">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63" name="need_icon2" descr="calc_skyd.png"/>
            <p:cNvPicPr>
              <a:picLocks noChangeAspect="1"/>
            </p:cNvPicPr>
            <p:nvPr/>
          </p:nvPicPr>
          <p:blipFill>
            <a:blip r:embed="rId5"/>
            <a:stretch>
              <a:fillRect/>
            </a:stretch>
          </p:blipFill>
          <p:spPr>
            <a:xfrm>
              <a:off x="6633972" y="4631436"/>
              <a:ext cx="384048" cy="384048"/>
            </a:xfrm>
            <a:prstGeom prst="rect">
              <a:avLst/>
            </a:prstGeom>
          </p:spPr>
        </p:pic>
        <p:sp>
          <p:nvSpPr>
            <p:cNvPr id="64" name="need_n2"/>
            <p:cNvSpPr txBox="1"/>
            <p:nvPr/>
          </p:nvSpPr>
          <p:spPr>
            <a:xfrm>
              <a:off x="7351776"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③</a:t>
              </a:r>
            </a:p>
          </p:txBody>
        </p:sp>
        <p:sp>
          <p:nvSpPr>
            <p:cNvPr id="164" name="need_t2"/>
            <p:cNvSpPr txBox="1"/>
            <p:nvPr/>
          </p:nvSpPr>
          <p:spPr>
            <a:xfrm>
              <a:off x="6483096"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Consumption &amp; cost management</a:t>
              </a:r>
            </a:p>
          </p:txBody>
        </p:sp>
      </p:grpSp>
      <p:grpSp>
        <p:nvGrpSpPr>
          <p:cNvPr id="65" name="need3"/>
          <p:cNvGrpSpPr/>
          <p:nvPr/>
        </p:nvGrpSpPr>
        <p:grpSpPr>
          <a:xfrm>
            <a:off x="8970264" y="4206240"/>
            <a:ext cx="2532888" cy="1783080"/>
            <a:chOff x="8970264" y="4206240"/>
            <a:chExt cx="2532888" cy="1783080"/>
          </a:xfrm>
        </p:grpSpPr>
        <p:sp>
          <p:nvSpPr>
            <p:cNvPr id="66" name="need_bg3"/>
            <p:cNvSpPr/>
            <p:nvPr/>
          </p:nvSpPr>
          <p:spPr>
            <a:xfrm>
              <a:off x="8970264"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7" name="need_oval3"/>
            <p:cNvSpPr/>
            <p:nvPr/>
          </p:nvSpPr>
          <p:spPr>
            <a:xfrm>
              <a:off x="9244584" y="4480560"/>
              <a:ext cx="685800" cy="6858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68" name="need_icon3" descr="power_redd.png"/>
            <p:cNvPicPr>
              <a:picLocks noChangeAspect="1"/>
            </p:cNvPicPr>
            <p:nvPr/>
          </p:nvPicPr>
          <p:blipFill>
            <a:blip r:embed="rId6"/>
            <a:stretch>
              <a:fillRect/>
            </a:stretch>
          </p:blipFill>
          <p:spPr>
            <a:xfrm>
              <a:off x="9395460" y="4631436"/>
              <a:ext cx="384048" cy="384048"/>
            </a:xfrm>
            <a:prstGeom prst="rect">
              <a:avLst/>
            </a:prstGeom>
          </p:spPr>
        </p:pic>
        <p:sp>
          <p:nvSpPr>
            <p:cNvPr id="69" name="need_n3"/>
            <p:cNvSpPr txBox="1"/>
            <p:nvPr/>
          </p:nvSpPr>
          <p:spPr>
            <a:xfrm>
              <a:off x="10113264"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④</a:t>
              </a:r>
            </a:p>
          </p:txBody>
        </p:sp>
        <p:sp>
          <p:nvSpPr>
            <p:cNvPr id="169" name="need_t3"/>
            <p:cNvSpPr txBox="1"/>
            <p:nvPr/>
          </p:nvSpPr>
          <p:spPr>
            <a:xfrm>
              <a:off x="9244584"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Essential loads kept supplied</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450"/>
                                        <p:tgtEl>
                                          <p:spTgt spid="40"/>
                                        </p:tgtEl>
                                      </p:cBhvr>
                                    </p:animEffect>
                                    <p:anim calcmode="lin" valueType="num">
                                      <p:cBhvr>
                                        <p:cTn id="8" dur="450" fill="hold"/>
                                        <p:tgtEl>
                                          <p:spTgt spid="40"/>
                                        </p:tgtEl>
                                        <p:attrNameLst>
                                          <p:attrName>ppt_x</p:attrName>
                                        </p:attrNameLst>
                                      </p:cBhvr>
                                      <p:tavLst>
                                        <p:tav tm="0">
                                          <p:val>
                                            <p:strVal val="#ppt_x"/>
                                          </p:val>
                                        </p:tav>
                                        <p:tav tm="100000">
                                          <p:val>
                                            <p:strVal val="#ppt_x"/>
                                          </p:val>
                                        </p:tav>
                                      </p:tavLst>
                                    </p:anim>
                                    <p:anim calcmode="lin" valueType="num">
                                      <p:cBhvr>
                                        <p:cTn id="9" dur="450" fill="hold"/>
                                        <p:tgtEl>
                                          <p:spTgt spid="40"/>
                                        </p:tgtEl>
                                        <p:attrNameLst>
                                          <p:attrName>ppt_y</p:attrName>
                                        </p:attrNameLst>
                                      </p:cBhvr>
                                      <p:tavLst>
                                        <p:tav tm="0">
                                          <p:val>
                                            <p:strVal val="#ppt_y+.1"/>
                                          </p:val>
                                        </p:tav>
                                        <p:tav tm="100000">
                                          <p:val>
                                            <p:strVal val="#ppt_y"/>
                                          </p:val>
                                        </p:tav>
                                      </p:tavLst>
                                    </p:anim>
                                  </p:childTnLst>
                                </p:cTn>
                              </p:par>
                            </p:childTnLst>
                          </p:cTn>
                        </p:par>
                        <p:par>
                          <p:cTn id="10" fill="hold">
                            <p:stCondLst>
                              <p:cond delay="370"/>
                            </p:stCondLst>
                            <p:childTnLst>
                              <p:par>
                                <p:cTn id="11" presetID="42" presetClass="entr" presetSubtype="0" fill="hold" nodeType="after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450"/>
                                        <p:tgtEl>
                                          <p:spTgt spid="50"/>
                                        </p:tgtEl>
                                      </p:cBhvr>
                                    </p:animEffect>
                                    <p:anim calcmode="lin" valueType="num">
                                      <p:cBhvr>
                                        <p:cTn id="14" dur="450" fill="hold"/>
                                        <p:tgtEl>
                                          <p:spTgt spid="50"/>
                                        </p:tgtEl>
                                        <p:attrNameLst>
                                          <p:attrName>ppt_x</p:attrName>
                                        </p:attrNameLst>
                                      </p:cBhvr>
                                      <p:tavLst>
                                        <p:tav tm="0">
                                          <p:val>
                                            <p:strVal val="#ppt_x"/>
                                          </p:val>
                                        </p:tav>
                                        <p:tav tm="100000">
                                          <p:val>
                                            <p:strVal val="#ppt_x"/>
                                          </p:val>
                                        </p:tav>
                                      </p:tavLst>
                                    </p:anim>
                                    <p:anim calcmode="lin" valueType="num">
                                      <p:cBhvr>
                                        <p:cTn id="15" dur="450" fill="hold"/>
                                        <p:tgtEl>
                                          <p:spTgt spid="50"/>
                                        </p:tgtEl>
                                        <p:attrNameLst>
                                          <p:attrName>ppt_y</p:attrName>
                                        </p:attrNameLst>
                                      </p:cBhvr>
                                      <p:tavLst>
                                        <p:tav tm="0">
                                          <p:val>
                                            <p:strVal val="#ppt_y+.1"/>
                                          </p:val>
                                        </p:tav>
                                        <p:tav tm="100000">
                                          <p:val>
                                            <p:strVal val="#ppt_y"/>
                                          </p:val>
                                        </p:tav>
                                      </p:tavLst>
                                    </p:anim>
                                  </p:childTnLst>
                                </p:cTn>
                              </p:par>
                            </p:childTnLst>
                          </p:cTn>
                        </p:par>
                        <p:par>
                          <p:cTn id="16" fill="hold">
                            <p:stCondLst>
                              <p:cond delay="590"/>
                            </p:stCondLst>
                            <p:childTnLst>
                              <p:par>
                                <p:cTn id="17" presetID="42" presetClass="entr" presetSubtype="0"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450"/>
                                        <p:tgtEl>
                                          <p:spTgt spid="55"/>
                                        </p:tgtEl>
                                      </p:cBhvr>
                                    </p:animEffect>
                                    <p:anim calcmode="lin" valueType="num">
                                      <p:cBhvr>
                                        <p:cTn id="20" dur="450" fill="hold"/>
                                        <p:tgtEl>
                                          <p:spTgt spid="55"/>
                                        </p:tgtEl>
                                        <p:attrNameLst>
                                          <p:attrName>ppt_x</p:attrName>
                                        </p:attrNameLst>
                                      </p:cBhvr>
                                      <p:tavLst>
                                        <p:tav tm="0">
                                          <p:val>
                                            <p:strVal val="#ppt_x"/>
                                          </p:val>
                                        </p:tav>
                                        <p:tav tm="100000">
                                          <p:val>
                                            <p:strVal val="#ppt_x"/>
                                          </p:val>
                                        </p:tav>
                                      </p:tavLst>
                                    </p:anim>
                                    <p:anim calcmode="lin" valueType="num">
                                      <p:cBhvr>
                                        <p:cTn id="21" dur="450" fill="hold"/>
                                        <p:tgtEl>
                                          <p:spTgt spid="55"/>
                                        </p:tgtEl>
                                        <p:attrNameLst>
                                          <p:attrName>ppt_y</p:attrName>
                                        </p:attrNameLst>
                                      </p:cBhvr>
                                      <p:tavLst>
                                        <p:tav tm="0">
                                          <p:val>
                                            <p:strVal val="#ppt_y+.1"/>
                                          </p:val>
                                        </p:tav>
                                        <p:tav tm="100000">
                                          <p:val>
                                            <p:strVal val="#ppt_y"/>
                                          </p:val>
                                        </p:tav>
                                      </p:tavLst>
                                    </p:anim>
                                  </p:childTnLst>
                                </p:cTn>
                              </p:par>
                            </p:childTnLst>
                          </p:cTn>
                        </p:par>
                        <p:par>
                          <p:cTn id="22" fill="hold">
                            <p:stCondLst>
                              <p:cond delay="810"/>
                            </p:stCondLst>
                            <p:childTnLst>
                              <p:par>
                                <p:cTn id="23" presetID="42" presetClass="entr" presetSubtype="0" fill="hold" nodeType="after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fade">
                                      <p:cBhvr>
                                        <p:cTn id="25" dur="450"/>
                                        <p:tgtEl>
                                          <p:spTgt spid="60"/>
                                        </p:tgtEl>
                                      </p:cBhvr>
                                    </p:animEffect>
                                    <p:anim calcmode="lin" valueType="num">
                                      <p:cBhvr>
                                        <p:cTn id="26" dur="450" fill="hold"/>
                                        <p:tgtEl>
                                          <p:spTgt spid="60"/>
                                        </p:tgtEl>
                                        <p:attrNameLst>
                                          <p:attrName>ppt_x</p:attrName>
                                        </p:attrNameLst>
                                      </p:cBhvr>
                                      <p:tavLst>
                                        <p:tav tm="0">
                                          <p:val>
                                            <p:strVal val="#ppt_x"/>
                                          </p:val>
                                        </p:tav>
                                        <p:tav tm="100000">
                                          <p:val>
                                            <p:strVal val="#ppt_x"/>
                                          </p:val>
                                        </p:tav>
                                      </p:tavLst>
                                    </p:anim>
                                    <p:anim calcmode="lin" valueType="num">
                                      <p:cBhvr>
                                        <p:cTn id="27" dur="450" fill="hold"/>
                                        <p:tgtEl>
                                          <p:spTgt spid="60"/>
                                        </p:tgtEl>
                                        <p:attrNameLst>
                                          <p:attrName>ppt_y</p:attrName>
                                        </p:attrNameLst>
                                      </p:cBhvr>
                                      <p:tavLst>
                                        <p:tav tm="0">
                                          <p:val>
                                            <p:strVal val="#ppt_y+.1"/>
                                          </p:val>
                                        </p:tav>
                                        <p:tav tm="100000">
                                          <p:val>
                                            <p:strVal val="#ppt_y"/>
                                          </p:val>
                                        </p:tav>
                                      </p:tavLst>
                                    </p:anim>
                                  </p:childTnLst>
                                </p:cTn>
                              </p:par>
                            </p:childTnLst>
                          </p:cTn>
                        </p:par>
                        <p:par>
                          <p:cTn id="28" fill="hold">
                            <p:stCondLst>
                              <p:cond delay="1030"/>
                            </p:stCondLst>
                            <p:childTnLst>
                              <p:par>
                                <p:cTn id="29" presetID="42" presetClass="entr" presetSubtype="0" fill="hold"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fade">
                                      <p:cBhvr>
                                        <p:cTn id="31" dur="450"/>
                                        <p:tgtEl>
                                          <p:spTgt spid="65"/>
                                        </p:tgtEl>
                                      </p:cBhvr>
                                    </p:animEffect>
                                    <p:anim calcmode="lin" valueType="num">
                                      <p:cBhvr>
                                        <p:cTn id="32" dur="450" fill="hold"/>
                                        <p:tgtEl>
                                          <p:spTgt spid="65"/>
                                        </p:tgtEl>
                                        <p:attrNameLst>
                                          <p:attrName>ppt_x</p:attrName>
                                        </p:attrNameLst>
                                      </p:cBhvr>
                                      <p:tavLst>
                                        <p:tav tm="0">
                                          <p:val>
                                            <p:strVal val="#ppt_x"/>
                                          </p:val>
                                        </p:tav>
                                        <p:tav tm="100000">
                                          <p:val>
                                            <p:strVal val="#ppt_x"/>
                                          </p:val>
                                        </p:tav>
                                      </p:tavLst>
                                    </p:anim>
                                    <p:anim calcmode="lin" valueType="num">
                                      <p:cBhvr>
                                        <p:cTn id="33" dur="45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3"/>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03</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Objectives</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Higher-level goals · lower-level behaviours</a:t>
            </a:r>
          </a:p>
        </p:txBody>
      </p:sp>
      <p:pic>
        <p:nvPicPr>
          <p:cNvPr id="5" name="dicon" descr="target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9100AE46-6641-425B-8855-9410C73D62FB}" type="slidenum">
              <a:rPr lang="en-US" sz="1100" b="0" i="0">
                <a:solidFill>
                  <a:srgbClr val="5B6B7F"/>
                </a:solidFill>
                <a:latin typeface="Bahnschrift"/>
              </a:rPr>
              <a:t>13</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03 · OBJECTIVES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Higher-level objectives</a:t>
            </a:r>
          </a:p>
        </p:txBody>
      </p:sp>
      <p:grpSp>
        <p:nvGrpSpPr>
          <p:cNvPr id="12" name="h0"/>
          <p:cNvGrpSpPr/>
          <p:nvPr/>
        </p:nvGrpSpPr>
        <p:grpSpPr>
          <a:xfrm>
            <a:off x="685800" y="1828800"/>
            <a:ext cx="3429000" cy="4023360"/>
            <a:chOff x="685800" y="1828800"/>
            <a:chExt cx="3429000" cy="4023360"/>
          </a:xfrm>
        </p:grpSpPr>
        <p:sp>
          <p:nvSpPr>
            <p:cNvPr id="6" name="Rounded Rectangle 5"/>
            <p:cNvSpPr/>
            <p:nvPr/>
          </p:nvSpPr>
          <p:spPr>
            <a:xfrm>
              <a:off x="685800"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51560" y="2194560"/>
              <a:ext cx="1005840" cy="10058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ard_amberd.png"/>
            <p:cNvPicPr>
              <a:picLocks noChangeAspect="1"/>
            </p:cNvPicPr>
            <p:nvPr/>
          </p:nvPicPr>
          <p:blipFill>
            <a:blip r:embed="rId3"/>
            <a:stretch>
              <a:fillRect/>
            </a:stretch>
          </p:blipFill>
          <p:spPr>
            <a:xfrm>
              <a:off x="1272844" y="2415844"/>
              <a:ext cx="563270" cy="563270"/>
            </a:xfrm>
            <a:prstGeom prst="rect">
              <a:avLst/>
            </a:prstGeom>
          </p:spPr>
        </p:pic>
        <p:sp>
          <p:nvSpPr>
            <p:cNvPr id="9" name="TextBox 8"/>
            <p:cNvSpPr txBox="1"/>
            <p:nvPr/>
          </p:nvSpPr>
          <p:spPr>
            <a:xfrm>
              <a:off x="2240280"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HLO-1</a:t>
              </a:r>
            </a:p>
          </p:txBody>
        </p:sp>
        <p:sp>
          <p:nvSpPr>
            <p:cNvPr id="10" name="TextBox 9"/>
            <p:cNvSpPr txBox="1"/>
            <p:nvPr/>
          </p:nvSpPr>
          <p:spPr>
            <a:xfrm>
              <a:off x="1051560"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Economic</a:t>
              </a:r>
            </a:p>
          </p:txBody>
        </p:sp>
        <p:sp>
          <p:nvSpPr>
            <p:cNvPr id="11" name="TextBox 10"/>
            <p:cNvSpPr txBox="1"/>
            <p:nvPr/>
          </p:nvSpPr>
          <p:spPr>
            <a:xfrm>
              <a:off x="1051560"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Lower consumption</a:t>
              </a:r>
            </a:p>
            <a:p>
              <a:pPr algn="l">
                <a:spcAft>
                  <a:spcPts val="400"/>
                </a:spcAft>
              </a:pPr>
              <a:r>
                <a:rPr sz="2200" b="0" i="0">
                  <a:solidFill>
                    <a:srgbClr val="5B6B7F"/>
                  </a:solidFill>
                  <a:latin typeface="Segoe UI Semibold"/>
                </a:rPr>
                <a:t>Lower cost</a:t>
              </a:r>
            </a:p>
          </p:txBody>
        </p:sp>
      </p:grpSp>
      <p:grpSp>
        <p:nvGrpSpPr>
          <p:cNvPr id="19" name="h1"/>
          <p:cNvGrpSpPr/>
          <p:nvPr/>
        </p:nvGrpSpPr>
        <p:grpSpPr>
          <a:xfrm>
            <a:off x="4379976" y="1828800"/>
            <a:ext cx="3429000" cy="4023360"/>
            <a:chOff x="4379976" y="1828800"/>
            <a:chExt cx="3429000" cy="4023360"/>
          </a:xfrm>
        </p:grpSpPr>
        <p:sp>
          <p:nvSpPr>
            <p:cNvPr id="13" name="Rounded Rectangle 12"/>
            <p:cNvSpPr/>
            <p:nvPr/>
          </p:nvSpPr>
          <p:spPr>
            <a:xfrm>
              <a:off x="4379976"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745736" y="2194560"/>
              <a:ext cx="1005840" cy="10058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ower_teald.png"/>
            <p:cNvPicPr>
              <a:picLocks noChangeAspect="1"/>
            </p:cNvPicPr>
            <p:nvPr/>
          </p:nvPicPr>
          <p:blipFill>
            <a:blip r:embed="rId4"/>
            <a:stretch>
              <a:fillRect/>
            </a:stretch>
          </p:blipFill>
          <p:spPr>
            <a:xfrm>
              <a:off x="4967020" y="2415844"/>
              <a:ext cx="563270" cy="563270"/>
            </a:xfrm>
            <a:prstGeom prst="rect">
              <a:avLst/>
            </a:prstGeom>
          </p:spPr>
        </p:pic>
        <p:sp>
          <p:nvSpPr>
            <p:cNvPr id="16" name="TextBox 15"/>
            <p:cNvSpPr txBox="1"/>
            <p:nvPr/>
          </p:nvSpPr>
          <p:spPr>
            <a:xfrm>
              <a:off x="5934456"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HLO-2</a:t>
              </a:r>
            </a:p>
          </p:txBody>
        </p:sp>
        <p:sp>
          <p:nvSpPr>
            <p:cNvPr id="17" name="TextBox 16"/>
            <p:cNvSpPr txBox="1"/>
            <p:nvPr/>
          </p:nvSpPr>
          <p:spPr>
            <a:xfrm>
              <a:off x="4745736"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Reliability</a:t>
              </a:r>
            </a:p>
          </p:txBody>
        </p:sp>
        <p:sp>
          <p:nvSpPr>
            <p:cNvPr id="18" name="TextBox 17"/>
            <p:cNvSpPr txBox="1"/>
            <p:nvPr/>
          </p:nvSpPr>
          <p:spPr>
            <a:xfrm>
              <a:off x="4745736"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Essentials stay</a:t>
              </a:r>
            </a:p>
            <a:p>
              <a:pPr algn="l">
                <a:spcAft>
                  <a:spcPts val="400"/>
                </a:spcAft>
              </a:pPr>
              <a:r>
                <a:rPr sz="2200" b="0" i="0">
                  <a:solidFill>
                    <a:srgbClr val="5B6B7F"/>
                  </a:solidFill>
                  <a:latin typeface="Segoe UI Semibold"/>
                </a:rPr>
                <a:t>supplied</a:t>
              </a:r>
            </a:p>
          </p:txBody>
        </p:sp>
      </p:grpSp>
      <p:grpSp>
        <p:nvGrpSpPr>
          <p:cNvPr id="26" name="h2"/>
          <p:cNvGrpSpPr/>
          <p:nvPr/>
        </p:nvGrpSpPr>
        <p:grpSpPr>
          <a:xfrm>
            <a:off x="8074152" y="1828800"/>
            <a:ext cx="3429000" cy="4023360"/>
            <a:chOff x="8074152" y="1828800"/>
            <a:chExt cx="3429000" cy="4023360"/>
          </a:xfrm>
        </p:grpSpPr>
        <p:sp>
          <p:nvSpPr>
            <p:cNvPr id="20" name="Rounded Rectangle 19"/>
            <p:cNvSpPr/>
            <p:nvPr/>
          </p:nvSpPr>
          <p:spPr>
            <a:xfrm>
              <a:off x="8074152"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439912" y="2194560"/>
              <a:ext cx="1005840" cy="10058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hield_redd.png"/>
            <p:cNvPicPr>
              <a:picLocks noChangeAspect="1"/>
            </p:cNvPicPr>
            <p:nvPr/>
          </p:nvPicPr>
          <p:blipFill>
            <a:blip r:embed="rId5"/>
            <a:stretch>
              <a:fillRect/>
            </a:stretch>
          </p:blipFill>
          <p:spPr>
            <a:xfrm>
              <a:off x="8661196" y="2415844"/>
              <a:ext cx="563270" cy="563270"/>
            </a:xfrm>
            <a:prstGeom prst="rect">
              <a:avLst/>
            </a:prstGeom>
          </p:spPr>
        </p:pic>
        <p:sp>
          <p:nvSpPr>
            <p:cNvPr id="23" name="TextBox 22"/>
            <p:cNvSpPr txBox="1"/>
            <p:nvPr/>
          </p:nvSpPr>
          <p:spPr>
            <a:xfrm>
              <a:off x="9628632"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HLO-3</a:t>
              </a:r>
            </a:p>
          </p:txBody>
        </p:sp>
        <p:sp>
          <p:nvSpPr>
            <p:cNvPr id="24" name="TextBox 23"/>
            <p:cNvSpPr txBox="1"/>
            <p:nvPr/>
          </p:nvSpPr>
          <p:spPr>
            <a:xfrm>
              <a:off x="8439912"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Safety &amp; efficiency</a:t>
              </a:r>
            </a:p>
          </p:txBody>
        </p:sp>
        <p:sp>
          <p:nvSpPr>
            <p:cNvPr id="25" name="TextBox 24"/>
            <p:cNvSpPr txBox="1"/>
            <p:nvPr/>
          </p:nvSpPr>
          <p:spPr>
            <a:xfrm>
              <a:off x="8439912"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Safer operation</a:t>
              </a:r>
            </a:p>
            <a:p>
              <a:pPr algn="l">
                <a:spcAft>
                  <a:spcPts val="400"/>
                </a:spcAft>
              </a:pPr>
              <a:r>
                <a:rPr sz="2200" b="0" i="0">
                  <a:solidFill>
                    <a:srgbClr val="5B6B7F"/>
                  </a:solidFill>
                  <a:latin typeface="Segoe UI Semibold"/>
                </a:rPr>
                <a:t>Efficient use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600"/>
                                        <p:tgtEl>
                                          <p:spTgt spid="12"/>
                                        </p:tgtEl>
                                      </p:cBhvr>
                                    </p:animEffect>
                                    <p:anim calcmode="lin" valueType="num">
                                      <p:cBhvr>
                                        <p:cTn id="8" dur="600" fill="hold"/>
                                        <p:tgtEl>
                                          <p:spTgt spid="12"/>
                                        </p:tgtEl>
                                        <p:attrNameLst>
                                          <p:attrName>ppt_x</p:attrName>
                                        </p:attrNameLst>
                                      </p:cBhvr>
                                      <p:tavLst>
                                        <p:tav tm="0">
                                          <p:val>
                                            <p:strVal val="#ppt_x"/>
                                          </p:val>
                                        </p:tav>
                                        <p:tav tm="100000">
                                          <p:val>
                                            <p:strVal val="#ppt_x"/>
                                          </p:val>
                                        </p:tav>
                                      </p:tavLst>
                                    </p:anim>
                                    <p:anim calcmode="lin" valueType="num">
                                      <p:cBhvr>
                                        <p:cTn id="9" dur="6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15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600"/>
                                        <p:tgtEl>
                                          <p:spTgt spid="19"/>
                                        </p:tgtEl>
                                      </p:cBhvr>
                                    </p:animEffect>
                                    <p:anim calcmode="lin" valueType="num">
                                      <p:cBhvr>
                                        <p:cTn id="14" dur="600" fill="hold"/>
                                        <p:tgtEl>
                                          <p:spTgt spid="19"/>
                                        </p:tgtEl>
                                        <p:attrNameLst>
                                          <p:attrName>ppt_x</p:attrName>
                                        </p:attrNameLst>
                                      </p:cBhvr>
                                      <p:tavLst>
                                        <p:tav tm="0">
                                          <p:val>
                                            <p:strVal val="#ppt_x"/>
                                          </p:val>
                                        </p:tav>
                                        <p:tav tm="100000">
                                          <p:val>
                                            <p:strVal val="#ppt_x"/>
                                          </p:val>
                                        </p:tav>
                                      </p:tavLst>
                                    </p:anim>
                                    <p:anim calcmode="lin" valueType="num">
                                      <p:cBhvr>
                                        <p:cTn id="15" dur="6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nodeType="afterEffect">
                                  <p:stCondLst>
                                    <p:cond delay="15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600"/>
                                        <p:tgtEl>
                                          <p:spTgt spid="26"/>
                                        </p:tgtEl>
                                      </p:cBhvr>
                                    </p:animEffect>
                                    <p:anim calcmode="lin" valueType="num">
                                      <p:cBhvr>
                                        <p:cTn id="20" dur="600" fill="hold"/>
                                        <p:tgtEl>
                                          <p:spTgt spid="26"/>
                                        </p:tgtEl>
                                        <p:attrNameLst>
                                          <p:attrName>ppt_x</p:attrName>
                                        </p:attrNameLst>
                                      </p:cBhvr>
                                      <p:tavLst>
                                        <p:tav tm="0">
                                          <p:val>
                                            <p:strVal val="#ppt_x"/>
                                          </p:val>
                                        </p:tav>
                                        <p:tav tm="100000">
                                          <p:val>
                                            <p:strVal val="#ppt_x"/>
                                          </p:val>
                                        </p:tav>
                                      </p:tavLst>
                                    </p:anim>
                                    <p:anim calcmode="lin" valueType="num">
                                      <p:cBhvr>
                                        <p:cTn id="21" dur="6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FE1A2712-6237-4B8B-89F6-118D972E6C56}" type="slidenum">
              <a:rPr lang="en-US" sz="1100" b="0" i="0">
                <a:solidFill>
                  <a:srgbClr val="5B6B7F"/>
                </a:solidFill>
                <a:latin typeface="Bahnschrift"/>
              </a:rPr>
              <a:t>14</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03 · OBJECTIVES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Lower-level objectives</a:t>
            </a:r>
          </a:p>
        </p:txBody>
      </p:sp>
      <p:grpSp>
        <p:nvGrpSpPr>
          <p:cNvPr id="12" name="l0"/>
          <p:cNvGrpSpPr/>
          <p:nvPr/>
        </p:nvGrpSpPr>
        <p:grpSpPr>
          <a:xfrm>
            <a:off x="685800" y="1828800"/>
            <a:ext cx="3429000" cy="1874519"/>
            <a:chOff x="685800" y="1828800"/>
            <a:chExt cx="3429000" cy="1874519"/>
          </a:xfrm>
        </p:grpSpPr>
        <p:sp>
          <p:nvSpPr>
            <p:cNvPr id="6" name="Rounded Rectangle 5"/>
            <p:cNvSpPr/>
            <p:nvPr/>
          </p:nvSpPr>
          <p:spPr>
            <a:xfrm>
              <a:off x="685800"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60120"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gauge_white.png"/>
            <p:cNvPicPr>
              <a:picLocks noChangeAspect="1"/>
            </p:cNvPicPr>
            <p:nvPr/>
          </p:nvPicPr>
          <p:blipFill>
            <a:blip r:embed="rId3"/>
            <a:stretch>
              <a:fillRect/>
            </a:stretch>
          </p:blipFill>
          <p:spPr>
            <a:xfrm>
              <a:off x="1124712" y="2267712"/>
              <a:ext cx="402336" cy="402336"/>
            </a:xfrm>
            <a:prstGeom prst="rect">
              <a:avLst/>
            </a:prstGeom>
          </p:spPr>
        </p:pic>
        <p:sp>
          <p:nvSpPr>
            <p:cNvPr id="9" name="TextBox 8"/>
            <p:cNvSpPr txBox="1"/>
            <p:nvPr/>
          </p:nvSpPr>
          <p:spPr>
            <a:xfrm>
              <a:off x="1874519"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LLO-1</a:t>
              </a:r>
            </a:p>
          </p:txBody>
        </p:sp>
        <p:sp>
          <p:nvSpPr>
            <p:cNvPr id="10" name="TextBox 9"/>
            <p:cNvSpPr txBox="1"/>
            <p:nvPr/>
          </p:nvSpPr>
          <p:spPr>
            <a:xfrm>
              <a:off x="1874519"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Monitor</a:t>
              </a:r>
            </a:p>
          </p:txBody>
        </p:sp>
        <p:sp>
          <p:nvSpPr>
            <p:cNvPr id="11" name="TextBox 10"/>
            <p:cNvSpPr txBox="1"/>
            <p:nvPr/>
          </p:nvSpPr>
          <p:spPr>
            <a:xfrm>
              <a:off x="960120"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Each load + total</a:t>
              </a:r>
            </a:p>
          </p:txBody>
        </p:sp>
      </p:grpSp>
      <p:grpSp>
        <p:nvGrpSpPr>
          <p:cNvPr id="19" name="l1"/>
          <p:cNvGrpSpPr/>
          <p:nvPr/>
        </p:nvGrpSpPr>
        <p:grpSpPr>
          <a:xfrm>
            <a:off x="4379976" y="1828800"/>
            <a:ext cx="3429000" cy="1874519"/>
            <a:chOff x="4379976" y="1828800"/>
            <a:chExt cx="3429000" cy="1874519"/>
          </a:xfrm>
        </p:grpSpPr>
        <p:sp>
          <p:nvSpPr>
            <p:cNvPr id="13" name="Rounded Rectangle 12"/>
            <p:cNvSpPr/>
            <p:nvPr/>
          </p:nvSpPr>
          <p:spPr>
            <a:xfrm>
              <a:off x="4379976"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654296"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ulse_white.png"/>
            <p:cNvPicPr>
              <a:picLocks noChangeAspect="1"/>
            </p:cNvPicPr>
            <p:nvPr/>
          </p:nvPicPr>
          <p:blipFill>
            <a:blip r:embed="rId4"/>
            <a:stretch>
              <a:fillRect/>
            </a:stretch>
          </p:blipFill>
          <p:spPr>
            <a:xfrm>
              <a:off x="4818888" y="2267712"/>
              <a:ext cx="402336" cy="402336"/>
            </a:xfrm>
            <a:prstGeom prst="rect">
              <a:avLst/>
            </a:prstGeom>
          </p:spPr>
        </p:pic>
        <p:sp>
          <p:nvSpPr>
            <p:cNvPr id="16" name="TextBox 15"/>
            <p:cNvSpPr txBox="1"/>
            <p:nvPr/>
          </p:nvSpPr>
          <p:spPr>
            <a:xfrm>
              <a:off x="5568696"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LLO-2</a:t>
              </a:r>
            </a:p>
          </p:txBody>
        </p:sp>
        <p:sp>
          <p:nvSpPr>
            <p:cNvPr id="17" name="TextBox 16"/>
            <p:cNvSpPr txBox="1"/>
            <p:nvPr/>
          </p:nvSpPr>
          <p:spPr>
            <a:xfrm>
              <a:off x="5568696"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Detect</a:t>
              </a:r>
            </a:p>
          </p:txBody>
        </p:sp>
        <p:sp>
          <p:nvSpPr>
            <p:cNvPr id="18" name="TextBox 17"/>
            <p:cNvSpPr txBox="1"/>
            <p:nvPr/>
          </p:nvSpPr>
          <p:spPr>
            <a:xfrm>
              <a:off x="4654296"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Abnormal → warn</a:t>
              </a:r>
            </a:p>
          </p:txBody>
        </p:sp>
      </p:grpSp>
      <p:grpSp>
        <p:nvGrpSpPr>
          <p:cNvPr id="26" name="l2"/>
          <p:cNvGrpSpPr/>
          <p:nvPr/>
        </p:nvGrpSpPr>
        <p:grpSpPr>
          <a:xfrm>
            <a:off x="8074152" y="1828800"/>
            <a:ext cx="3429000" cy="1874519"/>
            <a:chOff x="8074152" y="1828800"/>
            <a:chExt cx="3429000" cy="1874519"/>
          </a:xfrm>
        </p:grpSpPr>
        <p:sp>
          <p:nvSpPr>
            <p:cNvPr id="20" name="Rounded Rectangle 19"/>
            <p:cNvSpPr/>
            <p:nvPr/>
          </p:nvSpPr>
          <p:spPr>
            <a:xfrm>
              <a:off x="8074152"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348472"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ort_white.png"/>
            <p:cNvPicPr>
              <a:picLocks noChangeAspect="1"/>
            </p:cNvPicPr>
            <p:nvPr/>
          </p:nvPicPr>
          <p:blipFill>
            <a:blip r:embed="rId5"/>
            <a:stretch>
              <a:fillRect/>
            </a:stretch>
          </p:blipFill>
          <p:spPr>
            <a:xfrm>
              <a:off x="8513064" y="2267712"/>
              <a:ext cx="402336" cy="402336"/>
            </a:xfrm>
            <a:prstGeom prst="rect">
              <a:avLst/>
            </a:prstGeom>
          </p:spPr>
        </p:pic>
        <p:sp>
          <p:nvSpPr>
            <p:cNvPr id="23" name="TextBox 22"/>
            <p:cNvSpPr txBox="1"/>
            <p:nvPr/>
          </p:nvSpPr>
          <p:spPr>
            <a:xfrm>
              <a:off x="9262872"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LLO-3</a:t>
              </a:r>
            </a:p>
          </p:txBody>
        </p:sp>
        <p:sp>
          <p:nvSpPr>
            <p:cNvPr id="24" name="TextBox 23"/>
            <p:cNvSpPr txBox="1"/>
            <p:nvPr/>
          </p:nvSpPr>
          <p:spPr>
            <a:xfrm>
              <a:off x="9262872"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Prioritise</a:t>
              </a:r>
            </a:p>
          </p:txBody>
        </p:sp>
        <p:sp>
          <p:nvSpPr>
            <p:cNvPr id="25" name="TextBox 24"/>
            <p:cNvSpPr txBox="1"/>
            <p:nvPr/>
          </p:nvSpPr>
          <p:spPr>
            <a:xfrm>
              <a:off x="8348472"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Shed lowest above limit</a:t>
              </a:r>
            </a:p>
          </p:txBody>
        </p:sp>
      </p:grpSp>
      <p:grpSp>
        <p:nvGrpSpPr>
          <p:cNvPr id="33" name="l3"/>
          <p:cNvGrpSpPr/>
          <p:nvPr/>
        </p:nvGrpSpPr>
        <p:grpSpPr>
          <a:xfrm>
            <a:off x="685800" y="3931920"/>
            <a:ext cx="3429000" cy="1874519"/>
            <a:chOff x="685800" y="3931920"/>
            <a:chExt cx="3429000" cy="1874519"/>
          </a:xfrm>
        </p:grpSpPr>
        <p:sp>
          <p:nvSpPr>
            <p:cNvPr id="27" name="Rounded Rectangle 26"/>
            <p:cNvSpPr/>
            <p:nvPr/>
          </p:nvSpPr>
          <p:spPr>
            <a:xfrm>
              <a:off x="685800"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60120"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calc_white.png"/>
            <p:cNvPicPr>
              <a:picLocks noChangeAspect="1"/>
            </p:cNvPicPr>
            <p:nvPr/>
          </p:nvPicPr>
          <p:blipFill>
            <a:blip r:embed="rId6"/>
            <a:stretch>
              <a:fillRect/>
            </a:stretch>
          </p:blipFill>
          <p:spPr>
            <a:xfrm>
              <a:off x="1124712" y="4370831"/>
              <a:ext cx="402336" cy="402336"/>
            </a:xfrm>
            <a:prstGeom prst="rect">
              <a:avLst/>
            </a:prstGeom>
          </p:spPr>
        </p:pic>
        <p:sp>
          <p:nvSpPr>
            <p:cNvPr id="30" name="TextBox 29"/>
            <p:cNvSpPr txBox="1"/>
            <p:nvPr/>
          </p:nvSpPr>
          <p:spPr>
            <a:xfrm>
              <a:off x="1874519"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LLO-4</a:t>
              </a:r>
            </a:p>
          </p:txBody>
        </p:sp>
        <p:sp>
          <p:nvSpPr>
            <p:cNvPr id="31" name="TextBox 30"/>
            <p:cNvSpPr txBox="1"/>
            <p:nvPr/>
          </p:nvSpPr>
          <p:spPr>
            <a:xfrm>
              <a:off x="1874519"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Budget</a:t>
              </a:r>
            </a:p>
          </p:txBody>
        </p:sp>
        <p:sp>
          <p:nvSpPr>
            <p:cNvPr id="32" name="TextBox 31"/>
            <p:cNvSpPr txBox="1"/>
            <p:nvPr/>
          </p:nvSpPr>
          <p:spPr>
            <a:xfrm>
              <a:off x="960120"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Energy &amp; cost vs. budget</a:t>
              </a:r>
            </a:p>
          </p:txBody>
        </p:sp>
      </p:grpSp>
      <p:grpSp>
        <p:nvGrpSpPr>
          <p:cNvPr id="40" name="l4"/>
          <p:cNvGrpSpPr/>
          <p:nvPr/>
        </p:nvGrpSpPr>
        <p:grpSpPr>
          <a:xfrm>
            <a:off x="4379976" y="3931920"/>
            <a:ext cx="3429000" cy="1874519"/>
            <a:chOff x="4379976" y="3931920"/>
            <a:chExt cx="3429000" cy="1874519"/>
          </a:xfrm>
        </p:grpSpPr>
        <p:sp>
          <p:nvSpPr>
            <p:cNvPr id="34" name="Rounded Rectangle 33"/>
            <p:cNvSpPr/>
            <p:nvPr/>
          </p:nvSpPr>
          <p:spPr>
            <a:xfrm>
              <a:off x="4379976"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4654296"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monitor_white.png"/>
            <p:cNvPicPr>
              <a:picLocks noChangeAspect="1"/>
            </p:cNvPicPr>
            <p:nvPr/>
          </p:nvPicPr>
          <p:blipFill>
            <a:blip r:embed="rId7"/>
            <a:stretch>
              <a:fillRect/>
            </a:stretch>
          </p:blipFill>
          <p:spPr>
            <a:xfrm>
              <a:off x="4818888" y="4370831"/>
              <a:ext cx="402336" cy="402336"/>
            </a:xfrm>
            <a:prstGeom prst="rect">
              <a:avLst/>
            </a:prstGeom>
          </p:spPr>
        </p:pic>
        <p:sp>
          <p:nvSpPr>
            <p:cNvPr id="37" name="TextBox 36"/>
            <p:cNvSpPr txBox="1"/>
            <p:nvPr/>
          </p:nvSpPr>
          <p:spPr>
            <a:xfrm>
              <a:off x="5568696"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LLO-5</a:t>
              </a:r>
            </a:p>
          </p:txBody>
        </p:sp>
        <p:sp>
          <p:nvSpPr>
            <p:cNvPr id="38" name="TextBox 37"/>
            <p:cNvSpPr txBox="1"/>
            <p:nvPr/>
          </p:nvSpPr>
          <p:spPr>
            <a:xfrm>
              <a:off x="5568696"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Inform</a:t>
              </a:r>
            </a:p>
          </p:txBody>
        </p:sp>
        <p:sp>
          <p:nvSpPr>
            <p:cNvPr id="39" name="TextBox 38"/>
            <p:cNvSpPr txBox="1"/>
            <p:nvPr/>
          </p:nvSpPr>
          <p:spPr>
            <a:xfrm>
              <a:off x="4654296"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Status · cost · warnings</a:t>
              </a:r>
            </a:p>
          </p:txBody>
        </p:sp>
      </p:grpSp>
      <p:grpSp>
        <p:nvGrpSpPr>
          <p:cNvPr id="47" name="l5"/>
          <p:cNvGrpSpPr/>
          <p:nvPr/>
        </p:nvGrpSpPr>
        <p:grpSpPr>
          <a:xfrm>
            <a:off x="8074152" y="3931920"/>
            <a:ext cx="3429000" cy="1874519"/>
            <a:chOff x="8074152" y="3931920"/>
            <a:chExt cx="3429000" cy="1874519"/>
          </a:xfrm>
        </p:grpSpPr>
        <p:sp>
          <p:nvSpPr>
            <p:cNvPr id="41" name="Rounded Rectangle 40"/>
            <p:cNvSpPr/>
            <p:nvPr/>
          </p:nvSpPr>
          <p:spPr>
            <a:xfrm>
              <a:off x="8074152"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8348472"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3" name="Picture 42" descr="shield_white.png"/>
            <p:cNvPicPr>
              <a:picLocks noChangeAspect="1"/>
            </p:cNvPicPr>
            <p:nvPr/>
          </p:nvPicPr>
          <p:blipFill>
            <a:blip r:embed="rId8"/>
            <a:stretch>
              <a:fillRect/>
            </a:stretch>
          </p:blipFill>
          <p:spPr>
            <a:xfrm>
              <a:off x="8513064" y="4370831"/>
              <a:ext cx="402336" cy="402336"/>
            </a:xfrm>
            <a:prstGeom prst="rect">
              <a:avLst/>
            </a:prstGeom>
          </p:spPr>
        </p:pic>
        <p:sp>
          <p:nvSpPr>
            <p:cNvPr id="44" name="TextBox 43"/>
            <p:cNvSpPr txBox="1"/>
            <p:nvPr/>
          </p:nvSpPr>
          <p:spPr>
            <a:xfrm>
              <a:off x="9262872"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LLO-6</a:t>
              </a:r>
            </a:p>
          </p:txBody>
        </p:sp>
        <p:sp>
          <p:nvSpPr>
            <p:cNvPr id="45" name="TextBox 44"/>
            <p:cNvSpPr txBox="1"/>
            <p:nvPr/>
          </p:nvSpPr>
          <p:spPr>
            <a:xfrm>
              <a:off x="9262872"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Stay safe</a:t>
              </a:r>
            </a:p>
          </p:txBody>
        </p:sp>
        <p:sp>
          <p:nvSpPr>
            <p:cNvPr id="46" name="TextBox 45"/>
            <p:cNvSpPr txBox="1"/>
            <p:nvPr/>
          </p:nvSpPr>
          <p:spPr>
            <a:xfrm>
              <a:off x="8348472"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Fail-safe · override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anim calcmode="lin" valueType="num">
                                      <p:cBhvr>
                                        <p:cTn id="8" dur="450" fill="hold"/>
                                        <p:tgtEl>
                                          <p:spTgt spid="12"/>
                                        </p:tgtEl>
                                        <p:attrNameLst>
                                          <p:attrName>ppt_x</p:attrName>
                                        </p:attrNameLst>
                                      </p:cBhvr>
                                      <p:tavLst>
                                        <p:tav tm="0">
                                          <p:val>
                                            <p:strVal val="#ppt_x"/>
                                          </p:val>
                                        </p:tav>
                                        <p:tav tm="100000">
                                          <p:val>
                                            <p:strVal val="#ppt_x"/>
                                          </p:val>
                                        </p:tav>
                                      </p:tavLst>
                                    </p:anim>
                                    <p:anim calcmode="lin" valueType="num">
                                      <p:cBhvr>
                                        <p:cTn id="9" dur="45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50"/>
                                        <p:tgtEl>
                                          <p:spTgt spid="19"/>
                                        </p:tgtEl>
                                      </p:cBhvr>
                                    </p:animEffect>
                                    <p:anim calcmode="lin" valueType="num">
                                      <p:cBhvr>
                                        <p:cTn id="14" dur="450" fill="hold"/>
                                        <p:tgtEl>
                                          <p:spTgt spid="19"/>
                                        </p:tgtEl>
                                        <p:attrNameLst>
                                          <p:attrName>ppt_x</p:attrName>
                                        </p:attrNameLst>
                                      </p:cBhvr>
                                      <p:tavLst>
                                        <p:tav tm="0">
                                          <p:val>
                                            <p:strVal val="#ppt_x"/>
                                          </p:val>
                                        </p:tav>
                                        <p:tav tm="100000">
                                          <p:val>
                                            <p:strVal val="#ppt_x"/>
                                          </p:val>
                                        </p:tav>
                                      </p:tavLst>
                                    </p:anim>
                                    <p:anim calcmode="lin" valueType="num">
                                      <p:cBhvr>
                                        <p:cTn id="15" dur="45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50"/>
                                        <p:tgtEl>
                                          <p:spTgt spid="26"/>
                                        </p:tgtEl>
                                      </p:cBhvr>
                                    </p:animEffect>
                                    <p:anim calcmode="lin" valueType="num">
                                      <p:cBhvr>
                                        <p:cTn id="20" dur="450" fill="hold"/>
                                        <p:tgtEl>
                                          <p:spTgt spid="26"/>
                                        </p:tgtEl>
                                        <p:attrNameLst>
                                          <p:attrName>ppt_x</p:attrName>
                                        </p:attrNameLst>
                                      </p:cBhvr>
                                      <p:tavLst>
                                        <p:tav tm="0">
                                          <p:val>
                                            <p:strVal val="#ppt_x"/>
                                          </p:val>
                                        </p:tav>
                                        <p:tav tm="100000">
                                          <p:val>
                                            <p:strVal val="#ppt_x"/>
                                          </p:val>
                                        </p:tav>
                                      </p:tavLst>
                                    </p:anim>
                                    <p:anim calcmode="lin" valueType="num">
                                      <p:cBhvr>
                                        <p:cTn id="21" dur="45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1590"/>
                            </p:stCondLst>
                            <p:childTnLst>
                              <p:par>
                                <p:cTn id="23" presetID="42" presetClass="entr" presetSubtype="0" fill="hold" nodeType="afterEffect">
                                  <p:stCondLst>
                                    <p:cond delay="8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450"/>
                                        <p:tgtEl>
                                          <p:spTgt spid="33"/>
                                        </p:tgtEl>
                                      </p:cBhvr>
                                    </p:animEffect>
                                    <p:anim calcmode="lin" valueType="num">
                                      <p:cBhvr>
                                        <p:cTn id="26" dur="450" fill="hold"/>
                                        <p:tgtEl>
                                          <p:spTgt spid="33"/>
                                        </p:tgtEl>
                                        <p:attrNameLst>
                                          <p:attrName>ppt_x</p:attrName>
                                        </p:attrNameLst>
                                      </p:cBhvr>
                                      <p:tavLst>
                                        <p:tav tm="0">
                                          <p:val>
                                            <p:strVal val="#ppt_x"/>
                                          </p:val>
                                        </p:tav>
                                        <p:tav tm="100000">
                                          <p:val>
                                            <p:strVal val="#ppt_x"/>
                                          </p:val>
                                        </p:tav>
                                      </p:tavLst>
                                    </p:anim>
                                    <p:anim calcmode="lin" valueType="num">
                                      <p:cBhvr>
                                        <p:cTn id="27" dur="450" fill="hold"/>
                                        <p:tgtEl>
                                          <p:spTgt spid="33"/>
                                        </p:tgtEl>
                                        <p:attrNameLst>
                                          <p:attrName>ppt_y</p:attrName>
                                        </p:attrNameLst>
                                      </p:cBhvr>
                                      <p:tavLst>
                                        <p:tav tm="0">
                                          <p:val>
                                            <p:strVal val="#ppt_y+.1"/>
                                          </p:val>
                                        </p:tav>
                                        <p:tav tm="100000">
                                          <p:val>
                                            <p:strVal val="#ppt_y"/>
                                          </p:val>
                                        </p:tav>
                                      </p:tavLst>
                                    </p:anim>
                                  </p:childTnLst>
                                </p:cTn>
                              </p:par>
                            </p:childTnLst>
                          </p:cTn>
                        </p:par>
                        <p:par>
                          <p:cTn id="28" fill="hold">
                            <p:stCondLst>
                              <p:cond delay="2120"/>
                            </p:stCondLst>
                            <p:childTnLst>
                              <p:par>
                                <p:cTn id="29" presetID="42" presetClass="entr" presetSubtype="0" fill="hold" nodeType="afterEffect">
                                  <p:stCondLst>
                                    <p:cond delay="8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450"/>
                                        <p:tgtEl>
                                          <p:spTgt spid="40"/>
                                        </p:tgtEl>
                                      </p:cBhvr>
                                    </p:animEffect>
                                    <p:anim calcmode="lin" valueType="num">
                                      <p:cBhvr>
                                        <p:cTn id="32" dur="450" fill="hold"/>
                                        <p:tgtEl>
                                          <p:spTgt spid="40"/>
                                        </p:tgtEl>
                                        <p:attrNameLst>
                                          <p:attrName>ppt_x</p:attrName>
                                        </p:attrNameLst>
                                      </p:cBhvr>
                                      <p:tavLst>
                                        <p:tav tm="0">
                                          <p:val>
                                            <p:strVal val="#ppt_x"/>
                                          </p:val>
                                        </p:tav>
                                        <p:tav tm="100000">
                                          <p:val>
                                            <p:strVal val="#ppt_x"/>
                                          </p:val>
                                        </p:tav>
                                      </p:tavLst>
                                    </p:anim>
                                    <p:anim calcmode="lin" valueType="num">
                                      <p:cBhvr>
                                        <p:cTn id="33" dur="450" fill="hold"/>
                                        <p:tgtEl>
                                          <p:spTgt spid="40"/>
                                        </p:tgtEl>
                                        <p:attrNameLst>
                                          <p:attrName>ppt_y</p:attrName>
                                        </p:attrNameLst>
                                      </p:cBhvr>
                                      <p:tavLst>
                                        <p:tav tm="0">
                                          <p:val>
                                            <p:strVal val="#ppt_y+.1"/>
                                          </p:val>
                                        </p:tav>
                                        <p:tav tm="100000">
                                          <p:val>
                                            <p:strVal val="#ppt_y"/>
                                          </p:val>
                                        </p:tav>
                                      </p:tavLst>
                                    </p:anim>
                                  </p:childTnLst>
                                </p:cTn>
                              </p:par>
                            </p:childTnLst>
                          </p:cTn>
                        </p:par>
                        <p:par>
                          <p:cTn id="34" fill="hold">
                            <p:stCondLst>
                              <p:cond delay="2650"/>
                            </p:stCondLst>
                            <p:childTnLst>
                              <p:par>
                                <p:cTn id="35" presetID="42" presetClass="entr" presetSubtype="0" fill="hold" nodeType="afterEffect">
                                  <p:stCondLst>
                                    <p:cond delay="8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450"/>
                                        <p:tgtEl>
                                          <p:spTgt spid="47"/>
                                        </p:tgtEl>
                                      </p:cBhvr>
                                    </p:animEffect>
                                    <p:anim calcmode="lin" valueType="num">
                                      <p:cBhvr>
                                        <p:cTn id="38" dur="450" fill="hold"/>
                                        <p:tgtEl>
                                          <p:spTgt spid="47"/>
                                        </p:tgtEl>
                                        <p:attrNameLst>
                                          <p:attrName>ppt_x</p:attrName>
                                        </p:attrNameLst>
                                      </p:cBhvr>
                                      <p:tavLst>
                                        <p:tav tm="0">
                                          <p:val>
                                            <p:strVal val="#ppt_x"/>
                                          </p:val>
                                        </p:tav>
                                        <p:tav tm="100000">
                                          <p:val>
                                            <p:strVal val="#ppt_x"/>
                                          </p:val>
                                        </p:tav>
                                      </p:tavLst>
                                    </p:anim>
                                    <p:anim calcmode="lin" valueType="num">
                                      <p:cBhvr>
                                        <p:cTn id="39" dur="45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4"/>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04</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Design Requirements</a:t>
            </a:r>
          </a:p>
        </p:txBody>
      </p:sp>
      <p:sp>
        <p:nvSpPr>
          <p:cNvPr id="4" name="ds"/>
          <p:cNvSpPr txBox="1"/>
          <p:nvPr/>
        </p:nvSpPr>
        <p:spPr>
          <a:xfrm>
            <a:off x="815585" y="5277956"/>
            <a:ext cx="10515600" cy="548640"/>
          </a:xfrm>
          <a:prstGeom prst="rect">
            <a:avLst/>
          </a:prstGeom>
          <a:noFill/>
        </p:spPr>
        <p:txBody>
          <a:bodyPr wrap="square" lIns="0" tIns="0" rIns="0" bIns="0" anchor="t">
            <a:spAutoFit/>
          </a:bodyPr>
          <a:lstStyle/>
          <a:p>
            <a:pPr algn="l"/>
            <a:r>
              <a:rPr sz="2400" b="0" i="0" dirty="0">
                <a:solidFill>
                  <a:srgbClr val="5B6B7F"/>
                </a:solidFill>
                <a:latin typeface="Segoe UI"/>
              </a:rPr>
              <a:t>Specs · constraints · standards · assumptions · deliverables</a:t>
            </a:r>
          </a:p>
        </p:txBody>
      </p:sp>
      <p:pic>
        <p:nvPicPr>
          <p:cNvPr id="5" name="dicon" descr="checklist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391373"/>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EF84CE47-52AD-4454-AC04-E1FF58D47BFF}" type="slidenum">
              <a:rPr lang="en-US" sz="1100" b="0" i="0">
                <a:solidFill>
                  <a:srgbClr val="5B6B7F"/>
                </a:solidFill>
                <a:latin typeface="Bahnschrift"/>
              </a:rPr>
              <a:t>16</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Design specifications  (1/2)</a:t>
            </a:r>
          </a:p>
        </p:txBody>
      </p:sp>
      <p:grpSp>
        <p:nvGrpSpPr>
          <p:cNvPr id="13" name="ds0"/>
          <p:cNvGrpSpPr/>
          <p:nvPr/>
        </p:nvGrpSpPr>
        <p:grpSpPr>
          <a:xfrm>
            <a:off x="685800" y="1810512"/>
            <a:ext cx="5276088" cy="2084831"/>
            <a:chOff x="685800" y="1810512"/>
            <a:chExt cx="5276088" cy="2084831"/>
          </a:xfrm>
        </p:grpSpPr>
        <p:sp>
          <p:nvSpPr>
            <p:cNvPr id="6" name="Rounded Rectangle 5"/>
            <p:cNvSpPr/>
            <p:nvPr/>
          </p:nvSpPr>
          <p:spPr>
            <a:xfrm>
              <a:off x="685800"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DS-01</a:t>
              </a:r>
            </a:p>
          </p:txBody>
        </p:sp>
        <p:sp>
          <p:nvSpPr>
            <p:cNvPr id="9" name="TextBox 8"/>
            <p:cNvSpPr txBox="1"/>
            <p:nvPr/>
          </p:nvSpPr>
          <p:spPr>
            <a:xfrm>
              <a:off x="2103120"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Accuracy</a:t>
              </a:r>
            </a:p>
          </p:txBody>
        </p:sp>
        <p:sp>
          <p:nvSpPr>
            <p:cNvPr id="10" name="TextBox 9"/>
            <p:cNvSpPr txBox="1"/>
            <p:nvPr/>
          </p:nvSpPr>
          <p:spPr>
            <a:xfrm>
              <a:off x="960120"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a:t>
              </a:r>
            </a:p>
          </p:txBody>
        </p:sp>
        <p:sp>
          <p:nvSpPr>
            <p:cNvPr id="11" name="TextBox 10"/>
            <p:cNvSpPr txBox="1"/>
            <p:nvPr/>
          </p:nvSpPr>
          <p:spPr>
            <a:xfrm>
              <a:off x="3200400" y="3035918"/>
              <a:ext cx="2606040" cy="292388"/>
            </a:xfrm>
            <a:prstGeom prst="rect">
              <a:avLst/>
            </a:prstGeom>
            <a:noFill/>
          </p:spPr>
          <p:txBody>
            <a:bodyPr wrap="square" lIns="0" tIns="0" rIns="0" bIns="0" anchor="ctr">
              <a:spAutoFit/>
            </a:bodyPr>
            <a:lstStyle/>
            <a:p>
              <a:pPr algn="l">
                <a:lnSpc>
                  <a:spcPct val="100000"/>
                </a:lnSpc>
              </a:pPr>
              <a:r>
                <a:rPr sz="1900" b="0" i="0" dirty="0">
                  <a:solidFill>
                    <a:srgbClr val="0E1B2C"/>
                  </a:solidFill>
                  <a:latin typeface="Segoe UI Semibold"/>
                </a:rPr>
                <a:t>V </a:t>
              </a:r>
              <a:r>
                <a:rPr lang="ar-SA" sz="1900" b="1" i="0" dirty="0">
                  <a:solidFill>
                    <a:srgbClr val="0E1B2C"/>
                  </a:solidFill>
                  <a:latin typeface="Segoe UI Semibold"/>
                </a:rPr>
                <a:t>-</a:t>
              </a:r>
              <a:r>
                <a:rPr sz="1900" b="0" i="0" dirty="0">
                  <a:solidFill>
                    <a:srgbClr val="0E1B2C"/>
                  </a:solidFill>
                  <a:latin typeface="Segoe UI Semibold"/>
                </a:rPr>
                <a:t> I </a:t>
              </a:r>
              <a:r>
                <a:rPr lang="ar-SA" sz="1900" b="1" dirty="0">
                  <a:solidFill>
                    <a:srgbClr val="0E1B2C"/>
                  </a:solidFill>
                  <a:latin typeface="Segoe UI Semibold"/>
                </a:rPr>
                <a:t>-</a:t>
              </a:r>
              <a:r>
                <a:rPr sz="1900" b="0" i="0" dirty="0">
                  <a:solidFill>
                    <a:srgbClr val="0E1B2C"/>
                  </a:solidFill>
                  <a:latin typeface="Segoe UI Semibold"/>
                </a:rPr>
                <a:t> P </a:t>
              </a:r>
              <a:r>
                <a:rPr lang="ar-SA" sz="1900" b="1" i="0" dirty="0">
                  <a:solidFill>
                    <a:srgbClr val="0E1B2C"/>
                  </a:solidFill>
                  <a:latin typeface="Segoe UI Semibold"/>
                </a:rPr>
                <a:t>-</a:t>
              </a:r>
              <a:r>
                <a:rPr sz="1900" b="0" i="0" dirty="0">
                  <a:solidFill>
                    <a:srgbClr val="0E1B2C"/>
                  </a:solidFill>
                  <a:latin typeface="Segoe UI Semibold"/>
                </a:rPr>
                <a:t> energy</a:t>
              </a:r>
            </a:p>
          </p:txBody>
        </p:sp>
        <p:sp>
          <p:nvSpPr>
            <p:cNvPr id="12" name="TextBox 11"/>
            <p:cNvSpPr txBox="1"/>
            <p:nvPr/>
          </p:nvSpPr>
          <p:spPr>
            <a:xfrm>
              <a:off x="960120"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LLO-1</a:t>
              </a:r>
            </a:p>
          </p:txBody>
        </p:sp>
      </p:grpSp>
      <p:grpSp>
        <p:nvGrpSpPr>
          <p:cNvPr id="21" name="ds1"/>
          <p:cNvGrpSpPr/>
          <p:nvPr/>
        </p:nvGrpSpPr>
        <p:grpSpPr>
          <a:xfrm>
            <a:off x="6227064" y="1810512"/>
            <a:ext cx="5276088" cy="2084831"/>
            <a:chOff x="6227064" y="1810512"/>
            <a:chExt cx="5276088" cy="2084831"/>
          </a:xfrm>
        </p:grpSpPr>
        <p:sp>
          <p:nvSpPr>
            <p:cNvPr id="14" name="Rounded Rectangle 13"/>
            <p:cNvSpPr/>
            <p:nvPr/>
          </p:nvSpPr>
          <p:spPr>
            <a:xfrm>
              <a:off x="6227064"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501383"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01383"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DS-02</a:t>
              </a:r>
            </a:p>
          </p:txBody>
        </p:sp>
        <p:sp>
          <p:nvSpPr>
            <p:cNvPr id="17" name="TextBox 16"/>
            <p:cNvSpPr txBox="1"/>
            <p:nvPr/>
          </p:nvSpPr>
          <p:spPr>
            <a:xfrm>
              <a:off x="7644383"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Update rate</a:t>
              </a:r>
            </a:p>
          </p:txBody>
        </p:sp>
        <p:sp>
          <p:nvSpPr>
            <p:cNvPr id="18" name="TextBox 17"/>
            <p:cNvSpPr txBox="1"/>
            <p:nvPr/>
          </p:nvSpPr>
          <p:spPr>
            <a:xfrm>
              <a:off x="6501383" y="2587752"/>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3 s</a:t>
              </a:r>
            </a:p>
          </p:txBody>
        </p:sp>
        <p:sp>
          <p:nvSpPr>
            <p:cNvPr id="19" name="TextBox 18"/>
            <p:cNvSpPr txBox="1"/>
            <p:nvPr/>
          </p:nvSpPr>
          <p:spPr>
            <a:xfrm>
              <a:off x="8741663" y="2724912"/>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Readings + status</a:t>
              </a:r>
            </a:p>
          </p:txBody>
        </p:sp>
        <p:sp>
          <p:nvSpPr>
            <p:cNvPr id="20" name="TextBox 19"/>
            <p:cNvSpPr txBox="1"/>
            <p:nvPr/>
          </p:nvSpPr>
          <p:spPr>
            <a:xfrm>
              <a:off x="6501383"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LLO-1 · 5</a:t>
              </a:r>
            </a:p>
          </p:txBody>
        </p:sp>
      </p:grpSp>
      <p:grpSp>
        <p:nvGrpSpPr>
          <p:cNvPr id="29" name="ds2"/>
          <p:cNvGrpSpPr/>
          <p:nvPr/>
        </p:nvGrpSpPr>
        <p:grpSpPr>
          <a:xfrm>
            <a:off x="685800" y="4078224"/>
            <a:ext cx="5276088" cy="2084831"/>
            <a:chOff x="685800" y="4078224"/>
            <a:chExt cx="5276088" cy="2084831"/>
          </a:xfrm>
        </p:grpSpPr>
        <p:sp>
          <p:nvSpPr>
            <p:cNvPr id="22" name="Rounded Rectangle 21"/>
            <p:cNvSpPr/>
            <p:nvPr/>
          </p:nvSpPr>
          <p:spPr>
            <a:xfrm>
              <a:off x="685800"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60120"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DS-03</a:t>
              </a:r>
            </a:p>
          </p:txBody>
        </p:sp>
        <p:sp>
          <p:nvSpPr>
            <p:cNvPr id="25" name="TextBox 24"/>
            <p:cNvSpPr txBox="1"/>
            <p:nvPr/>
          </p:nvSpPr>
          <p:spPr>
            <a:xfrm>
              <a:off x="2103120"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Abnormal detection</a:t>
              </a:r>
            </a:p>
          </p:txBody>
        </p:sp>
        <p:sp>
          <p:nvSpPr>
            <p:cNvPr id="26" name="TextBox 25"/>
            <p:cNvSpPr txBox="1"/>
            <p:nvPr/>
          </p:nvSpPr>
          <p:spPr>
            <a:xfrm>
              <a:off x="960120" y="4855464"/>
              <a:ext cx="2514600" cy="822960"/>
            </a:xfrm>
            <a:prstGeom prst="rect">
              <a:avLst/>
            </a:prstGeom>
            <a:noFill/>
          </p:spPr>
          <p:txBody>
            <a:bodyPr wrap="square" lIns="0" tIns="0" rIns="0" bIns="0" anchor="t">
              <a:spAutoFit/>
            </a:bodyPr>
            <a:lstStyle/>
            <a:p>
              <a:pPr algn="l"/>
              <a:r>
                <a:rPr sz="3800" b="0" i="0">
                  <a:solidFill>
                    <a:srgbClr val="0F766E"/>
                  </a:solidFill>
                  <a:latin typeface="Bahnschrift SemiBold"/>
                </a:rPr>
                <a:t>120 / 80 %</a:t>
              </a:r>
            </a:p>
          </p:txBody>
        </p:sp>
        <p:sp>
          <p:nvSpPr>
            <p:cNvPr id="27" name="TextBox 26"/>
            <p:cNvSpPr txBox="1"/>
            <p:nvPr/>
          </p:nvSpPr>
          <p:spPr>
            <a:xfrm>
              <a:off x="3611880" y="4992624"/>
              <a:ext cx="2194560" cy="914400"/>
            </a:xfrm>
            <a:prstGeom prst="rect">
              <a:avLst/>
            </a:prstGeom>
            <a:noFill/>
          </p:spPr>
          <p:txBody>
            <a:bodyPr wrap="square" lIns="0" tIns="0" rIns="0" bIns="0" anchor="ctr">
              <a:spAutoFit/>
            </a:bodyPr>
            <a:lstStyle/>
            <a:p>
              <a:pPr algn="l"/>
              <a:r>
                <a:rPr sz="1700" b="0" i="0" dirty="0">
                  <a:solidFill>
                    <a:srgbClr val="0E1B2C"/>
                  </a:solidFill>
                  <a:latin typeface="Segoe UI Semibold"/>
                </a:rPr>
                <a:t>of baseline · ≥ 5 s</a:t>
              </a:r>
            </a:p>
            <a:p>
              <a:pPr algn="l"/>
              <a:r>
                <a:rPr sz="1500" b="0" i="0" dirty="0">
                  <a:solidFill>
                    <a:srgbClr val="5B6B7F"/>
                  </a:solidFill>
                  <a:latin typeface="Segoe UI"/>
                </a:rPr>
                <a:t>≥ 90 % detected</a:t>
              </a:r>
            </a:p>
          </p:txBody>
        </p:sp>
        <p:sp>
          <p:nvSpPr>
            <p:cNvPr id="28" name="TextBox 27"/>
            <p:cNvSpPr txBox="1"/>
            <p:nvPr/>
          </p:nvSpPr>
          <p:spPr>
            <a:xfrm>
              <a:off x="960120"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LLO-2</a:t>
              </a:r>
            </a:p>
          </p:txBody>
        </p:sp>
      </p:grpSp>
      <p:grpSp>
        <p:nvGrpSpPr>
          <p:cNvPr id="37" name="ds3"/>
          <p:cNvGrpSpPr/>
          <p:nvPr/>
        </p:nvGrpSpPr>
        <p:grpSpPr>
          <a:xfrm>
            <a:off x="6227064" y="4078224"/>
            <a:ext cx="5276088" cy="2084831"/>
            <a:chOff x="6227064" y="4078224"/>
            <a:chExt cx="5276088" cy="2084831"/>
          </a:xfrm>
        </p:grpSpPr>
        <p:sp>
          <p:nvSpPr>
            <p:cNvPr id="30" name="Rounded Rectangle 29"/>
            <p:cNvSpPr/>
            <p:nvPr/>
          </p:nvSpPr>
          <p:spPr>
            <a:xfrm>
              <a:off x="6227064"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501383"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01383"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DS-04</a:t>
              </a:r>
            </a:p>
          </p:txBody>
        </p:sp>
        <p:sp>
          <p:nvSpPr>
            <p:cNvPr id="33" name="TextBox 32"/>
            <p:cNvSpPr txBox="1"/>
            <p:nvPr/>
          </p:nvSpPr>
          <p:spPr>
            <a:xfrm>
              <a:off x="7644383"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Load control</a:t>
              </a:r>
            </a:p>
          </p:txBody>
        </p:sp>
        <p:sp>
          <p:nvSpPr>
            <p:cNvPr id="34" name="TextBox 33"/>
            <p:cNvSpPr txBox="1"/>
            <p:nvPr/>
          </p:nvSpPr>
          <p:spPr>
            <a:xfrm>
              <a:off x="6501383"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1 s</a:t>
              </a:r>
            </a:p>
          </p:txBody>
        </p:sp>
        <p:sp>
          <p:nvSpPr>
            <p:cNvPr id="35" name="TextBox 34"/>
            <p:cNvSpPr txBox="1"/>
            <p:nvPr/>
          </p:nvSpPr>
          <p:spPr>
            <a:xfrm>
              <a:off x="8741663" y="5157436"/>
              <a:ext cx="2606040" cy="584775"/>
            </a:xfrm>
            <a:prstGeom prst="rect">
              <a:avLst/>
            </a:prstGeom>
            <a:noFill/>
          </p:spPr>
          <p:txBody>
            <a:bodyPr wrap="square" lIns="0" tIns="0" rIns="0" bIns="0" anchor="ctr">
              <a:spAutoFit/>
            </a:bodyPr>
            <a:lstStyle/>
            <a:p>
              <a:pPr algn="l">
                <a:lnSpc>
                  <a:spcPct val="100000"/>
                </a:lnSpc>
              </a:pPr>
              <a:r>
                <a:rPr sz="1900" b="0" i="0" dirty="0">
                  <a:solidFill>
                    <a:srgbClr val="0E1B2C"/>
                  </a:solidFill>
                  <a:latin typeface="Segoe UI Semibold"/>
                </a:rPr>
                <a:t>≥ 4 channels </a:t>
              </a:r>
              <a:endParaRPr lang="ar-SA" sz="1900" b="0" i="0" dirty="0">
                <a:solidFill>
                  <a:srgbClr val="0E1B2C"/>
                </a:solidFill>
                <a:latin typeface="Segoe UI Semibold"/>
              </a:endParaRPr>
            </a:p>
            <a:p>
              <a:pPr algn="l">
                <a:lnSpc>
                  <a:spcPct val="100000"/>
                </a:lnSpc>
              </a:pPr>
              <a:r>
                <a:rPr sz="1900" b="0" i="0" dirty="0">
                  <a:solidFill>
                    <a:srgbClr val="0E1B2C"/>
                  </a:solidFill>
                  <a:latin typeface="Segoe UI Semibold"/>
                </a:rPr>
                <a:t> ≥ 3 levels</a:t>
              </a:r>
            </a:p>
          </p:txBody>
        </p:sp>
        <p:sp>
          <p:nvSpPr>
            <p:cNvPr id="36" name="TextBox 35"/>
            <p:cNvSpPr txBox="1"/>
            <p:nvPr/>
          </p:nvSpPr>
          <p:spPr>
            <a:xfrm>
              <a:off x="6501383"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LLO-3</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anim calcmode="lin" valueType="num">
                                      <p:cBhvr>
                                        <p:cTn id="8" dur="450" fill="hold"/>
                                        <p:tgtEl>
                                          <p:spTgt spid="13"/>
                                        </p:tgtEl>
                                        <p:attrNameLst>
                                          <p:attrName>ppt_x</p:attrName>
                                        </p:attrNameLst>
                                      </p:cBhvr>
                                      <p:tavLst>
                                        <p:tav tm="0">
                                          <p:val>
                                            <p:strVal val="#ppt_x"/>
                                          </p:val>
                                        </p:tav>
                                        <p:tav tm="100000">
                                          <p:val>
                                            <p:strVal val="#ppt_x"/>
                                          </p:val>
                                        </p:tav>
                                      </p:tavLst>
                                    </p:anim>
                                    <p:anim calcmode="lin" valueType="num">
                                      <p:cBhvr>
                                        <p:cTn id="9" dur="45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anim calcmode="lin" valueType="num">
                                      <p:cBhvr>
                                        <p:cTn id="14" dur="450" fill="hold"/>
                                        <p:tgtEl>
                                          <p:spTgt spid="21"/>
                                        </p:tgtEl>
                                        <p:attrNameLst>
                                          <p:attrName>ppt_x</p:attrName>
                                        </p:attrNameLst>
                                      </p:cBhvr>
                                      <p:tavLst>
                                        <p:tav tm="0">
                                          <p:val>
                                            <p:strVal val="#ppt_x"/>
                                          </p:val>
                                        </p:tav>
                                        <p:tav tm="100000">
                                          <p:val>
                                            <p:strVal val="#ppt_x"/>
                                          </p:val>
                                        </p:tav>
                                      </p:tavLst>
                                    </p:anim>
                                    <p:anim calcmode="lin" valueType="num">
                                      <p:cBhvr>
                                        <p:cTn id="15" dur="45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50"/>
                                        <p:tgtEl>
                                          <p:spTgt spid="29"/>
                                        </p:tgtEl>
                                      </p:cBhvr>
                                    </p:animEffect>
                                    <p:anim calcmode="lin" valueType="num">
                                      <p:cBhvr>
                                        <p:cTn id="20" dur="450" fill="hold"/>
                                        <p:tgtEl>
                                          <p:spTgt spid="29"/>
                                        </p:tgtEl>
                                        <p:attrNameLst>
                                          <p:attrName>ppt_x</p:attrName>
                                        </p:attrNameLst>
                                      </p:cBhvr>
                                      <p:tavLst>
                                        <p:tav tm="0">
                                          <p:val>
                                            <p:strVal val="#ppt_x"/>
                                          </p:val>
                                        </p:tav>
                                        <p:tav tm="100000">
                                          <p:val>
                                            <p:strVal val="#ppt_x"/>
                                          </p:val>
                                        </p:tav>
                                      </p:tavLst>
                                    </p:anim>
                                    <p:anim calcmode="lin" valueType="num">
                                      <p:cBhvr>
                                        <p:cTn id="21" dur="4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50"/>
                                        <p:tgtEl>
                                          <p:spTgt spid="37"/>
                                        </p:tgtEl>
                                      </p:cBhvr>
                                    </p:animEffect>
                                    <p:anim calcmode="lin" valueType="num">
                                      <p:cBhvr>
                                        <p:cTn id="26" dur="450" fill="hold"/>
                                        <p:tgtEl>
                                          <p:spTgt spid="37"/>
                                        </p:tgtEl>
                                        <p:attrNameLst>
                                          <p:attrName>ppt_x</p:attrName>
                                        </p:attrNameLst>
                                      </p:cBhvr>
                                      <p:tavLst>
                                        <p:tav tm="0">
                                          <p:val>
                                            <p:strVal val="#ppt_x"/>
                                          </p:val>
                                        </p:tav>
                                        <p:tav tm="100000">
                                          <p:val>
                                            <p:strVal val="#ppt_x"/>
                                          </p:val>
                                        </p:tav>
                                      </p:tavLst>
                                    </p:anim>
                                    <p:anim calcmode="lin" valueType="num">
                                      <p:cBhvr>
                                        <p:cTn id="27" dur="4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6D367575-60E7-48D9-AF05-48ABBA510602}" type="slidenum">
              <a:rPr lang="en-US" sz="1100" b="0" i="0">
                <a:solidFill>
                  <a:srgbClr val="5B6B7F"/>
                </a:solidFill>
                <a:latin typeface="Bahnschrift"/>
              </a:rPr>
              <a:t>17</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Design specifications  (2/2)</a:t>
            </a:r>
          </a:p>
        </p:txBody>
      </p:sp>
      <p:grpSp>
        <p:nvGrpSpPr>
          <p:cNvPr id="13" name="ds0"/>
          <p:cNvGrpSpPr/>
          <p:nvPr/>
        </p:nvGrpSpPr>
        <p:grpSpPr>
          <a:xfrm>
            <a:off x="685800" y="1810512"/>
            <a:ext cx="5276088" cy="2084831"/>
            <a:chOff x="685800" y="1810512"/>
            <a:chExt cx="5276088" cy="2084831"/>
          </a:xfrm>
        </p:grpSpPr>
        <p:sp>
          <p:nvSpPr>
            <p:cNvPr id="6" name="Rounded Rectangle 5"/>
            <p:cNvSpPr/>
            <p:nvPr/>
          </p:nvSpPr>
          <p:spPr>
            <a:xfrm>
              <a:off x="685800"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DS-05</a:t>
              </a:r>
            </a:p>
          </p:txBody>
        </p:sp>
        <p:sp>
          <p:nvSpPr>
            <p:cNvPr id="9" name="TextBox 8"/>
            <p:cNvSpPr txBox="1"/>
            <p:nvPr/>
          </p:nvSpPr>
          <p:spPr>
            <a:xfrm>
              <a:off x="2103120" y="2048256"/>
              <a:ext cx="3657600" cy="457200"/>
            </a:xfrm>
            <a:prstGeom prst="rect">
              <a:avLst/>
            </a:prstGeom>
            <a:noFill/>
          </p:spPr>
          <p:txBody>
            <a:bodyPr wrap="square" lIns="0" tIns="0" rIns="0" bIns="0" anchor="t">
              <a:spAutoFit/>
            </a:bodyPr>
            <a:lstStyle/>
            <a:p>
              <a:pPr algn="l"/>
              <a:r>
                <a:rPr sz="2400" b="0" i="0" dirty="0">
                  <a:solidFill>
                    <a:srgbClr val="0E1B2C"/>
                  </a:solidFill>
                  <a:latin typeface="Bahnschrift SemiBold"/>
                </a:rPr>
                <a:t>Reconnection</a:t>
              </a:r>
            </a:p>
          </p:txBody>
        </p:sp>
        <p:sp>
          <p:nvSpPr>
            <p:cNvPr id="10" name="TextBox 9"/>
            <p:cNvSpPr txBox="1"/>
            <p:nvPr/>
          </p:nvSpPr>
          <p:spPr>
            <a:xfrm>
              <a:off x="960120"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s</a:t>
              </a:r>
            </a:p>
          </p:txBody>
        </p:sp>
        <p:sp>
          <p:nvSpPr>
            <p:cNvPr id="11" name="TextBox 10"/>
            <p:cNvSpPr txBox="1"/>
            <p:nvPr/>
          </p:nvSpPr>
          <p:spPr>
            <a:xfrm>
              <a:off x="3200400" y="2724912"/>
              <a:ext cx="2606040" cy="914400"/>
            </a:xfrm>
            <a:prstGeom prst="rect">
              <a:avLst/>
            </a:prstGeom>
            <a:noFill/>
          </p:spPr>
          <p:txBody>
            <a:bodyPr wrap="square" lIns="0" tIns="0" rIns="0" bIns="0" anchor="ctr">
              <a:spAutoFit/>
            </a:bodyPr>
            <a:lstStyle/>
            <a:p>
              <a:pPr algn="l">
                <a:lnSpc>
                  <a:spcPct val="100000"/>
                </a:lnSpc>
              </a:pPr>
              <a:r>
                <a:rPr sz="1900" b="0" i="0" dirty="0">
                  <a:solidFill>
                    <a:srgbClr val="0E1B2C"/>
                  </a:solidFill>
                  <a:latin typeface="Segoe UI Semibold"/>
                </a:rPr>
                <a:t>Stable margin · highest first</a:t>
              </a:r>
            </a:p>
          </p:txBody>
        </p:sp>
        <p:sp>
          <p:nvSpPr>
            <p:cNvPr id="12" name="TextBox 11"/>
            <p:cNvSpPr txBox="1"/>
            <p:nvPr/>
          </p:nvSpPr>
          <p:spPr>
            <a:xfrm>
              <a:off x="960120"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LLO-3 · 6</a:t>
              </a:r>
            </a:p>
          </p:txBody>
        </p:sp>
      </p:grpSp>
      <p:grpSp>
        <p:nvGrpSpPr>
          <p:cNvPr id="21" name="ds1"/>
          <p:cNvGrpSpPr/>
          <p:nvPr/>
        </p:nvGrpSpPr>
        <p:grpSpPr>
          <a:xfrm>
            <a:off x="6227064" y="1810512"/>
            <a:ext cx="5276088" cy="2084831"/>
            <a:chOff x="6227064" y="1810512"/>
            <a:chExt cx="5276088" cy="2084831"/>
          </a:xfrm>
        </p:grpSpPr>
        <p:sp>
          <p:nvSpPr>
            <p:cNvPr id="14" name="Rounded Rectangle 13"/>
            <p:cNvSpPr/>
            <p:nvPr/>
          </p:nvSpPr>
          <p:spPr>
            <a:xfrm>
              <a:off x="6227064"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501383"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01383"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DS-06</a:t>
              </a:r>
            </a:p>
          </p:txBody>
        </p:sp>
        <p:sp>
          <p:nvSpPr>
            <p:cNvPr id="17" name="TextBox 16"/>
            <p:cNvSpPr txBox="1"/>
            <p:nvPr/>
          </p:nvSpPr>
          <p:spPr>
            <a:xfrm>
              <a:off x="7644383"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Cost &amp; budget</a:t>
              </a:r>
            </a:p>
          </p:txBody>
        </p:sp>
        <p:sp>
          <p:nvSpPr>
            <p:cNvPr id="18" name="TextBox 17"/>
            <p:cNvSpPr txBox="1"/>
            <p:nvPr/>
          </p:nvSpPr>
          <p:spPr>
            <a:xfrm>
              <a:off x="6501383"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a:t>
              </a:r>
            </a:p>
          </p:txBody>
        </p:sp>
        <p:sp>
          <p:nvSpPr>
            <p:cNvPr id="19" name="TextBox 18"/>
            <p:cNvSpPr txBox="1"/>
            <p:nvPr/>
          </p:nvSpPr>
          <p:spPr>
            <a:xfrm>
              <a:off x="8741663" y="2724912"/>
              <a:ext cx="2606040" cy="914400"/>
            </a:xfrm>
            <a:prstGeom prst="rect">
              <a:avLst/>
            </a:prstGeom>
            <a:noFill/>
          </p:spPr>
          <p:txBody>
            <a:bodyPr wrap="square" lIns="0" tIns="0" rIns="0" bIns="0" anchor="ctr">
              <a:spAutoFit/>
            </a:bodyPr>
            <a:lstStyle/>
            <a:p>
              <a:pPr algn="l"/>
              <a:r>
                <a:rPr sz="1700" b="0" i="0">
                  <a:solidFill>
                    <a:srgbClr val="0E1B2C"/>
                  </a:solidFill>
                  <a:latin typeface="Segoe UI Semibold"/>
                </a:rPr>
                <a:t>cost-estimate error</a:t>
              </a:r>
            </a:p>
            <a:p>
              <a:pPr algn="l"/>
              <a:r>
                <a:rPr sz="1500" b="0" i="0">
                  <a:solidFill>
                    <a:srgbClr val="5B6B7F"/>
                  </a:solidFill>
                  <a:latin typeface="Segoe UI"/>
                </a:rPr>
                <a:t>alerts: 50 · 80 · 100 %</a:t>
              </a:r>
            </a:p>
          </p:txBody>
        </p:sp>
        <p:sp>
          <p:nvSpPr>
            <p:cNvPr id="20" name="TextBox 19"/>
            <p:cNvSpPr txBox="1"/>
            <p:nvPr/>
          </p:nvSpPr>
          <p:spPr>
            <a:xfrm>
              <a:off x="6501383"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LLO-4</a:t>
              </a:r>
            </a:p>
          </p:txBody>
        </p:sp>
      </p:grpSp>
      <p:grpSp>
        <p:nvGrpSpPr>
          <p:cNvPr id="29" name="ds2"/>
          <p:cNvGrpSpPr/>
          <p:nvPr/>
        </p:nvGrpSpPr>
        <p:grpSpPr>
          <a:xfrm>
            <a:off x="685800" y="4078224"/>
            <a:ext cx="5276088" cy="2084831"/>
            <a:chOff x="685800" y="4078224"/>
            <a:chExt cx="5276088" cy="2084831"/>
          </a:xfrm>
        </p:grpSpPr>
        <p:sp>
          <p:nvSpPr>
            <p:cNvPr id="22" name="Rounded Rectangle 21"/>
            <p:cNvSpPr/>
            <p:nvPr/>
          </p:nvSpPr>
          <p:spPr>
            <a:xfrm>
              <a:off x="685800"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60120"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DS-07</a:t>
              </a:r>
            </a:p>
          </p:txBody>
        </p:sp>
        <p:sp>
          <p:nvSpPr>
            <p:cNvPr id="25" name="TextBox 24"/>
            <p:cNvSpPr txBox="1"/>
            <p:nvPr/>
          </p:nvSpPr>
          <p:spPr>
            <a:xfrm>
              <a:off x="2103120"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User warnings</a:t>
              </a:r>
            </a:p>
          </p:txBody>
        </p:sp>
        <p:sp>
          <p:nvSpPr>
            <p:cNvPr id="26" name="TextBox 25"/>
            <p:cNvSpPr txBox="1"/>
            <p:nvPr/>
          </p:nvSpPr>
          <p:spPr>
            <a:xfrm>
              <a:off x="960120"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5 s</a:t>
              </a:r>
            </a:p>
          </p:txBody>
        </p:sp>
        <p:sp>
          <p:nvSpPr>
            <p:cNvPr id="27" name="TextBox 26"/>
            <p:cNvSpPr txBox="1"/>
            <p:nvPr/>
          </p:nvSpPr>
          <p:spPr>
            <a:xfrm>
              <a:off x="3200400"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7-day log · 1 h</a:t>
              </a:r>
            </a:p>
          </p:txBody>
        </p:sp>
        <p:sp>
          <p:nvSpPr>
            <p:cNvPr id="28" name="TextBox 27"/>
            <p:cNvSpPr txBox="1"/>
            <p:nvPr/>
          </p:nvSpPr>
          <p:spPr>
            <a:xfrm>
              <a:off x="960120"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LLO-2 · 5</a:t>
              </a:r>
            </a:p>
          </p:txBody>
        </p:sp>
      </p:grpSp>
      <p:grpSp>
        <p:nvGrpSpPr>
          <p:cNvPr id="37" name="ds3"/>
          <p:cNvGrpSpPr/>
          <p:nvPr/>
        </p:nvGrpSpPr>
        <p:grpSpPr>
          <a:xfrm>
            <a:off x="6227064" y="4078224"/>
            <a:ext cx="5276088" cy="2084831"/>
            <a:chOff x="6227064" y="4078224"/>
            <a:chExt cx="5276088" cy="2084831"/>
          </a:xfrm>
        </p:grpSpPr>
        <p:sp>
          <p:nvSpPr>
            <p:cNvPr id="30" name="Rounded Rectangle 29"/>
            <p:cNvSpPr/>
            <p:nvPr/>
          </p:nvSpPr>
          <p:spPr>
            <a:xfrm>
              <a:off x="6227064"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501383"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01383"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DS-08</a:t>
              </a:r>
            </a:p>
          </p:txBody>
        </p:sp>
        <p:sp>
          <p:nvSpPr>
            <p:cNvPr id="33" name="TextBox 32"/>
            <p:cNvSpPr txBox="1"/>
            <p:nvPr/>
          </p:nvSpPr>
          <p:spPr>
            <a:xfrm>
              <a:off x="7644383"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Fail-safe</a:t>
              </a:r>
            </a:p>
          </p:txBody>
        </p:sp>
        <p:sp>
          <p:nvSpPr>
            <p:cNvPr id="34" name="TextBox 33"/>
            <p:cNvSpPr txBox="1"/>
            <p:nvPr/>
          </p:nvSpPr>
          <p:spPr>
            <a:xfrm>
              <a:off x="6501383"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2 s</a:t>
              </a:r>
            </a:p>
          </p:txBody>
        </p:sp>
        <p:sp>
          <p:nvSpPr>
            <p:cNvPr id="35" name="TextBox 34"/>
            <p:cNvSpPr txBox="1"/>
            <p:nvPr/>
          </p:nvSpPr>
          <p:spPr>
            <a:xfrm>
              <a:off x="8741663"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De-energize · override</a:t>
              </a:r>
            </a:p>
          </p:txBody>
        </p:sp>
        <p:sp>
          <p:nvSpPr>
            <p:cNvPr id="36" name="TextBox 35"/>
            <p:cNvSpPr txBox="1"/>
            <p:nvPr/>
          </p:nvSpPr>
          <p:spPr>
            <a:xfrm>
              <a:off x="6501383"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LLO-6</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anim calcmode="lin" valueType="num">
                                      <p:cBhvr>
                                        <p:cTn id="8" dur="450" fill="hold"/>
                                        <p:tgtEl>
                                          <p:spTgt spid="13"/>
                                        </p:tgtEl>
                                        <p:attrNameLst>
                                          <p:attrName>ppt_x</p:attrName>
                                        </p:attrNameLst>
                                      </p:cBhvr>
                                      <p:tavLst>
                                        <p:tav tm="0">
                                          <p:val>
                                            <p:strVal val="#ppt_x"/>
                                          </p:val>
                                        </p:tav>
                                        <p:tav tm="100000">
                                          <p:val>
                                            <p:strVal val="#ppt_x"/>
                                          </p:val>
                                        </p:tav>
                                      </p:tavLst>
                                    </p:anim>
                                    <p:anim calcmode="lin" valueType="num">
                                      <p:cBhvr>
                                        <p:cTn id="9" dur="45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anim calcmode="lin" valueType="num">
                                      <p:cBhvr>
                                        <p:cTn id="14" dur="450" fill="hold"/>
                                        <p:tgtEl>
                                          <p:spTgt spid="21"/>
                                        </p:tgtEl>
                                        <p:attrNameLst>
                                          <p:attrName>ppt_x</p:attrName>
                                        </p:attrNameLst>
                                      </p:cBhvr>
                                      <p:tavLst>
                                        <p:tav tm="0">
                                          <p:val>
                                            <p:strVal val="#ppt_x"/>
                                          </p:val>
                                        </p:tav>
                                        <p:tav tm="100000">
                                          <p:val>
                                            <p:strVal val="#ppt_x"/>
                                          </p:val>
                                        </p:tav>
                                      </p:tavLst>
                                    </p:anim>
                                    <p:anim calcmode="lin" valueType="num">
                                      <p:cBhvr>
                                        <p:cTn id="15" dur="45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50"/>
                                        <p:tgtEl>
                                          <p:spTgt spid="29"/>
                                        </p:tgtEl>
                                      </p:cBhvr>
                                    </p:animEffect>
                                    <p:anim calcmode="lin" valueType="num">
                                      <p:cBhvr>
                                        <p:cTn id="20" dur="450" fill="hold"/>
                                        <p:tgtEl>
                                          <p:spTgt spid="29"/>
                                        </p:tgtEl>
                                        <p:attrNameLst>
                                          <p:attrName>ppt_x</p:attrName>
                                        </p:attrNameLst>
                                      </p:cBhvr>
                                      <p:tavLst>
                                        <p:tav tm="0">
                                          <p:val>
                                            <p:strVal val="#ppt_x"/>
                                          </p:val>
                                        </p:tav>
                                        <p:tav tm="100000">
                                          <p:val>
                                            <p:strVal val="#ppt_x"/>
                                          </p:val>
                                        </p:tav>
                                      </p:tavLst>
                                    </p:anim>
                                    <p:anim calcmode="lin" valueType="num">
                                      <p:cBhvr>
                                        <p:cTn id="21" dur="4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50"/>
                                        <p:tgtEl>
                                          <p:spTgt spid="37"/>
                                        </p:tgtEl>
                                      </p:cBhvr>
                                    </p:animEffect>
                                    <p:anim calcmode="lin" valueType="num">
                                      <p:cBhvr>
                                        <p:cTn id="26" dur="450" fill="hold"/>
                                        <p:tgtEl>
                                          <p:spTgt spid="37"/>
                                        </p:tgtEl>
                                        <p:attrNameLst>
                                          <p:attrName>ppt_x</p:attrName>
                                        </p:attrNameLst>
                                      </p:cBhvr>
                                      <p:tavLst>
                                        <p:tav tm="0">
                                          <p:val>
                                            <p:strVal val="#ppt_x"/>
                                          </p:val>
                                        </p:tav>
                                        <p:tav tm="100000">
                                          <p:val>
                                            <p:strVal val="#ppt_x"/>
                                          </p:val>
                                        </p:tav>
                                      </p:tavLst>
                                    </p:anim>
                                    <p:anim calcmode="lin" valueType="num">
                                      <p:cBhvr>
                                        <p:cTn id="27" dur="4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dirty="0">
                <a:solidFill>
                  <a:srgbClr val="B45309"/>
                </a:solidFill>
                <a:latin typeface="Segoe UI Semibold"/>
              </a:rPr>
              <a:t>REQUIRED BEHAVIOUR · DS-03 / DS-07</a:t>
            </a:r>
          </a:p>
        </p:txBody>
      </p:sp>
      <p:sp>
        <p:nvSpPr>
          <p:cNvPr id="3"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Abnormal-operation warning</a:t>
            </a:r>
          </a:p>
        </p:txBody>
      </p:sp>
      <p:sp>
        <p:nvSpPr>
          <p:cNvPr id="4" name="frame"/>
          <p:cNvSpPr/>
          <p:nvPr/>
        </p:nvSpPr>
        <p:spPr>
          <a:xfrm>
            <a:off x="621792" y="1673352"/>
            <a:ext cx="8540496" cy="4860036"/>
          </a:xfrm>
          <a:prstGeom prst="roundRect">
            <a:avLst>
              <a:gd name="adj" fmla="val 2634"/>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8" name="bd0"/>
          <p:cNvGrpSpPr/>
          <p:nvPr/>
        </p:nvGrpSpPr>
        <p:grpSpPr>
          <a:xfrm>
            <a:off x="9372600" y="1673352"/>
            <a:ext cx="2130552" cy="1088136"/>
            <a:chOff x="9372600" y="1673352"/>
            <a:chExt cx="2130552" cy="1088136"/>
          </a:xfrm>
        </p:grpSpPr>
        <p:sp>
          <p:nvSpPr>
            <p:cNvPr id="5" name="Rounded Rectangle 4"/>
            <p:cNvSpPr/>
            <p:nvPr/>
          </p:nvSpPr>
          <p:spPr>
            <a:xfrm>
              <a:off x="9372600" y="1673352"/>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528048" y="1764792"/>
              <a:ext cx="1874519" cy="548640"/>
            </a:xfrm>
            <a:prstGeom prst="rect">
              <a:avLst/>
            </a:prstGeom>
            <a:noFill/>
          </p:spPr>
          <p:txBody>
            <a:bodyPr wrap="square" lIns="0" tIns="0" rIns="0" bIns="0" anchor="t">
              <a:spAutoFit/>
            </a:bodyPr>
            <a:lstStyle/>
            <a:p>
              <a:pPr algn="l"/>
              <a:r>
                <a:rPr sz="2800" b="0" i="0">
                  <a:solidFill>
                    <a:srgbClr val="B45309"/>
                  </a:solidFill>
                  <a:latin typeface="Bahnschrift SemiBold"/>
                </a:rPr>
                <a:t>120 / 80 %</a:t>
              </a:r>
            </a:p>
          </p:txBody>
        </p:sp>
        <p:sp>
          <p:nvSpPr>
            <p:cNvPr id="7" name="TextBox 6"/>
            <p:cNvSpPr txBox="1"/>
            <p:nvPr/>
          </p:nvSpPr>
          <p:spPr>
            <a:xfrm>
              <a:off x="9528048" y="2258568"/>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of baseline</a:t>
              </a:r>
            </a:p>
          </p:txBody>
        </p:sp>
      </p:grpSp>
      <p:grpSp>
        <p:nvGrpSpPr>
          <p:cNvPr id="12" name="bd1"/>
          <p:cNvGrpSpPr/>
          <p:nvPr/>
        </p:nvGrpSpPr>
        <p:grpSpPr>
          <a:xfrm>
            <a:off x="9372600" y="2889504"/>
            <a:ext cx="2130552" cy="1088136"/>
            <a:chOff x="9372600" y="2889504"/>
            <a:chExt cx="2130552" cy="1088136"/>
          </a:xfrm>
        </p:grpSpPr>
        <p:sp>
          <p:nvSpPr>
            <p:cNvPr id="9" name="Rounded Rectangle 8"/>
            <p:cNvSpPr/>
            <p:nvPr/>
          </p:nvSpPr>
          <p:spPr>
            <a:xfrm>
              <a:off x="9372600" y="2889504"/>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28048" y="2980944"/>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5 s</a:t>
              </a:r>
            </a:p>
          </p:txBody>
        </p:sp>
        <p:sp>
          <p:nvSpPr>
            <p:cNvPr id="11" name="TextBox 10"/>
            <p:cNvSpPr txBox="1"/>
            <p:nvPr/>
          </p:nvSpPr>
          <p:spPr>
            <a:xfrm>
              <a:off x="9528048" y="3474720"/>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persistence</a:t>
              </a:r>
            </a:p>
          </p:txBody>
        </p:sp>
      </p:grpSp>
      <p:grpSp>
        <p:nvGrpSpPr>
          <p:cNvPr id="16" name="bd2"/>
          <p:cNvGrpSpPr/>
          <p:nvPr/>
        </p:nvGrpSpPr>
        <p:grpSpPr>
          <a:xfrm>
            <a:off x="9372600" y="4105656"/>
            <a:ext cx="2130552" cy="1088136"/>
            <a:chOff x="9372600" y="4105656"/>
            <a:chExt cx="2130552" cy="1088136"/>
          </a:xfrm>
        </p:grpSpPr>
        <p:sp>
          <p:nvSpPr>
            <p:cNvPr id="13" name="Rounded Rectangle 12"/>
            <p:cNvSpPr/>
            <p:nvPr/>
          </p:nvSpPr>
          <p:spPr>
            <a:xfrm>
              <a:off x="9372600" y="4105656"/>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528048" y="4197096"/>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90 %</a:t>
              </a:r>
            </a:p>
          </p:txBody>
        </p:sp>
        <p:sp>
          <p:nvSpPr>
            <p:cNvPr id="15" name="TextBox 14"/>
            <p:cNvSpPr txBox="1"/>
            <p:nvPr/>
          </p:nvSpPr>
          <p:spPr>
            <a:xfrm>
              <a:off x="9528048" y="4690872"/>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detection rate</a:t>
              </a:r>
            </a:p>
          </p:txBody>
        </p:sp>
      </p:grpSp>
      <p:grpSp>
        <p:nvGrpSpPr>
          <p:cNvPr id="20" name="bd3"/>
          <p:cNvGrpSpPr/>
          <p:nvPr/>
        </p:nvGrpSpPr>
        <p:grpSpPr>
          <a:xfrm>
            <a:off x="9372600" y="5321808"/>
            <a:ext cx="2130552" cy="1088136"/>
            <a:chOff x="9372600" y="5321808"/>
            <a:chExt cx="2130552" cy="1088136"/>
          </a:xfrm>
        </p:grpSpPr>
        <p:sp>
          <p:nvSpPr>
            <p:cNvPr id="17" name="Rounded Rectangle 16"/>
            <p:cNvSpPr/>
            <p:nvPr/>
          </p:nvSpPr>
          <p:spPr>
            <a:xfrm>
              <a:off x="9372600" y="5321808"/>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528048" y="5413248"/>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5 s</a:t>
              </a:r>
            </a:p>
          </p:txBody>
        </p:sp>
        <p:sp>
          <p:nvSpPr>
            <p:cNvPr id="19" name="TextBox 18"/>
            <p:cNvSpPr txBox="1"/>
            <p:nvPr/>
          </p:nvSpPr>
          <p:spPr>
            <a:xfrm>
              <a:off x="9528048" y="5907024"/>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to warn</a:t>
              </a:r>
            </a:p>
          </p:txBody>
        </p:sp>
      </p:grpSp>
      <p:pic>
        <p:nvPicPr>
          <p:cNvPr id="22" name="Video Project">
            <a:hlinkClick r:id="" action="ppaction://media"/>
            <a:extLst>
              <a:ext uri="{FF2B5EF4-FFF2-40B4-BE49-F238E27FC236}">
                <a16:creationId xmlns:a16="http://schemas.microsoft.com/office/drawing/2014/main" id="{0AA75E1F-70BF-4A04-9631-09F1328A974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23029" y="1764792"/>
            <a:ext cx="8338022" cy="4690137"/>
          </a:xfrm>
          <a:prstGeom prst="round2SameRect">
            <a:avLst>
              <a:gd name="adj1" fmla="val 3205"/>
              <a:gd name="adj2" fmla="val 6035"/>
            </a:avLst>
          </a:prstGeom>
        </p:spPr>
      </p:pic>
    </p:spTree>
    <p:extLst>
      <p:ext uri="{BB962C8B-B14F-4D97-AF65-F5344CB8AC3E}">
        <p14:creationId xmlns:p14="http://schemas.microsoft.com/office/powerpoint/2010/main" val="274241332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anim calcmode="lin" valueType="num">
                                      <p:cBhvr>
                                        <p:cTn id="8" dur="400" fill="hold"/>
                                        <p:tgtEl>
                                          <p:spTgt spid="8"/>
                                        </p:tgtEl>
                                        <p:attrNameLst>
                                          <p:attrName>ppt_x</p:attrName>
                                        </p:attrNameLst>
                                      </p:cBhvr>
                                      <p:tavLst>
                                        <p:tav tm="0">
                                          <p:val>
                                            <p:strVal val="#ppt_x"/>
                                          </p:val>
                                        </p:tav>
                                        <p:tav tm="100000">
                                          <p:val>
                                            <p:strVal val="#ppt_x"/>
                                          </p:val>
                                        </p:tav>
                                      </p:tavLst>
                                    </p:anim>
                                    <p:anim calcmode="lin" valueType="num">
                                      <p:cBhvr>
                                        <p:cTn id="9" dur="4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1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anim calcmode="lin" valueType="num">
                                      <p:cBhvr>
                                        <p:cTn id="14" dur="400" fill="hold"/>
                                        <p:tgtEl>
                                          <p:spTgt spid="12"/>
                                        </p:tgtEl>
                                        <p:attrNameLst>
                                          <p:attrName>ppt_x</p:attrName>
                                        </p:attrNameLst>
                                      </p:cBhvr>
                                      <p:tavLst>
                                        <p:tav tm="0">
                                          <p:val>
                                            <p:strVal val="#ppt_x"/>
                                          </p:val>
                                        </p:tav>
                                        <p:tav tm="100000">
                                          <p:val>
                                            <p:strVal val="#ppt_x"/>
                                          </p:val>
                                        </p:tav>
                                      </p:tavLst>
                                    </p:anim>
                                    <p:anim calcmode="lin" valueType="num">
                                      <p:cBhvr>
                                        <p:cTn id="15" dur="400" fill="hold"/>
                                        <p:tgtEl>
                                          <p:spTgt spid="12"/>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1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anim calcmode="lin" valueType="num">
                                      <p:cBhvr>
                                        <p:cTn id="20" dur="400" fill="hold"/>
                                        <p:tgtEl>
                                          <p:spTgt spid="16"/>
                                        </p:tgtEl>
                                        <p:attrNameLst>
                                          <p:attrName>ppt_x</p:attrName>
                                        </p:attrNameLst>
                                      </p:cBhvr>
                                      <p:tavLst>
                                        <p:tav tm="0">
                                          <p:val>
                                            <p:strVal val="#ppt_x"/>
                                          </p:val>
                                        </p:tav>
                                        <p:tav tm="100000">
                                          <p:val>
                                            <p:strVal val="#ppt_x"/>
                                          </p:val>
                                        </p:tav>
                                      </p:tavLst>
                                    </p:anim>
                                    <p:anim calcmode="lin" valueType="num">
                                      <p:cBhvr>
                                        <p:cTn id="21" dur="400" fill="hold"/>
                                        <p:tgtEl>
                                          <p:spTgt spid="16"/>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10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400"/>
                                        <p:tgtEl>
                                          <p:spTgt spid="20"/>
                                        </p:tgtEl>
                                      </p:cBhvr>
                                    </p:animEffect>
                                    <p:anim calcmode="lin" valueType="num">
                                      <p:cBhvr>
                                        <p:cTn id="26" dur="400" fill="hold"/>
                                        <p:tgtEl>
                                          <p:spTgt spid="20"/>
                                        </p:tgtEl>
                                        <p:attrNameLst>
                                          <p:attrName>ppt_x</p:attrName>
                                        </p:attrNameLst>
                                      </p:cBhvr>
                                      <p:tavLst>
                                        <p:tav tm="0">
                                          <p:val>
                                            <p:strVal val="#ppt_x"/>
                                          </p:val>
                                        </p:tav>
                                        <p:tav tm="100000">
                                          <p:val>
                                            <p:strVal val="#ppt_x"/>
                                          </p:val>
                                        </p:tav>
                                      </p:tavLst>
                                    </p:anim>
                                    <p:anim calcmode="lin" valueType="num">
                                      <p:cBhvr>
                                        <p:cTn id="27" dur="400" fill="hold"/>
                                        <p:tgtEl>
                                          <p:spTgt spid="20"/>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1" presetClass="mediacall" presetSubtype="0" fill="hold" nodeType="afterEffect">
                                  <p:stCondLst>
                                    <p:cond delay="0"/>
                                  </p:stCondLst>
                                  <p:childTnLst>
                                    <p:cmd type="call" cmd="playFrom(0.0)">
                                      <p:cBhvr>
                                        <p:cTn id="30" dur="4043"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31" fill="hold" display="0">
                  <p:stCondLst>
                    <p:cond delay="indefinite"/>
                  </p:stCondLst>
                </p:cTn>
                <p:tgtEl>
                  <p:spTgt spid="22"/>
                </p:tgtEl>
              </p:cMediaNode>
            </p:video>
            <p:seq concurrent="1" nextAc="seek">
              <p:cTn id="32" restart="whenNotActive" fill="hold" evtFilter="cancelBubble" nodeType="interactiveSeq">
                <p:stCondLst>
                  <p:cond evt="onClick" delay="0">
                    <p:tgtEl>
                      <p:spTgt spid="22"/>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22"/>
                                        </p:tgtEl>
                                      </p:cBhvr>
                                    </p:cmd>
                                  </p:childTnLst>
                                </p:cTn>
                              </p:par>
                            </p:childTnLst>
                          </p:cTn>
                        </p:par>
                      </p:childTnLst>
                    </p:cTn>
                  </p:par>
                </p:childTnLst>
              </p:cTn>
              <p:nextCondLst>
                <p:cond evt="onClick" delay="0">
                  <p:tgtEl>
                    <p:spTgt spid="2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421AC3DE-DF2A-4C07-AB98-AE0F819D6738}" type="slidenum">
              <a:rPr lang="en-US" sz="1100" b="0" i="0">
                <a:solidFill>
                  <a:srgbClr val="5B6B7F"/>
                </a:solidFill>
                <a:latin typeface="Bahnschrift"/>
              </a:rPr>
              <a:t>19</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Realistic constraints</a:t>
            </a:r>
          </a:p>
        </p:txBody>
      </p:sp>
      <p:grpSp>
        <p:nvGrpSpPr>
          <p:cNvPr id="9" name="c0"/>
          <p:cNvGrpSpPr/>
          <p:nvPr/>
        </p:nvGrpSpPr>
        <p:grpSpPr>
          <a:xfrm>
            <a:off x="685800" y="1828800"/>
            <a:ext cx="3429000" cy="1874519"/>
            <a:chOff x="685800" y="1828800"/>
            <a:chExt cx="3429000" cy="1874519"/>
          </a:xfrm>
        </p:grpSpPr>
        <p:sp>
          <p:nvSpPr>
            <p:cNvPr id="6" name="Rounded Rectangle 5"/>
            <p:cNvSpPr/>
            <p:nvPr/>
          </p:nvSpPr>
          <p:spPr>
            <a:xfrm>
              <a:off x="685800"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60120" y="210312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C-01  ·  BUDGET</a:t>
              </a:r>
            </a:p>
          </p:txBody>
        </p:sp>
        <p:sp>
          <p:nvSpPr>
            <p:cNvPr id="8" name="TextBox 7"/>
            <p:cNvSpPr txBox="1"/>
            <p:nvPr/>
          </p:nvSpPr>
          <p:spPr>
            <a:xfrm>
              <a:off x="960120" y="2606040"/>
              <a:ext cx="3017520" cy="822960"/>
            </a:xfrm>
            <a:prstGeom prst="rect">
              <a:avLst/>
            </a:prstGeom>
            <a:noFill/>
          </p:spPr>
          <p:txBody>
            <a:bodyPr wrap="square" lIns="0" tIns="0" rIns="0" bIns="0" anchor="t">
              <a:spAutoFit/>
            </a:bodyPr>
            <a:lstStyle/>
            <a:p>
              <a:pPr algn="l"/>
              <a:r>
                <a:rPr sz="3000" b="0" i="0" dirty="0">
                  <a:solidFill>
                    <a:srgbClr val="0E1B2C"/>
                  </a:solidFill>
                  <a:latin typeface="Segoe UI Semibold"/>
                </a:rPr>
                <a:t>≤</a:t>
              </a:r>
              <a:r>
                <a:rPr sz="3000" b="0" i="0" dirty="0">
                  <a:solidFill>
                    <a:srgbClr val="0E1B2C"/>
                  </a:solidFill>
                  <a:latin typeface="Bahnschrift SemiBold"/>
                </a:rPr>
                <a:t> 1,000 SAR</a:t>
              </a:r>
            </a:p>
          </p:txBody>
        </p:sp>
      </p:grpSp>
      <p:grpSp>
        <p:nvGrpSpPr>
          <p:cNvPr id="13" name="c1"/>
          <p:cNvGrpSpPr/>
          <p:nvPr/>
        </p:nvGrpSpPr>
        <p:grpSpPr>
          <a:xfrm>
            <a:off x="685800" y="3931920"/>
            <a:ext cx="3429000" cy="1874519"/>
            <a:chOff x="4379976" y="1828800"/>
            <a:chExt cx="3429000" cy="1874519"/>
          </a:xfrm>
        </p:grpSpPr>
        <p:sp>
          <p:nvSpPr>
            <p:cNvPr id="10" name="Rounded Rectangle 9"/>
            <p:cNvSpPr/>
            <p:nvPr/>
          </p:nvSpPr>
          <p:spPr>
            <a:xfrm>
              <a:off x="4379976"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654296" y="2103120"/>
              <a:ext cx="2926080" cy="320040"/>
            </a:xfrm>
            <a:prstGeom prst="rect">
              <a:avLst/>
            </a:prstGeom>
            <a:noFill/>
          </p:spPr>
          <p:txBody>
            <a:bodyPr wrap="square" lIns="0" tIns="0" rIns="0" bIns="0" anchor="t">
              <a:spAutoFit/>
            </a:bodyPr>
            <a:lstStyle/>
            <a:p>
              <a:pPr algn="l"/>
              <a:r>
                <a:rPr lang="en-US" sz="1400" b="0" i="0" spc="150" dirty="0">
                  <a:solidFill>
                    <a:srgbClr val="B45309"/>
                  </a:solidFill>
                  <a:latin typeface="Segoe UI Semibold"/>
                </a:rPr>
                <a:t>C-04  ·  SCHEDULE</a:t>
              </a:r>
            </a:p>
          </p:txBody>
        </p:sp>
        <p:sp>
          <p:nvSpPr>
            <p:cNvPr id="12" name="TextBox 11"/>
            <p:cNvSpPr txBox="1"/>
            <p:nvPr/>
          </p:nvSpPr>
          <p:spPr>
            <a:xfrm>
              <a:off x="4654296" y="2606040"/>
              <a:ext cx="3017520" cy="923330"/>
            </a:xfrm>
            <a:prstGeom prst="rect">
              <a:avLst/>
            </a:prstGeom>
            <a:noFill/>
          </p:spPr>
          <p:txBody>
            <a:bodyPr wrap="square" lIns="0" tIns="0" rIns="0" bIns="0" anchor="t">
              <a:spAutoFit/>
            </a:bodyPr>
            <a:lstStyle/>
            <a:p>
              <a:pPr algn="l"/>
              <a:r>
                <a:rPr lang="en-US" sz="3000" b="0" i="0" dirty="0">
                  <a:solidFill>
                    <a:srgbClr val="0E1B2C"/>
                  </a:solidFill>
                  <a:latin typeface="Bahnschrift SemiBold"/>
                </a:rPr>
                <a:t>Befor</a:t>
              </a:r>
              <a:r>
                <a:rPr lang="en-US" sz="3000" dirty="0">
                  <a:solidFill>
                    <a:srgbClr val="0E1B2C"/>
                  </a:solidFill>
                  <a:latin typeface="Bahnschrift SemiBold"/>
                </a:rPr>
                <a:t>e the deadline </a:t>
              </a:r>
              <a:endParaRPr sz="3000" b="0" i="0" dirty="0">
                <a:solidFill>
                  <a:srgbClr val="0E1B2C"/>
                </a:solidFill>
                <a:latin typeface="Bahnschrift SemiBold"/>
              </a:endParaRPr>
            </a:p>
          </p:txBody>
        </p:sp>
      </p:grpSp>
      <p:grpSp>
        <p:nvGrpSpPr>
          <p:cNvPr id="17" name="c2"/>
          <p:cNvGrpSpPr/>
          <p:nvPr/>
        </p:nvGrpSpPr>
        <p:grpSpPr>
          <a:xfrm>
            <a:off x="4379976" y="1828800"/>
            <a:ext cx="3429000" cy="1874519"/>
            <a:chOff x="8074152" y="1828800"/>
            <a:chExt cx="3429000" cy="1874519"/>
          </a:xfrm>
        </p:grpSpPr>
        <p:sp>
          <p:nvSpPr>
            <p:cNvPr id="14" name="Rounded Rectangle 13"/>
            <p:cNvSpPr/>
            <p:nvPr/>
          </p:nvSpPr>
          <p:spPr>
            <a:xfrm>
              <a:off x="8074152"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348472" y="210312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C-02  ·  SCOPE</a:t>
              </a:r>
            </a:p>
          </p:txBody>
        </p:sp>
        <p:sp>
          <p:nvSpPr>
            <p:cNvPr id="16" name="TextBox 15"/>
            <p:cNvSpPr txBox="1"/>
            <p:nvPr/>
          </p:nvSpPr>
          <p:spPr>
            <a:xfrm>
              <a:off x="8348472" y="2606040"/>
              <a:ext cx="3017520" cy="923330"/>
            </a:xfrm>
            <a:prstGeom prst="rect">
              <a:avLst/>
            </a:prstGeom>
            <a:noFill/>
          </p:spPr>
          <p:txBody>
            <a:bodyPr wrap="square" lIns="0" tIns="0" rIns="0" bIns="0" anchor="t">
              <a:spAutoFit/>
            </a:bodyPr>
            <a:lstStyle/>
            <a:p>
              <a:pPr algn="l"/>
              <a:r>
                <a:rPr sz="3000" b="0" i="0" dirty="0">
                  <a:solidFill>
                    <a:srgbClr val="0E1B2C"/>
                  </a:solidFill>
                  <a:latin typeface="Bahnschrift SemiBold"/>
                </a:rPr>
                <a:t>Single-phase</a:t>
              </a:r>
              <a:endParaRPr lang="ar-SA" sz="3000" b="0" i="0" dirty="0">
                <a:solidFill>
                  <a:srgbClr val="0E1B2C"/>
                </a:solidFill>
                <a:latin typeface="Bahnschrift SemiBold"/>
              </a:endParaRPr>
            </a:p>
            <a:p>
              <a:pPr algn="l"/>
              <a:endParaRPr sz="3000" b="0" i="0" dirty="0">
                <a:solidFill>
                  <a:srgbClr val="0E1B2C"/>
                </a:solidFill>
                <a:latin typeface="Bahnschrift SemiBold"/>
              </a:endParaRPr>
            </a:p>
          </p:txBody>
        </p:sp>
      </p:grpSp>
      <p:grpSp>
        <p:nvGrpSpPr>
          <p:cNvPr id="21" name="c3"/>
          <p:cNvGrpSpPr/>
          <p:nvPr/>
        </p:nvGrpSpPr>
        <p:grpSpPr>
          <a:xfrm>
            <a:off x="8074152" y="1828800"/>
            <a:ext cx="3429000" cy="1874519"/>
            <a:chOff x="685800" y="3931920"/>
            <a:chExt cx="3429000" cy="1874519"/>
          </a:xfrm>
        </p:grpSpPr>
        <p:sp>
          <p:nvSpPr>
            <p:cNvPr id="18" name="Rounded Rectangle 17"/>
            <p:cNvSpPr/>
            <p:nvPr/>
          </p:nvSpPr>
          <p:spPr>
            <a:xfrm>
              <a:off x="685800"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60120" y="420624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C-03  ·  LAB POWER</a:t>
              </a:r>
            </a:p>
          </p:txBody>
        </p:sp>
        <p:sp>
          <p:nvSpPr>
            <p:cNvPr id="20" name="TextBox 19"/>
            <p:cNvSpPr txBox="1"/>
            <p:nvPr/>
          </p:nvSpPr>
          <p:spPr>
            <a:xfrm>
              <a:off x="960120" y="4709159"/>
              <a:ext cx="3017520" cy="822960"/>
            </a:xfrm>
            <a:prstGeom prst="rect">
              <a:avLst/>
            </a:prstGeom>
            <a:noFill/>
          </p:spPr>
          <p:txBody>
            <a:bodyPr wrap="square" lIns="0" tIns="0" rIns="0" bIns="0" anchor="t">
              <a:spAutoFit/>
            </a:bodyPr>
            <a:lstStyle/>
            <a:p>
              <a:pPr algn="l"/>
              <a:r>
                <a:rPr sz="3000" b="0" i="0" dirty="0">
                  <a:solidFill>
                    <a:srgbClr val="0E1B2C"/>
                  </a:solidFill>
                  <a:latin typeface="Segoe UI Semibold"/>
                </a:rPr>
                <a:t>≤</a:t>
              </a:r>
              <a:r>
                <a:rPr sz="3000" b="0" i="0" dirty="0">
                  <a:solidFill>
                    <a:srgbClr val="0E1B2C"/>
                  </a:solidFill>
                  <a:latin typeface="Bahnschrift SemiBold"/>
                </a:rPr>
                <a:t> 2 kW</a:t>
              </a:r>
            </a:p>
          </p:txBody>
        </p:sp>
      </p:grpSp>
      <p:grpSp>
        <p:nvGrpSpPr>
          <p:cNvPr id="25" name="c4"/>
          <p:cNvGrpSpPr/>
          <p:nvPr/>
        </p:nvGrpSpPr>
        <p:grpSpPr>
          <a:xfrm>
            <a:off x="4379976" y="3931920"/>
            <a:ext cx="3429000" cy="1874519"/>
            <a:chOff x="4379976" y="3931920"/>
            <a:chExt cx="3429000" cy="1874519"/>
          </a:xfrm>
        </p:grpSpPr>
        <p:sp>
          <p:nvSpPr>
            <p:cNvPr id="22" name="Rounded Rectangle 21"/>
            <p:cNvSpPr/>
            <p:nvPr/>
          </p:nvSpPr>
          <p:spPr>
            <a:xfrm>
              <a:off x="4379976"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654296" y="4206240"/>
              <a:ext cx="2926080" cy="320040"/>
            </a:xfrm>
            <a:prstGeom prst="rect">
              <a:avLst/>
            </a:prstGeom>
            <a:noFill/>
          </p:spPr>
          <p:txBody>
            <a:bodyPr wrap="square" lIns="0" tIns="0" rIns="0" bIns="0" anchor="t">
              <a:spAutoFit/>
            </a:bodyPr>
            <a:lstStyle/>
            <a:p>
              <a:pPr algn="l"/>
              <a:r>
                <a:rPr sz="1400" b="0" i="0" spc="150" dirty="0">
                  <a:solidFill>
                    <a:srgbClr val="B45309"/>
                  </a:solidFill>
                  <a:latin typeface="Segoe UI Semibold"/>
                </a:rPr>
                <a:t>C-05  ·  APPLIANCES</a:t>
              </a:r>
            </a:p>
          </p:txBody>
        </p:sp>
        <p:sp>
          <p:nvSpPr>
            <p:cNvPr id="24" name="TextBox 23"/>
            <p:cNvSpPr txBox="1"/>
            <p:nvPr/>
          </p:nvSpPr>
          <p:spPr>
            <a:xfrm>
              <a:off x="4654296" y="4709159"/>
              <a:ext cx="3017520" cy="822960"/>
            </a:xfrm>
            <a:prstGeom prst="rect">
              <a:avLst/>
            </a:prstGeom>
            <a:noFill/>
          </p:spPr>
          <p:txBody>
            <a:bodyPr wrap="square" lIns="0" tIns="0" rIns="0" bIns="0" anchor="t">
              <a:spAutoFit/>
            </a:bodyPr>
            <a:lstStyle/>
            <a:p>
              <a:pPr algn="l"/>
              <a:r>
                <a:rPr sz="3000" b="0" i="0" dirty="0">
                  <a:solidFill>
                    <a:srgbClr val="0E1B2C"/>
                  </a:solidFill>
                  <a:latin typeface="Bahnschrift SemiBold"/>
                </a:rPr>
                <a:t>No modification</a:t>
              </a:r>
            </a:p>
          </p:txBody>
        </p:sp>
      </p:grpSp>
      <p:grpSp>
        <p:nvGrpSpPr>
          <p:cNvPr id="29" name="c5"/>
          <p:cNvGrpSpPr/>
          <p:nvPr/>
        </p:nvGrpSpPr>
        <p:grpSpPr>
          <a:xfrm>
            <a:off x="8074152" y="3931920"/>
            <a:ext cx="3429000" cy="1874519"/>
            <a:chOff x="8074152" y="3931920"/>
            <a:chExt cx="3429000" cy="1874519"/>
          </a:xfrm>
        </p:grpSpPr>
        <p:sp>
          <p:nvSpPr>
            <p:cNvPr id="26" name="Rounded Rectangle 25"/>
            <p:cNvSpPr/>
            <p:nvPr/>
          </p:nvSpPr>
          <p:spPr>
            <a:xfrm>
              <a:off x="8074152"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348472" y="420624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C-06  ·  SAFETY</a:t>
              </a:r>
            </a:p>
          </p:txBody>
        </p:sp>
        <p:sp>
          <p:nvSpPr>
            <p:cNvPr id="28" name="TextBox 27"/>
            <p:cNvSpPr txBox="1"/>
            <p:nvPr/>
          </p:nvSpPr>
          <p:spPr>
            <a:xfrm>
              <a:off x="8348472" y="4709159"/>
              <a:ext cx="3017520" cy="822960"/>
            </a:xfrm>
            <a:prstGeom prst="rect">
              <a:avLst/>
            </a:prstGeom>
            <a:noFill/>
          </p:spPr>
          <p:txBody>
            <a:bodyPr wrap="square" lIns="0" tIns="0" rIns="0" bIns="0" anchor="t">
              <a:spAutoFit/>
            </a:bodyPr>
            <a:lstStyle/>
            <a:p>
              <a:pPr algn="l"/>
              <a:r>
                <a:rPr sz="3000" b="0" i="0" dirty="0">
                  <a:solidFill>
                    <a:srgbClr val="0E1B2C"/>
                  </a:solidFill>
                  <a:latin typeface="Bahnschrift SemiBold"/>
                </a:rPr>
                <a:t>Supervised lab</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anim calcmode="lin" valueType="num">
                                      <p:cBhvr>
                                        <p:cTn id="8" dur="450" fill="hold"/>
                                        <p:tgtEl>
                                          <p:spTgt spid="9"/>
                                        </p:tgtEl>
                                        <p:attrNameLst>
                                          <p:attrName>ppt_x</p:attrName>
                                        </p:attrNameLst>
                                      </p:cBhvr>
                                      <p:tavLst>
                                        <p:tav tm="0">
                                          <p:val>
                                            <p:strVal val="#ppt_x"/>
                                          </p:val>
                                        </p:tav>
                                        <p:tav tm="100000">
                                          <p:val>
                                            <p:strVal val="#ppt_x"/>
                                          </p:val>
                                        </p:tav>
                                      </p:tavLst>
                                    </p:anim>
                                    <p:anim calcmode="lin" valueType="num">
                                      <p:cBhvr>
                                        <p:cTn id="9" dur="4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330"/>
                            </p:stCondLst>
                            <p:childTnLst>
                              <p:par>
                                <p:cTn id="11" presetID="42"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anim calcmode="lin" valueType="num">
                                      <p:cBhvr>
                                        <p:cTn id="14" dur="450" fill="hold"/>
                                        <p:tgtEl>
                                          <p:spTgt spid="17"/>
                                        </p:tgtEl>
                                        <p:attrNameLst>
                                          <p:attrName>ppt_x</p:attrName>
                                        </p:attrNameLst>
                                      </p:cBhvr>
                                      <p:tavLst>
                                        <p:tav tm="0">
                                          <p:val>
                                            <p:strVal val="#ppt_x"/>
                                          </p:val>
                                        </p:tav>
                                        <p:tav tm="100000">
                                          <p:val>
                                            <p:strVal val="#ppt_x"/>
                                          </p:val>
                                        </p:tav>
                                      </p:tavLst>
                                    </p:anim>
                                    <p:anim calcmode="lin" valueType="num">
                                      <p:cBhvr>
                                        <p:cTn id="15" dur="45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510"/>
                            </p:stCondLst>
                            <p:childTnLst>
                              <p:par>
                                <p:cTn id="17" presetID="42"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50"/>
                                        <p:tgtEl>
                                          <p:spTgt spid="21"/>
                                        </p:tgtEl>
                                      </p:cBhvr>
                                    </p:animEffect>
                                    <p:anim calcmode="lin" valueType="num">
                                      <p:cBhvr>
                                        <p:cTn id="20" dur="450" fill="hold"/>
                                        <p:tgtEl>
                                          <p:spTgt spid="21"/>
                                        </p:tgtEl>
                                        <p:attrNameLst>
                                          <p:attrName>ppt_x</p:attrName>
                                        </p:attrNameLst>
                                      </p:cBhvr>
                                      <p:tavLst>
                                        <p:tav tm="0">
                                          <p:val>
                                            <p:strVal val="#ppt_x"/>
                                          </p:val>
                                        </p:tav>
                                        <p:tav tm="100000">
                                          <p:val>
                                            <p:strVal val="#ppt_x"/>
                                          </p:val>
                                        </p:tav>
                                      </p:tavLst>
                                    </p:anim>
                                    <p:anim calcmode="lin" valueType="num">
                                      <p:cBhvr>
                                        <p:cTn id="21" dur="450" fill="hold"/>
                                        <p:tgtEl>
                                          <p:spTgt spid="21"/>
                                        </p:tgtEl>
                                        <p:attrNameLst>
                                          <p:attrName>ppt_y</p:attrName>
                                        </p:attrNameLst>
                                      </p:cBhvr>
                                      <p:tavLst>
                                        <p:tav tm="0">
                                          <p:val>
                                            <p:strVal val="#ppt_y+.1"/>
                                          </p:val>
                                        </p:tav>
                                        <p:tav tm="100000">
                                          <p:val>
                                            <p:strVal val="#ppt_y"/>
                                          </p:val>
                                        </p:tav>
                                      </p:tavLst>
                                    </p:anim>
                                  </p:childTnLst>
                                </p:cTn>
                              </p:par>
                            </p:childTnLst>
                          </p:cTn>
                        </p:par>
                        <p:par>
                          <p:cTn id="22" fill="hold">
                            <p:stCondLst>
                              <p:cond delay="690"/>
                            </p:stCondLst>
                            <p:childTnLst>
                              <p:par>
                                <p:cTn id="23" presetID="42"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50"/>
                                        <p:tgtEl>
                                          <p:spTgt spid="13"/>
                                        </p:tgtEl>
                                      </p:cBhvr>
                                    </p:animEffect>
                                    <p:anim calcmode="lin" valueType="num">
                                      <p:cBhvr>
                                        <p:cTn id="26" dur="450" fill="hold"/>
                                        <p:tgtEl>
                                          <p:spTgt spid="13"/>
                                        </p:tgtEl>
                                        <p:attrNameLst>
                                          <p:attrName>ppt_x</p:attrName>
                                        </p:attrNameLst>
                                      </p:cBhvr>
                                      <p:tavLst>
                                        <p:tav tm="0">
                                          <p:val>
                                            <p:strVal val="#ppt_x"/>
                                          </p:val>
                                        </p:tav>
                                        <p:tav tm="100000">
                                          <p:val>
                                            <p:strVal val="#ppt_x"/>
                                          </p:val>
                                        </p:tav>
                                      </p:tavLst>
                                    </p:anim>
                                    <p:anim calcmode="lin" valueType="num">
                                      <p:cBhvr>
                                        <p:cTn id="27" dur="450" fill="hold"/>
                                        <p:tgtEl>
                                          <p:spTgt spid="13"/>
                                        </p:tgtEl>
                                        <p:attrNameLst>
                                          <p:attrName>ppt_y</p:attrName>
                                        </p:attrNameLst>
                                      </p:cBhvr>
                                      <p:tavLst>
                                        <p:tav tm="0">
                                          <p:val>
                                            <p:strVal val="#ppt_y+.1"/>
                                          </p:val>
                                        </p:tav>
                                        <p:tav tm="100000">
                                          <p:val>
                                            <p:strVal val="#ppt_y"/>
                                          </p:val>
                                        </p:tav>
                                      </p:tavLst>
                                    </p:anim>
                                  </p:childTnLst>
                                </p:cTn>
                              </p:par>
                            </p:childTnLst>
                          </p:cTn>
                        </p:par>
                        <p:par>
                          <p:cTn id="28" fill="hold">
                            <p:stCondLst>
                              <p:cond delay="870"/>
                            </p:stCondLst>
                            <p:childTnLst>
                              <p:par>
                                <p:cTn id="29" presetID="42"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50"/>
                                        <p:tgtEl>
                                          <p:spTgt spid="25"/>
                                        </p:tgtEl>
                                      </p:cBhvr>
                                    </p:animEffect>
                                    <p:anim calcmode="lin" valueType="num">
                                      <p:cBhvr>
                                        <p:cTn id="32" dur="450" fill="hold"/>
                                        <p:tgtEl>
                                          <p:spTgt spid="25"/>
                                        </p:tgtEl>
                                        <p:attrNameLst>
                                          <p:attrName>ppt_x</p:attrName>
                                        </p:attrNameLst>
                                      </p:cBhvr>
                                      <p:tavLst>
                                        <p:tav tm="0">
                                          <p:val>
                                            <p:strVal val="#ppt_x"/>
                                          </p:val>
                                        </p:tav>
                                        <p:tav tm="100000">
                                          <p:val>
                                            <p:strVal val="#ppt_x"/>
                                          </p:val>
                                        </p:tav>
                                      </p:tavLst>
                                    </p:anim>
                                    <p:anim calcmode="lin" valueType="num">
                                      <p:cBhvr>
                                        <p:cTn id="33" dur="450" fill="hold"/>
                                        <p:tgtEl>
                                          <p:spTgt spid="25"/>
                                        </p:tgtEl>
                                        <p:attrNameLst>
                                          <p:attrName>ppt_y</p:attrName>
                                        </p:attrNameLst>
                                      </p:cBhvr>
                                      <p:tavLst>
                                        <p:tav tm="0">
                                          <p:val>
                                            <p:strVal val="#ppt_y+.1"/>
                                          </p:val>
                                        </p:tav>
                                        <p:tav tm="100000">
                                          <p:val>
                                            <p:strVal val="#ppt_y"/>
                                          </p:val>
                                        </p:tav>
                                      </p:tavLst>
                                    </p:anim>
                                  </p:childTnLst>
                                </p:cTn>
                              </p:par>
                            </p:childTnLst>
                          </p:cTn>
                        </p:par>
                        <p:par>
                          <p:cTn id="34" fill="hold">
                            <p:stCondLst>
                              <p:cond delay="1050"/>
                            </p:stCondLst>
                            <p:childTnLst>
                              <p:par>
                                <p:cTn id="35" presetID="42" presetClass="entr" presetSubtype="0" fill="hold" nodeType="after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50"/>
                                        <p:tgtEl>
                                          <p:spTgt spid="29"/>
                                        </p:tgtEl>
                                      </p:cBhvr>
                                    </p:animEffect>
                                    <p:anim calcmode="lin" valueType="num">
                                      <p:cBhvr>
                                        <p:cTn id="38" dur="450" fill="hold"/>
                                        <p:tgtEl>
                                          <p:spTgt spid="29"/>
                                        </p:tgtEl>
                                        <p:attrNameLst>
                                          <p:attrName>ppt_x</p:attrName>
                                        </p:attrNameLst>
                                      </p:cBhvr>
                                      <p:tavLst>
                                        <p:tav tm="0">
                                          <p:val>
                                            <p:strVal val="#ppt_x"/>
                                          </p:val>
                                        </p:tav>
                                        <p:tav tm="100000">
                                          <p:val>
                                            <p:strVal val="#ppt_x"/>
                                          </p:val>
                                        </p:tav>
                                      </p:tavLst>
                                    </p:anim>
                                    <p:anim calcmode="lin" valueType="num">
                                      <p:cBhvr>
                                        <p:cTn id="39" dur="45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D83D3633-D93E-4597-864B-C3EC15B623F7}" type="slidenum">
              <a:rPr lang="en-US" sz="1100" b="0" i="0">
                <a:solidFill>
                  <a:srgbClr val="5B6B7F"/>
                </a:solidFill>
                <a:latin typeface="Bahnschrift"/>
              </a:rPr>
              <a:t>20</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Engineering standards</a:t>
            </a:r>
          </a:p>
        </p:txBody>
      </p:sp>
      <p:grpSp>
        <p:nvGrpSpPr>
          <p:cNvPr id="11" name="es0"/>
          <p:cNvGrpSpPr/>
          <p:nvPr/>
        </p:nvGrpSpPr>
        <p:grpSpPr>
          <a:xfrm>
            <a:off x="685800" y="1810512"/>
            <a:ext cx="5276088" cy="1783080"/>
            <a:chOff x="685800" y="1810512"/>
            <a:chExt cx="5276088" cy="1783080"/>
          </a:xfrm>
        </p:grpSpPr>
        <p:sp>
          <p:nvSpPr>
            <p:cNvPr id="6" name="Rounded Rectangle 5"/>
            <p:cNvSpPr/>
            <p:nvPr/>
          </p:nvSpPr>
          <p:spPr>
            <a:xfrm>
              <a:off x="685800" y="1810512"/>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130552"/>
              <a:ext cx="1143000" cy="1143000"/>
            </a:xfrm>
            <a:prstGeom prst="roundRect">
              <a:avLst>
                <a:gd name="adj" fmla="val 16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89864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IEC</a:t>
              </a:r>
            </a:p>
          </p:txBody>
        </p:sp>
        <p:pic>
          <p:nvPicPr>
            <p:cNvPr id="90" name="std_icon0" descr="std_controls.png"/>
            <p:cNvPicPr>
              <a:picLocks noChangeAspect="1"/>
            </p:cNvPicPr>
            <p:nvPr/>
          </p:nvPicPr>
          <p:blipFill>
            <a:blip r:embed="rId3"/>
            <a:stretch>
              <a:fillRect/>
            </a:stretch>
          </p:blipFill>
          <p:spPr>
            <a:xfrm>
              <a:off x="1284732" y="2313432"/>
              <a:ext cx="493776" cy="493776"/>
            </a:xfrm>
            <a:prstGeom prst="rect">
              <a:avLst/>
            </a:prstGeom>
          </p:spPr>
        </p:pic>
        <p:sp>
          <p:nvSpPr>
            <p:cNvPr id="9" name="TextBox 8"/>
            <p:cNvSpPr txBox="1"/>
            <p:nvPr/>
          </p:nvSpPr>
          <p:spPr>
            <a:xfrm>
              <a:off x="2331720" y="2221992"/>
              <a:ext cx="3474720" cy="457200"/>
            </a:xfrm>
            <a:prstGeom prst="rect">
              <a:avLst/>
            </a:prstGeom>
            <a:noFill/>
          </p:spPr>
          <p:txBody>
            <a:bodyPr wrap="square" lIns="0" tIns="0" rIns="0" bIns="0" anchor="t">
              <a:spAutoFit/>
            </a:bodyPr>
            <a:lstStyle/>
            <a:p>
              <a:pPr algn="l"/>
              <a:r>
                <a:rPr sz="2100" b="0" i="0" dirty="0">
                  <a:solidFill>
                    <a:srgbClr val="0E1B2C"/>
                  </a:solidFill>
                  <a:latin typeface="Bahnschrift SemiBold"/>
                </a:rPr>
                <a:t>IEC 60730-1:2022</a:t>
              </a:r>
            </a:p>
          </p:txBody>
        </p:sp>
        <p:sp>
          <p:nvSpPr>
            <p:cNvPr id="10" name="TextBox 9"/>
            <p:cNvSpPr txBox="1"/>
            <p:nvPr/>
          </p:nvSpPr>
          <p:spPr>
            <a:xfrm>
              <a:off x="2331720" y="2724912"/>
              <a:ext cx="3474720" cy="457200"/>
            </a:xfrm>
            <a:prstGeom prst="rect">
              <a:avLst/>
            </a:prstGeom>
            <a:noFill/>
          </p:spPr>
          <p:txBody>
            <a:bodyPr wrap="square" lIns="0" tIns="0" rIns="0" bIns="0" anchor="t">
              <a:spAutoFit/>
            </a:bodyPr>
            <a:lstStyle/>
            <a:p>
              <a:pPr algn="l"/>
              <a:r>
                <a:rPr sz="2000" b="0" i="0" dirty="0">
                  <a:solidFill>
                    <a:srgbClr val="5B6B7F"/>
                  </a:solidFill>
                  <a:latin typeface="Segoe UI Semibold"/>
                </a:rPr>
                <a:t>Automatic controls</a:t>
              </a:r>
            </a:p>
          </p:txBody>
        </p:sp>
      </p:grpSp>
      <p:grpSp>
        <p:nvGrpSpPr>
          <p:cNvPr id="17" name="es1"/>
          <p:cNvGrpSpPr/>
          <p:nvPr/>
        </p:nvGrpSpPr>
        <p:grpSpPr>
          <a:xfrm>
            <a:off x="6227064" y="1810512"/>
            <a:ext cx="5276088" cy="1783080"/>
            <a:chOff x="6227064" y="1810512"/>
            <a:chExt cx="5276088" cy="1783080"/>
          </a:xfrm>
        </p:grpSpPr>
        <p:sp>
          <p:nvSpPr>
            <p:cNvPr id="12" name="Rounded Rectangle 11"/>
            <p:cNvSpPr/>
            <p:nvPr/>
          </p:nvSpPr>
          <p:spPr>
            <a:xfrm>
              <a:off x="6227064" y="1810512"/>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501383" y="2130552"/>
              <a:ext cx="1143000" cy="1143000"/>
            </a:xfrm>
            <a:prstGeom prst="roundRect">
              <a:avLst>
                <a:gd name="adj" fmla="val 16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01384" y="289864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IEC</a:t>
              </a:r>
            </a:p>
          </p:txBody>
        </p:sp>
        <p:pic>
          <p:nvPicPr>
            <p:cNvPr id="91" name="std_icon1" descr="std_meter.png"/>
            <p:cNvPicPr>
              <a:picLocks noChangeAspect="1"/>
            </p:cNvPicPr>
            <p:nvPr/>
          </p:nvPicPr>
          <p:blipFill>
            <a:blip r:embed="rId4"/>
            <a:stretch>
              <a:fillRect/>
            </a:stretch>
          </p:blipFill>
          <p:spPr>
            <a:xfrm>
              <a:off x="6825996" y="2313432"/>
              <a:ext cx="493776" cy="493776"/>
            </a:xfrm>
            <a:prstGeom prst="rect">
              <a:avLst/>
            </a:prstGeom>
          </p:spPr>
        </p:pic>
        <p:sp>
          <p:nvSpPr>
            <p:cNvPr id="15" name="TextBox 14"/>
            <p:cNvSpPr txBox="1"/>
            <p:nvPr/>
          </p:nvSpPr>
          <p:spPr>
            <a:xfrm>
              <a:off x="7872983" y="222199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IEC 62053-21:2020</a:t>
              </a:r>
            </a:p>
          </p:txBody>
        </p:sp>
        <p:sp>
          <p:nvSpPr>
            <p:cNvPr id="16" name="TextBox 15"/>
            <p:cNvSpPr txBox="1"/>
            <p:nvPr/>
          </p:nvSpPr>
          <p:spPr>
            <a:xfrm>
              <a:off x="7872983" y="272491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Energy-metering accuracy</a:t>
              </a:r>
            </a:p>
          </p:txBody>
        </p:sp>
      </p:grpSp>
      <p:grpSp>
        <p:nvGrpSpPr>
          <p:cNvPr id="23" name="es2"/>
          <p:cNvGrpSpPr/>
          <p:nvPr/>
        </p:nvGrpSpPr>
        <p:grpSpPr>
          <a:xfrm>
            <a:off x="685800" y="3822191"/>
            <a:ext cx="5276088" cy="1783080"/>
            <a:chOff x="685800" y="3822191"/>
            <a:chExt cx="5276088" cy="1783080"/>
          </a:xfrm>
        </p:grpSpPr>
        <p:sp>
          <p:nvSpPr>
            <p:cNvPr id="18" name="Rounded Rectangle 17"/>
            <p:cNvSpPr/>
            <p:nvPr/>
          </p:nvSpPr>
          <p:spPr>
            <a:xfrm>
              <a:off x="685800" y="3822191"/>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960120" y="4142231"/>
              <a:ext cx="1143000" cy="1143000"/>
            </a:xfrm>
            <a:prstGeom prst="roundRect">
              <a:avLst>
                <a:gd name="adj" fmla="val 1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60120" y="491032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SBC</a:t>
              </a:r>
            </a:p>
          </p:txBody>
        </p:sp>
        <p:pic>
          <p:nvPicPr>
            <p:cNvPr id="92" name="std_icon2" descr="std_wiring.png"/>
            <p:cNvPicPr>
              <a:picLocks noChangeAspect="1"/>
            </p:cNvPicPr>
            <p:nvPr/>
          </p:nvPicPr>
          <p:blipFill>
            <a:blip r:embed="rId5"/>
            <a:stretch>
              <a:fillRect/>
            </a:stretch>
          </p:blipFill>
          <p:spPr>
            <a:xfrm>
              <a:off x="1284732" y="4325112"/>
              <a:ext cx="493776" cy="493776"/>
            </a:xfrm>
            <a:prstGeom prst="rect">
              <a:avLst/>
            </a:prstGeom>
          </p:spPr>
        </p:pic>
        <p:sp>
          <p:nvSpPr>
            <p:cNvPr id="21" name="TextBox 20"/>
            <p:cNvSpPr txBox="1"/>
            <p:nvPr/>
          </p:nvSpPr>
          <p:spPr>
            <a:xfrm>
              <a:off x="2331720" y="423367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SBC 401 (2024)</a:t>
              </a:r>
            </a:p>
          </p:txBody>
        </p:sp>
        <p:sp>
          <p:nvSpPr>
            <p:cNvPr id="22" name="TextBox 21"/>
            <p:cNvSpPr txBox="1"/>
            <p:nvPr/>
          </p:nvSpPr>
          <p:spPr>
            <a:xfrm>
              <a:off x="2331720" y="473659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Wiring &amp; protection</a:t>
              </a:r>
            </a:p>
          </p:txBody>
        </p:sp>
      </p:grpSp>
      <p:grpSp>
        <p:nvGrpSpPr>
          <p:cNvPr id="29" name="es3"/>
          <p:cNvGrpSpPr/>
          <p:nvPr/>
        </p:nvGrpSpPr>
        <p:grpSpPr>
          <a:xfrm>
            <a:off x="6227064" y="3822191"/>
            <a:ext cx="5276088" cy="1783080"/>
            <a:chOff x="6227064" y="3822191"/>
            <a:chExt cx="5276088" cy="1783080"/>
          </a:xfrm>
        </p:grpSpPr>
        <p:sp>
          <p:nvSpPr>
            <p:cNvPr id="24" name="Rounded Rectangle 23"/>
            <p:cNvSpPr/>
            <p:nvPr/>
          </p:nvSpPr>
          <p:spPr>
            <a:xfrm>
              <a:off x="6227064" y="3822191"/>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501383" y="4142231"/>
              <a:ext cx="1143000" cy="1143000"/>
            </a:xfrm>
            <a:prstGeom prst="roundRect">
              <a:avLst>
                <a:gd name="adj" fmla="val 16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501384" y="491032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GSO</a:t>
              </a:r>
            </a:p>
          </p:txBody>
        </p:sp>
        <p:pic>
          <p:nvPicPr>
            <p:cNvPr id="93" name="std_icon3" descr="std_lv.png"/>
            <p:cNvPicPr>
              <a:picLocks noChangeAspect="1"/>
            </p:cNvPicPr>
            <p:nvPr/>
          </p:nvPicPr>
          <p:blipFill>
            <a:blip r:embed="rId6"/>
            <a:stretch>
              <a:fillRect/>
            </a:stretch>
          </p:blipFill>
          <p:spPr>
            <a:xfrm>
              <a:off x="6825996" y="4325112"/>
              <a:ext cx="493776" cy="493776"/>
            </a:xfrm>
            <a:prstGeom prst="rect">
              <a:avLst/>
            </a:prstGeom>
          </p:spPr>
        </p:pic>
        <p:sp>
          <p:nvSpPr>
            <p:cNvPr id="27" name="TextBox 26"/>
            <p:cNvSpPr txBox="1"/>
            <p:nvPr/>
          </p:nvSpPr>
          <p:spPr>
            <a:xfrm>
              <a:off x="7872983" y="423367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Gulf Technical Regulation</a:t>
              </a:r>
            </a:p>
          </p:txBody>
        </p:sp>
        <p:sp>
          <p:nvSpPr>
            <p:cNvPr id="28" name="TextBox 27"/>
            <p:cNvSpPr txBox="1"/>
            <p:nvPr/>
          </p:nvSpPr>
          <p:spPr>
            <a:xfrm>
              <a:off x="7872983" y="473659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Low-voltage equipment</a:t>
              </a:r>
            </a:p>
          </p:txBody>
        </p:sp>
      </p:grpSp>
      <p:sp>
        <p:nvSpPr>
          <p:cNvPr id="30" name="src"/>
          <p:cNvSpPr txBox="1"/>
          <p:nvPr/>
        </p:nvSpPr>
        <p:spPr>
          <a:xfrm>
            <a:off x="685800" y="5897880"/>
            <a:ext cx="10817352" cy="320040"/>
          </a:xfrm>
          <a:prstGeom prst="rect">
            <a:avLst/>
          </a:prstGeom>
          <a:noFill/>
        </p:spPr>
        <p:txBody>
          <a:bodyPr wrap="square" lIns="0" tIns="0" rIns="0" bIns="0" anchor="t">
            <a:spAutoFit/>
          </a:bodyPr>
          <a:lstStyle/>
          <a:p>
            <a:pPr algn="l"/>
            <a:r>
              <a:rPr sz="1300" b="0" i="1">
                <a:solidFill>
                  <a:srgbClr val="5B6B7F"/>
                </a:solidFill>
                <a:latin typeface="Segoe UI"/>
              </a:rPr>
              <a:t>Engineering and safety guidance — certification out of scope.</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anim calcmode="lin" valueType="num">
                                      <p:cBhvr>
                                        <p:cTn id="8" dur="450" fill="hold"/>
                                        <p:tgtEl>
                                          <p:spTgt spid="11"/>
                                        </p:tgtEl>
                                        <p:attrNameLst>
                                          <p:attrName>ppt_x</p:attrName>
                                        </p:attrNameLst>
                                      </p:cBhvr>
                                      <p:tavLst>
                                        <p:tav tm="0">
                                          <p:val>
                                            <p:strVal val="#ppt_x"/>
                                          </p:val>
                                        </p:tav>
                                        <p:tav tm="100000">
                                          <p:val>
                                            <p:strVal val="#ppt_x"/>
                                          </p:val>
                                        </p:tav>
                                      </p:tavLst>
                                    </p:anim>
                                    <p:anim calcmode="lin" valueType="num">
                                      <p:cBhvr>
                                        <p:cTn id="9" dur="45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anim calcmode="lin" valueType="num">
                                      <p:cBhvr>
                                        <p:cTn id="14" dur="450" fill="hold"/>
                                        <p:tgtEl>
                                          <p:spTgt spid="17"/>
                                        </p:tgtEl>
                                        <p:attrNameLst>
                                          <p:attrName>ppt_x</p:attrName>
                                        </p:attrNameLst>
                                      </p:cBhvr>
                                      <p:tavLst>
                                        <p:tav tm="0">
                                          <p:val>
                                            <p:strVal val="#ppt_x"/>
                                          </p:val>
                                        </p:tav>
                                        <p:tav tm="100000">
                                          <p:val>
                                            <p:strVal val="#ppt_x"/>
                                          </p:val>
                                        </p:tav>
                                      </p:tavLst>
                                    </p:anim>
                                    <p:anim calcmode="lin" valueType="num">
                                      <p:cBhvr>
                                        <p:cTn id="15" dur="45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50"/>
                                        <p:tgtEl>
                                          <p:spTgt spid="23"/>
                                        </p:tgtEl>
                                      </p:cBhvr>
                                    </p:animEffect>
                                    <p:anim calcmode="lin" valueType="num">
                                      <p:cBhvr>
                                        <p:cTn id="20" dur="450" fill="hold"/>
                                        <p:tgtEl>
                                          <p:spTgt spid="23"/>
                                        </p:tgtEl>
                                        <p:attrNameLst>
                                          <p:attrName>ppt_x</p:attrName>
                                        </p:attrNameLst>
                                      </p:cBhvr>
                                      <p:tavLst>
                                        <p:tav tm="0">
                                          <p:val>
                                            <p:strVal val="#ppt_x"/>
                                          </p:val>
                                        </p:tav>
                                        <p:tav tm="100000">
                                          <p:val>
                                            <p:strVal val="#ppt_x"/>
                                          </p:val>
                                        </p:tav>
                                      </p:tavLst>
                                    </p:anim>
                                    <p:anim calcmode="lin" valueType="num">
                                      <p:cBhvr>
                                        <p:cTn id="21" dur="450" fill="hold"/>
                                        <p:tgtEl>
                                          <p:spTgt spid="23"/>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450"/>
                                        <p:tgtEl>
                                          <p:spTgt spid="29"/>
                                        </p:tgtEl>
                                      </p:cBhvr>
                                    </p:animEffect>
                                    <p:anim calcmode="lin" valueType="num">
                                      <p:cBhvr>
                                        <p:cTn id="26" dur="450" fill="hold"/>
                                        <p:tgtEl>
                                          <p:spTgt spid="29"/>
                                        </p:tgtEl>
                                        <p:attrNameLst>
                                          <p:attrName>ppt_x</p:attrName>
                                        </p:attrNameLst>
                                      </p:cBhvr>
                                      <p:tavLst>
                                        <p:tav tm="0">
                                          <p:val>
                                            <p:strVal val="#ppt_x"/>
                                          </p:val>
                                        </p:tav>
                                        <p:tav tm="100000">
                                          <p:val>
                                            <p:strVal val="#ppt_x"/>
                                          </p:val>
                                        </p:tav>
                                      </p:tavLst>
                                    </p:anim>
                                    <p:anim calcmode="lin" valueType="num">
                                      <p:cBhvr>
                                        <p:cTn id="27" dur="450" fill="hold"/>
                                        <p:tgtEl>
                                          <p:spTgt spid="29"/>
                                        </p:tgtEl>
                                        <p:attrNameLst>
                                          <p:attrName>ppt_y</p:attrName>
                                        </p:attrNameLst>
                                      </p:cBhvr>
                                      <p:tavLst>
                                        <p:tav tm="0">
                                          <p:val>
                                            <p:strVal val="#ppt_y+.1"/>
                                          </p:val>
                                        </p:tav>
                                        <p:tav tm="100000">
                                          <p:val>
                                            <p:strVal val="#ppt_y"/>
                                          </p:val>
                                        </p:tav>
                                      </p:tavLst>
                                    </p:anim>
                                  </p:childTnLst>
                                </p:cTn>
                              </p:par>
                            </p:childTnLst>
                          </p:cTn>
                        </p:par>
                        <p:par>
                          <p:cTn id="28" fill="hold">
                            <p:stCondLst>
                              <p:cond delay="2200"/>
                            </p:stCondLst>
                            <p:childTnLst>
                              <p:par>
                                <p:cTn id="29" presetID="10" presetClass="entr" presetSubtype="0" fill="hold" grpId="0" nodeType="afterEffect">
                                  <p:stCondLst>
                                    <p:cond delay="1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97686AAC-DFD3-4A81-855D-EAB0C68EAB81}" type="slidenum">
              <a:rPr lang="en-US" sz="1100" b="0" i="0">
                <a:solidFill>
                  <a:srgbClr val="5B6B7F"/>
                </a:solidFill>
                <a:latin typeface="Bahnschrift"/>
              </a:rPr>
              <a:t>21</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Realistic assumptions</a:t>
            </a:r>
          </a:p>
        </p:txBody>
      </p:sp>
      <p:grpSp>
        <p:nvGrpSpPr>
          <p:cNvPr id="10" name="as0"/>
          <p:cNvGrpSpPr/>
          <p:nvPr/>
        </p:nvGrpSpPr>
        <p:grpSpPr>
          <a:xfrm>
            <a:off x="685800" y="1828800"/>
            <a:ext cx="5276088" cy="1170432"/>
            <a:chOff x="685800" y="1828800"/>
            <a:chExt cx="5276088" cy="1170432"/>
          </a:xfrm>
        </p:grpSpPr>
        <p:sp>
          <p:nvSpPr>
            <p:cNvPr id="6" name="Rounded Rectangle 5"/>
            <p:cNvSpPr/>
            <p:nvPr/>
          </p:nvSpPr>
          <p:spPr>
            <a:xfrm>
              <a:off x="685800" y="18288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41832" y="20756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pulse_white.png"/>
            <p:cNvPicPr>
              <a:picLocks noChangeAspect="1"/>
            </p:cNvPicPr>
            <p:nvPr/>
          </p:nvPicPr>
          <p:blipFill>
            <a:blip r:embed="rId3"/>
            <a:stretch>
              <a:fillRect/>
            </a:stretch>
          </p:blipFill>
          <p:spPr>
            <a:xfrm>
              <a:off x="1097280" y="2231136"/>
              <a:ext cx="365760" cy="365760"/>
            </a:xfrm>
            <a:prstGeom prst="rect">
              <a:avLst/>
            </a:prstGeom>
          </p:spPr>
        </p:pic>
        <p:sp>
          <p:nvSpPr>
            <p:cNvPr id="9" name="TextBox 8"/>
            <p:cNvSpPr txBox="1"/>
            <p:nvPr/>
          </p:nvSpPr>
          <p:spPr>
            <a:xfrm>
              <a:off x="1828800" y="20116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Normal operation at baseline</a:t>
              </a:r>
            </a:p>
          </p:txBody>
        </p:sp>
      </p:grpSp>
      <p:grpSp>
        <p:nvGrpSpPr>
          <p:cNvPr id="15" name="as1"/>
          <p:cNvGrpSpPr/>
          <p:nvPr/>
        </p:nvGrpSpPr>
        <p:grpSpPr>
          <a:xfrm>
            <a:off x="6227064" y="1828800"/>
            <a:ext cx="5276088" cy="1170432"/>
            <a:chOff x="6227064" y="1828800"/>
            <a:chExt cx="5276088" cy="1170432"/>
          </a:xfrm>
        </p:grpSpPr>
        <p:sp>
          <p:nvSpPr>
            <p:cNvPr id="11" name="Rounded Rectangle 10"/>
            <p:cNvSpPr/>
            <p:nvPr/>
          </p:nvSpPr>
          <p:spPr>
            <a:xfrm>
              <a:off x="6227064" y="18288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6483096" y="20756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lug_white.png"/>
            <p:cNvPicPr>
              <a:picLocks noChangeAspect="1"/>
            </p:cNvPicPr>
            <p:nvPr/>
          </p:nvPicPr>
          <p:blipFill>
            <a:blip r:embed="rId4"/>
            <a:stretch>
              <a:fillRect/>
            </a:stretch>
          </p:blipFill>
          <p:spPr>
            <a:xfrm>
              <a:off x="6638544" y="2231136"/>
              <a:ext cx="365760" cy="365760"/>
            </a:xfrm>
            <a:prstGeom prst="rect">
              <a:avLst/>
            </a:prstGeom>
          </p:spPr>
        </p:pic>
        <p:sp>
          <p:nvSpPr>
            <p:cNvPr id="14" name="TextBox 13"/>
            <p:cNvSpPr txBox="1"/>
            <p:nvPr/>
          </p:nvSpPr>
          <p:spPr>
            <a:xfrm>
              <a:off x="7370063" y="20116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Test loads available</a:t>
              </a:r>
            </a:p>
          </p:txBody>
        </p:sp>
      </p:grpSp>
      <p:grpSp>
        <p:nvGrpSpPr>
          <p:cNvPr id="20" name="as2"/>
          <p:cNvGrpSpPr/>
          <p:nvPr/>
        </p:nvGrpSpPr>
        <p:grpSpPr>
          <a:xfrm>
            <a:off x="685800" y="3200400"/>
            <a:ext cx="5276088" cy="1170432"/>
            <a:chOff x="685800" y="3200400"/>
            <a:chExt cx="5276088" cy="1170432"/>
          </a:xfrm>
        </p:grpSpPr>
        <p:sp>
          <p:nvSpPr>
            <p:cNvPr id="16" name="Rounded Rectangle 15"/>
            <p:cNvSpPr/>
            <p:nvPr/>
          </p:nvSpPr>
          <p:spPr>
            <a:xfrm>
              <a:off x="685800" y="32004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41832" y="34472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lab_white.png"/>
            <p:cNvPicPr>
              <a:picLocks noChangeAspect="1"/>
            </p:cNvPicPr>
            <p:nvPr/>
          </p:nvPicPr>
          <p:blipFill>
            <a:blip r:embed="rId5"/>
            <a:stretch>
              <a:fillRect/>
            </a:stretch>
          </p:blipFill>
          <p:spPr>
            <a:xfrm>
              <a:off x="1097280" y="3602736"/>
              <a:ext cx="365760" cy="365760"/>
            </a:xfrm>
            <a:prstGeom prst="rect">
              <a:avLst/>
            </a:prstGeom>
          </p:spPr>
        </p:pic>
        <p:sp>
          <p:nvSpPr>
            <p:cNvPr id="19" name="TextBox 18"/>
            <p:cNvSpPr txBox="1"/>
            <p:nvPr/>
          </p:nvSpPr>
          <p:spPr>
            <a:xfrm>
              <a:off x="1828800" y="33832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Lab + calibrated instruments</a:t>
              </a:r>
            </a:p>
          </p:txBody>
        </p:sp>
      </p:grpSp>
      <p:grpSp>
        <p:nvGrpSpPr>
          <p:cNvPr id="25" name="as3"/>
          <p:cNvGrpSpPr/>
          <p:nvPr/>
        </p:nvGrpSpPr>
        <p:grpSpPr>
          <a:xfrm>
            <a:off x="6227064" y="3200400"/>
            <a:ext cx="5276088" cy="1170432"/>
            <a:chOff x="6227064" y="3200400"/>
            <a:chExt cx="5276088" cy="1170432"/>
          </a:xfrm>
        </p:grpSpPr>
        <p:sp>
          <p:nvSpPr>
            <p:cNvPr id="21" name="Rounded Rectangle 20"/>
            <p:cNvSpPr/>
            <p:nvPr/>
          </p:nvSpPr>
          <p:spPr>
            <a:xfrm>
              <a:off x="6227064" y="32004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483096" y="34472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hield_white.png"/>
            <p:cNvPicPr>
              <a:picLocks noChangeAspect="1"/>
            </p:cNvPicPr>
            <p:nvPr/>
          </p:nvPicPr>
          <p:blipFill>
            <a:blip r:embed="rId6"/>
            <a:stretch>
              <a:fillRect/>
            </a:stretch>
          </p:blipFill>
          <p:spPr>
            <a:xfrm>
              <a:off x="6638544" y="3602736"/>
              <a:ext cx="365760" cy="365760"/>
            </a:xfrm>
            <a:prstGeom prst="rect">
              <a:avLst/>
            </a:prstGeom>
          </p:spPr>
        </p:pic>
        <p:sp>
          <p:nvSpPr>
            <p:cNvPr id="24" name="TextBox 23"/>
            <p:cNvSpPr txBox="1"/>
            <p:nvPr/>
          </p:nvSpPr>
          <p:spPr>
            <a:xfrm>
              <a:off x="7370063" y="33832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Protected, grounded supply</a:t>
              </a:r>
            </a:p>
          </p:txBody>
        </p:sp>
      </p:grpSp>
      <p:grpSp>
        <p:nvGrpSpPr>
          <p:cNvPr id="30" name="as4"/>
          <p:cNvGrpSpPr/>
          <p:nvPr/>
        </p:nvGrpSpPr>
        <p:grpSpPr>
          <a:xfrm>
            <a:off x="685800" y="4572000"/>
            <a:ext cx="5276088" cy="1170432"/>
            <a:chOff x="685800" y="4572000"/>
            <a:chExt cx="5276088" cy="1170432"/>
          </a:xfrm>
        </p:grpSpPr>
        <p:sp>
          <p:nvSpPr>
            <p:cNvPr id="26" name="Rounded Rectangle 25"/>
            <p:cNvSpPr/>
            <p:nvPr/>
          </p:nvSpPr>
          <p:spPr>
            <a:xfrm>
              <a:off x="685800" y="45720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41832" y="48188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oc_white.png"/>
            <p:cNvPicPr>
              <a:picLocks noChangeAspect="1"/>
            </p:cNvPicPr>
            <p:nvPr/>
          </p:nvPicPr>
          <p:blipFill>
            <a:blip r:embed="rId7"/>
            <a:stretch>
              <a:fillRect/>
            </a:stretch>
          </p:blipFill>
          <p:spPr>
            <a:xfrm>
              <a:off x="1097280" y="4974336"/>
              <a:ext cx="365760" cy="365760"/>
            </a:xfrm>
            <a:prstGeom prst="rect">
              <a:avLst/>
            </a:prstGeom>
          </p:spPr>
        </p:pic>
        <p:sp>
          <p:nvSpPr>
            <p:cNvPr id="29" name="TextBox 28"/>
            <p:cNvSpPr txBox="1"/>
            <p:nvPr/>
          </p:nvSpPr>
          <p:spPr>
            <a:xfrm>
              <a:off x="1828800" y="47548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Up-to-date tariff</a:t>
              </a:r>
            </a:p>
          </p:txBody>
        </p:sp>
      </p:grpSp>
      <p:grpSp>
        <p:nvGrpSpPr>
          <p:cNvPr id="35" name="as5"/>
          <p:cNvGrpSpPr/>
          <p:nvPr/>
        </p:nvGrpSpPr>
        <p:grpSpPr>
          <a:xfrm>
            <a:off x="6227064" y="4572000"/>
            <a:ext cx="5276088" cy="1170432"/>
            <a:chOff x="6227064" y="4572000"/>
            <a:chExt cx="5276088" cy="1170432"/>
          </a:xfrm>
        </p:grpSpPr>
        <p:sp>
          <p:nvSpPr>
            <p:cNvPr id="31" name="Rounded Rectangle 30"/>
            <p:cNvSpPr/>
            <p:nvPr/>
          </p:nvSpPr>
          <p:spPr>
            <a:xfrm>
              <a:off x="6227064" y="45720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483096" y="48188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people_white.png"/>
            <p:cNvPicPr>
              <a:picLocks noChangeAspect="1"/>
            </p:cNvPicPr>
            <p:nvPr/>
          </p:nvPicPr>
          <p:blipFill>
            <a:blip r:embed="rId8"/>
            <a:stretch>
              <a:fillRect/>
            </a:stretch>
          </p:blipFill>
          <p:spPr>
            <a:xfrm>
              <a:off x="6638544" y="4974336"/>
              <a:ext cx="365760" cy="365760"/>
            </a:xfrm>
            <a:prstGeom prst="rect">
              <a:avLst/>
            </a:prstGeom>
          </p:spPr>
        </p:pic>
        <p:sp>
          <p:nvSpPr>
            <p:cNvPr id="34" name="TextBox 33"/>
            <p:cNvSpPr txBox="1"/>
            <p:nvPr/>
          </p:nvSpPr>
          <p:spPr>
            <a:xfrm>
              <a:off x="7370063" y="47548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Correct user inputs</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anim calcmode="lin" valueType="num">
                                      <p:cBhvr>
                                        <p:cTn id="14" dur="450" fill="hold"/>
                                        <p:tgtEl>
                                          <p:spTgt spid="15"/>
                                        </p:tgtEl>
                                        <p:attrNameLst>
                                          <p:attrName>ppt_x</p:attrName>
                                        </p:attrNameLst>
                                      </p:cBhvr>
                                      <p:tavLst>
                                        <p:tav tm="0">
                                          <p:val>
                                            <p:strVal val="#ppt_x"/>
                                          </p:val>
                                        </p:tav>
                                        <p:tav tm="100000">
                                          <p:val>
                                            <p:strVal val="#ppt_x"/>
                                          </p:val>
                                        </p:tav>
                                      </p:tavLst>
                                    </p:anim>
                                    <p:anim calcmode="lin" valueType="num">
                                      <p:cBhvr>
                                        <p:cTn id="15" dur="45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590"/>
                            </p:stCondLst>
                            <p:childTnLst>
                              <p:par>
                                <p:cTn id="23" presetID="42" presetClass="entr" presetSubtype="0" fill="hold" nodeType="afterEffect">
                                  <p:stCondLst>
                                    <p:cond delay="8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1"/>
                                          </p:val>
                                        </p:tav>
                                        <p:tav tm="100000">
                                          <p:val>
                                            <p:strVal val="#ppt_y"/>
                                          </p:val>
                                        </p:tav>
                                      </p:tavLst>
                                    </p:anim>
                                  </p:childTnLst>
                                </p:cTn>
                              </p:par>
                            </p:childTnLst>
                          </p:cTn>
                        </p:par>
                        <p:par>
                          <p:cTn id="28" fill="hold">
                            <p:stCondLst>
                              <p:cond delay="2120"/>
                            </p:stCondLst>
                            <p:childTnLst>
                              <p:par>
                                <p:cTn id="29" presetID="42" presetClass="entr" presetSubtype="0" fill="hold" nodeType="afterEffect">
                                  <p:stCondLst>
                                    <p:cond delay="8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anim calcmode="lin" valueType="num">
                                      <p:cBhvr>
                                        <p:cTn id="32" dur="450" fill="hold"/>
                                        <p:tgtEl>
                                          <p:spTgt spid="30"/>
                                        </p:tgtEl>
                                        <p:attrNameLst>
                                          <p:attrName>ppt_x</p:attrName>
                                        </p:attrNameLst>
                                      </p:cBhvr>
                                      <p:tavLst>
                                        <p:tav tm="0">
                                          <p:val>
                                            <p:strVal val="#ppt_x"/>
                                          </p:val>
                                        </p:tav>
                                        <p:tav tm="100000">
                                          <p:val>
                                            <p:strVal val="#ppt_x"/>
                                          </p:val>
                                        </p:tav>
                                      </p:tavLst>
                                    </p:anim>
                                    <p:anim calcmode="lin" valueType="num">
                                      <p:cBhvr>
                                        <p:cTn id="33" dur="450" fill="hold"/>
                                        <p:tgtEl>
                                          <p:spTgt spid="30"/>
                                        </p:tgtEl>
                                        <p:attrNameLst>
                                          <p:attrName>ppt_y</p:attrName>
                                        </p:attrNameLst>
                                      </p:cBhvr>
                                      <p:tavLst>
                                        <p:tav tm="0">
                                          <p:val>
                                            <p:strVal val="#ppt_y+.1"/>
                                          </p:val>
                                        </p:tav>
                                        <p:tav tm="100000">
                                          <p:val>
                                            <p:strVal val="#ppt_y"/>
                                          </p:val>
                                        </p:tav>
                                      </p:tavLst>
                                    </p:anim>
                                  </p:childTnLst>
                                </p:cTn>
                              </p:par>
                            </p:childTnLst>
                          </p:cTn>
                        </p:par>
                        <p:par>
                          <p:cTn id="34" fill="hold">
                            <p:stCondLst>
                              <p:cond delay="2650"/>
                            </p:stCondLst>
                            <p:childTnLst>
                              <p:par>
                                <p:cTn id="35" presetID="42" presetClass="entr" presetSubtype="0" fill="hold" nodeType="afterEffect">
                                  <p:stCondLst>
                                    <p:cond delay="8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50"/>
                                        <p:tgtEl>
                                          <p:spTgt spid="35"/>
                                        </p:tgtEl>
                                      </p:cBhvr>
                                    </p:animEffect>
                                    <p:anim calcmode="lin" valueType="num">
                                      <p:cBhvr>
                                        <p:cTn id="38" dur="450" fill="hold"/>
                                        <p:tgtEl>
                                          <p:spTgt spid="35"/>
                                        </p:tgtEl>
                                        <p:attrNameLst>
                                          <p:attrName>ppt_x</p:attrName>
                                        </p:attrNameLst>
                                      </p:cBhvr>
                                      <p:tavLst>
                                        <p:tav tm="0">
                                          <p:val>
                                            <p:strVal val="#ppt_x"/>
                                          </p:val>
                                        </p:tav>
                                        <p:tav tm="100000">
                                          <p:val>
                                            <p:strVal val="#ppt_x"/>
                                          </p:val>
                                        </p:tav>
                                      </p:tavLst>
                                    </p:anim>
                                    <p:anim calcmode="lin" valueType="num">
                                      <p:cBhvr>
                                        <p:cTn id="39" dur="45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1267128B-C3B8-4B9B-946C-900FED4701DD}" type="slidenum">
              <a:rPr lang="en-US" sz="1100" b="0" i="0">
                <a:solidFill>
                  <a:srgbClr val="5B6B7F"/>
                </a:solidFill>
                <a:latin typeface="Bahnschrift"/>
              </a:rPr>
              <a:t>22</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Project deliverables</a:t>
            </a:r>
          </a:p>
        </p:txBody>
      </p:sp>
      <p:sp>
        <p:nvSpPr>
          <p:cNvPr id="6" name="track"/>
          <p:cNvSpPr/>
          <p:nvPr/>
        </p:nvSpPr>
        <p:spPr>
          <a:xfrm>
            <a:off x="1325880" y="3429000"/>
            <a:ext cx="9555480" cy="54864"/>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1" name="dl0"/>
          <p:cNvGrpSpPr/>
          <p:nvPr/>
        </p:nvGrpSpPr>
        <p:grpSpPr>
          <a:xfrm>
            <a:off x="457200" y="2834640"/>
            <a:ext cx="2194560" cy="2743200"/>
            <a:chOff x="457200" y="2834640"/>
            <a:chExt cx="2194560" cy="2743200"/>
          </a:xfrm>
        </p:grpSpPr>
        <p:sp>
          <p:nvSpPr>
            <p:cNvPr id="7" name="Oval 6"/>
            <p:cNvSpPr/>
            <p:nvPr/>
          </p:nvSpPr>
          <p:spPr>
            <a:xfrm>
              <a:off x="960120" y="2834640"/>
              <a:ext cx="1188720" cy="1188720"/>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ip_night.png"/>
            <p:cNvPicPr>
              <a:picLocks noChangeAspect="1"/>
            </p:cNvPicPr>
            <p:nvPr/>
          </p:nvPicPr>
          <p:blipFill>
            <a:blip r:embed="rId3"/>
            <a:stretch>
              <a:fillRect/>
            </a:stretch>
          </p:blipFill>
          <p:spPr>
            <a:xfrm>
              <a:off x="1252728" y="3127248"/>
              <a:ext cx="603504" cy="603504"/>
            </a:xfrm>
            <a:prstGeom prst="rect">
              <a:avLst/>
            </a:prstGeom>
          </p:spPr>
        </p:pic>
        <p:sp>
          <p:nvSpPr>
            <p:cNvPr id="9" name="TextBox 8"/>
            <p:cNvSpPr txBox="1"/>
            <p:nvPr/>
          </p:nvSpPr>
          <p:spPr>
            <a:xfrm>
              <a:off x="685800" y="4297680"/>
              <a:ext cx="1737360" cy="320040"/>
            </a:xfrm>
            <a:prstGeom prst="rect">
              <a:avLst/>
            </a:prstGeom>
            <a:noFill/>
          </p:spPr>
          <p:txBody>
            <a:bodyPr wrap="square" lIns="0" tIns="0" rIns="0" bIns="0" anchor="t">
              <a:spAutoFit/>
            </a:bodyPr>
            <a:lstStyle/>
            <a:p>
              <a:pPr algn="ctr"/>
              <a:r>
                <a:rPr sz="1500" b="0" i="0" spc="150" dirty="0">
                  <a:solidFill>
                    <a:srgbClr val="B45309"/>
                  </a:solidFill>
                  <a:latin typeface="Segoe UI Semibold"/>
                </a:rPr>
                <a:t>D-1</a:t>
              </a:r>
            </a:p>
          </p:txBody>
        </p:sp>
        <p:sp>
          <p:nvSpPr>
            <p:cNvPr id="10" name="TextBox 9"/>
            <p:cNvSpPr txBox="1"/>
            <p:nvPr/>
          </p:nvSpPr>
          <p:spPr>
            <a:xfrm>
              <a:off x="457200"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Prototype</a:t>
              </a:r>
            </a:p>
          </p:txBody>
        </p:sp>
      </p:grpSp>
      <p:grpSp>
        <p:nvGrpSpPr>
          <p:cNvPr id="16" name="dl1"/>
          <p:cNvGrpSpPr/>
          <p:nvPr/>
        </p:nvGrpSpPr>
        <p:grpSpPr>
          <a:xfrm>
            <a:off x="2679192" y="2834640"/>
            <a:ext cx="2194560" cy="2743200"/>
            <a:chOff x="2679192" y="2834640"/>
            <a:chExt cx="2194560" cy="2743200"/>
          </a:xfrm>
        </p:grpSpPr>
        <p:sp>
          <p:nvSpPr>
            <p:cNvPr id="12" name="Oval 11"/>
            <p:cNvSpPr/>
            <p:nvPr/>
          </p:nvSpPr>
          <p:spPr>
            <a:xfrm>
              <a:off x="3182112"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lug_white.png"/>
            <p:cNvPicPr>
              <a:picLocks noChangeAspect="1"/>
            </p:cNvPicPr>
            <p:nvPr/>
          </p:nvPicPr>
          <p:blipFill>
            <a:blip r:embed="rId4"/>
            <a:stretch>
              <a:fillRect/>
            </a:stretch>
          </p:blipFill>
          <p:spPr>
            <a:xfrm>
              <a:off x="3474720" y="3127248"/>
              <a:ext cx="603504" cy="603504"/>
            </a:xfrm>
            <a:prstGeom prst="rect">
              <a:avLst/>
            </a:prstGeom>
          </p:spPr>
        </p:pic>
        <p:sp>
          <p:nvSpPr>
            <p:cNvPr id="14" name="TextBox 13"/>
            <p:cNvSpPr txBox="1"/>
            <p:nvPr/>
          </p:nvSpPr>
          <p:spPr>
            <a:xfrm>
              <a:off x="2907792"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D-2</a:t>
              </a:r>
            </a:p>
          </p:txBody>
        </p:sp>
        <p:sp>
          <p:nvSpPr>
            <p:cNvPr id="15" name="TextBox 14"/>
            <p:cNvSpPr txBox="1"/>
            <p:nvPr/>
          </p:nvSpPr>
          <p:spPr>
            <a:xfrm>
              <a:off x="2679192"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Test bench</a:t>
              </a:r>
            </a:p>
          </p:txBody>
        </p:sp>
      </p:grpSp>
      <p:grpSp>
        <p:nvGrpSpPr>
          <p:cNvPr id="21" name="dl2"/>
          <p:cNvGrpSpPr/>
          <p:nvPr/>
        </p:nvGrpSpPr>
        <p:grpSpPr>
          <a:xfrm>
            <a:off x="4901184" y="2834640"/>
            <a:ext cx="2194560" cy="2743200"/>
            <a:chOff x="4901184" y="2834640"/>
            <a:chExt cx="2194560" cy="2743200"/>
          </a:xfrm>
        </p:grpSpPr>
        <p:sp>
          <p:nvSpPr>
            <p:cNvPr id="17" name="Oval 16"/>
            <p:cNvSpPr/>
            <p:nvPr/>
          </p:nvSpPr>
          <p:spPr>
            <a:xfrm>
              <a:off x="5404104"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monitor_white.png"/>
            <p:cNvPicPr>
              <a:picLocks noChangeAspect="1"/>
            </p:cNvPicPr>
            <p:nvPr/>
          </p:nvPicPr>
          <p:blipFill>
            <a:blip r:embed="rId5"/>
            <a:stretch>
              <a:fillRect/>
            </a:stretch>
          </p:blipFill>
          <p:spPr>
            <a:xfrm>
              <a:off x="5696712" y="3127248"/>
              <a:ext cx="603504" cy="603504"/>
            </a:xfrm>
            <a:prstGeom prst="rect">
              <a:avLst/>
            </a:prstGeom>
          </p:spPr>
        </p:pic>
        <p:sp>
          <p:nvSpPr>
            <p:cNvPr id="19" name="TextBox 18"/>
            <p:cNvSpPr txBox="1"/>
            <p:nvPr/>
          </p:nvSpPr>
          <p:spPr>
            <a:xfrm>
              <a:off x="5129784"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D-3</a:t>
              </a:r>
            </a:p>
          </p:txBody>
        </p:sp>
        <p:sp>
          <p:nvSpPr>
            <p:cNvPr id="20" name="TextBox 19"/>
            <p:cNvSpPr txBox="1"/>
            <p:nvPr/>
          </p:nvSpPr>
          <p:spPr>
            <a:xfrm>
              <a:off x="4901184"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Firmware &amp; UI</a:t>
              </a:r>
            </a:p>
          </p:txBody>
        </p:sp>
      </p:grpSp>
      <p:grpSp>
        <p:nvGrpSpPr>
          <p:cNvPr id="26" name="dl3"/>
          <p:cNvGrpSpPr/>
          <p:nvPr/>
        </p:nvGrpSpPr>
        <p:grpSpPr>
          <a:xfrm>
            <a:off x="7123176" y="2834640"/>
            <a:ext cx="2194560" cy="2743200"/>
            <a:chOff x="7123176" y="2834640"/>
            <a:chExt cx="2194560" cy="2743200"/>
          </a:xfrm>
        </p:grpSpPr>
        <p:sp>
          <p:nvSpPr>
            <p:cNvPr id="22" name="Oval 21"/>
            <p:cNvSpPr/>
            <p:nvPr/>
          </p:nvSpPr>
          <p:spPr>
            <a:xfrm>
              <a:off x="7626096"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hecklist_white.png"/>
            <p:cNvPicPr>
              <a:picLocks noChangeAspect="1"/>
            </p:cNvPicPr>
            <p:nvPr/>
          </p:nvPicPr>
          <p:blipFill>
            <a:blip r:embed="rId6"/>
            <a:stretch>
              <a:fillRect/>
            </a:stretch>
          </p:blipFill>
          <p:spPr>
            <a:xfrm>
              <a:off x="7918704" y="3127248"/>
              <a:ext cx="603504" cy="603504"/>
            </a:xfrm>
            <a:prstGeom prst="rect">
              <a:avLst/>
            </a:prstGeom>
          </p:spPr>
        </p:pic>
        <p:sp>
          <p:nvSpPr>
            <p:cNvPr id="24" name="TextBox 23"/>
            <p:cNvSpPr txBox="1"/>
            <p:nvPr/>
          </p:nvSpPr>
          <p:spPr>
            <a:xfrm>
              <a:off x="7351776"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D-4</a:t>
              </a:r>
            </a:p>
          </p:txBody>
        </p:sp>
        <p:sp>
          <p:nvSpPr>
            <p:cNvPr id="25" name="TextBox 24"/>
            <p:cNvSpPr txBox="1"/>
            <p:nvPr/>
          </p:nvSpPr>
          <p:spPr>
            <a:xfrm>
              <a:off x="7123176"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Validation results</a:t>
              </a:r>
            </a:p>
          </p:txBody>
        </p:sp>
      </p:grpSp>
      <p:grpSp>
        <p:nvGrpSpPr>
          <p:cNvPr id="31" name="dl4"/>
          <p:cNvGrpSpPr/>
          <p:nvPr/>
        </p:nvGrpSpPr>
        <p:grpSpPr>
          <a:xfrm>
            <a:off x="9345168" y="2834640"/>
            <a:ext cx="2194560" cy="2743200"/>
            <a:chOff x="9345168" y="2834640"/>
            <a:chExt cx="2194560" cy="2743200"/>
          </a:xfrm>
        </p:grpSpPr>
        <p:sp>
          <p:nvSpPr>
            <p:cNvPr id="27" name="Oval 26"/>
            <p:cNvSpPr/>
            <p:nvPr/>
          </p:nvSpPr>
          <p:spPr>
            <a:xfrm>
              <a:off x="9848088"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oc_white.png"/>
            <p:cNvPicPr>
              <a:picLocks noChangeAspect="1"/>
            </p:cNvPicPr>
            <p:nvPr/>
          </p:nvPicPr>
          <p:blipFill>
            <a:blip r:embed="rId7"/>
            <a:stretch>
              <a:fillRect/>
            </a:stretch>
          </p:blipFill>
          <p:spPr>
            <a:xfrm>
              <a:off x="10140696" y="3127248"/>
              <a:ext cx="603504" cy="603504"/>
            </a:xfrm>
            <a:prstGeom prst="rect">
              <a:avLst/>
            </a:prstGeom>
          </p:spPr>
        </p:pic>
        <p:sp>
          <p:nvSpPr>
            <p:cNvPr id="29" name="TextBox 28"/>
            <p:cNvSpPr txBox="1"/>
            <p:nvPr/>
          </p:nvSpPr>
          <p:spPr>
            <a:xfrm>
              <a:off x="9573768"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D-5</a:t>
              </a:r>
            </a:p>
          </p:txBody>
        </p:sp>
        <p:sp>
          <p:nvSpPr>
            <p:cNvPr id="30" name="TextBox 29"/>
            <p:cNvSpPr txBox="1"/>
            <p:nvPr/>
          </p:nvSpPr>
          <p:spPr>
            <a:xfrm>
              <a:off x="9345168"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Documentation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800"/>
                                        <p:tgtEl>
                                          <p:spTgt spid="6"/>
                                        </p:tgtEl>
                                      </p:cBhvr>
                                    </p:animEffect>
                                  </p:childTnLst>
                                </p:cTn>
                              </p:par>
                              <p:par>
                                <p:cTn id="8" presetID="53" presetClass="entr" presetSubtype="16" fill="hold" nodeType="withEffect">
                                  <p:stCondLst>
                                    <p:cond delay="80"/>
                                  </p:stCondLst>
                                  <p:childTnLst>
                                    <p:set>
                                      <p:cBhvr>
                                        <p:cTn id="9" dur="1" fill="hold">
                                          <p:stCondLst>
                                            <p:cond delay="0"/>
                                          </p:stCondLst>
                                        </p:cTn>
                                        <p:tgtEl>
                                          <p:spTgt spid="11"/>
                                        </p:tgtEl>
                                        <p:attrNameLst>
                                          <p:attrName>style.visibility</p:attrName>
                                        </p:attrNameLst>
                                      </p:cBhvr>
                                      <p:to>
                                        <p:strVal val="visible"/>
                                      </p:to>
                                    </p:set>
                                    <p:anim calcmode="lin" valueType="num">
                                      <p:cBhvr>
                                        <p:cTn id="10" dur="400" fill="hold"/>
                                        <p:tgtEl>
                                          <p:spTgt spid="11"/>
                                        </p:tgtEl>
                                        <p:attrNameLst>
                                          <p:attrName>ppt_w</p:attrName>
                                        </p:attrNameLst>
                                      </p:cBhvr>
                                      <p:tavLst>
                                        <p:tav tm="0">
                                          <p:val>
                                            <p:fltVal val="0"/>
                                          </p:val>
                                        </p:tav>
                                        <p:tav tm="100000">
                                          <p:val>
                                            <p:strVal val="#ppt_w"/>
                                          </p:val>
                                        </p:tav>
                                      </p:tavLst>
                                    </p:anim>
                                    <p:anim calcmode="lin" valueType="num">
                                      <p:cBhvr>
                                        <p:cTn id="11" dur="400" fill="hold"/>
                                        <p:tgtEl>
                                          <p:spTgt spid="11"/>
                                        </p:tgtEl>
                                        <p:attrNameLst>
                                          <p:attrName>ppt_h</p:attrName>
                                        </p:attrNameLst>
                                      </p:cBhvr>
                                      <p:tavLst>
                                        <p:tav tm="0">
                                          <p:val>
                                            <p:fltVal val="0"/>
                                          </p:val>
                                        </p:tav>
                                        <p:tav tm="100000">
                                          <p:val>
                                            <p:strVal val="#ppt_h"/>
                                          </p:val>
                                        </p:tav>
                                      </p:tavLst>
                                    </p:anim>
                                    <p:animEffect transition="in" filter="fade">
                                      <p:cBhvr>
                                        <p:cTn id="12" dur="400"/>
                                        <p:tgtEl>
                                          <p:spTgt spid="11"/>
                                        </p:tgtEl>
                                      </p:cBhvr>
                                    </p:animEffect>
                                  </p:childTnLst>
                                </p:cTn>
                              </p:par>
                            </p:childTnLst>
                          </p:cTn>
                        </p:par>
                        <p:par>
                          <p:cTn id="13" fill="hold">
                            <p:stCondLst>
                              <p:cond delay="900"/>
                            </p:stCondLst>
                            <p:childTnLst>
                              <p:par>
                                <p:cTn id="14" presetID="53" presetClass="entr" presetSubtype="16" fill="hold" nodeType="afterEffect">
                                  <p:stCondLst>
                                    <p:cond delay="80"/>
                                  </p:stCondLst>
                                  <p:childTnLst>
                                    <p:set>
                                      <p:cBhvr>
                                        <p:cTn id="15" dur="1" fill="hold">
                                          <p:stCondLst>
                                            <p:cond delay="0"/>
                                          </p:stCondLst>
                                        </p:cTn>
                                        <p:tgtEl>
                                          <p:spTgt spid="16"/>
                                        </p:tgtEl>
                                        <p:attrNameLst>
                                          <p:attrName>style.visibility</p:attrName>
                                        </p:attrNameLst>
                                      </p:cBhvr>
                                      <p:to>
                                        <p:strVal val="visible"/>
                                      </p:to>
                                    </p:set>
                                    <p:anim calcmode="lin" valueType="num">
                                      <p:cBhvr>
                                        <p:cTn id="16" dur="400" fill="hold"/>
                                        <p:tgtEl>
                                          <p:spTgt spid="16"/>
                                        </p:tgtEl>
                                        <p:attrNameLst>
                                          <p:attrName>ppt_w</p:attrName>
                                        </p:attrNameLst>
                                      </p:cBhvr>
                                      <p:tavLst>
                                        <p:tav tm="0">
                                          <p:val>
                                            <p:fltVal val="0"/>
                                          </p:val>
                                        </p:tav>
                                        <p:tav tm="100000">
                                          <p:val>
                                            <p:strVal val="#ppt_w"/>
                                          </p:val>
                                        </p:tav>
                                      </p:tavLst>
                                    </p:anim>
                                    <p:anim calcmode="lin" valueType="num">
                                      <p:cBhvr>
                                        <p:cTn id="17" dur="400" fill="hold"/>
                                        <p:tgtEl>
                                          <p:spTgt spid="16"/>
                                        </p:tgtEl>
                                        <p:attrNameLst>
                                          <p:attrName>ppt_h</p:attrName>
                                        </p:attrNameLst>
                                      </p:cBhvr>
                                      <p:tavLst>
                                        <p:tav tm="0">
                                          <p:val>
                                            <p:fltVal val="0"/>
                                          </p:val>
                                        </p:tav>
                                        <p:tav tm="100000">
                                          <p:val>
                                            <p:strVal val="#ppt_h"/>
                                          </p:val>
                                        </p:tav>
                                      </p:tavLst>
                                    </p:anim>
                                    <p:animEffect transition="in" filter="fade">
                                      <p:cBhvr>
                                        <p:cTn id="18" dur="400"/>
                                        <p:tgtEl>
                                          <p:spTgt spid="16"/>
                                        </p:tgtEl>
                                      </p:cBhvr>
                                    </p:animEffect>
                                  </p:childTnLst>
                                </p:cTn>
                              </p:par>
                            </p:childTnLst>
                          </p:cTn>
                        </p:par>
                        <p:par>
                          <p:cTn id="19" fill="hold">
                            <p:stCondLst>
                              <p:cond delay="1380"/>
                            </p:stCondLst>
                            <p:childTnLst>
                              <p:par>
                                <p:cTn id="20" presetID="53" presetClass="entr" presetSubtype="16" fill="hold" nodeType="afterEffect">
                                  <p:stCondLst>
                                    <p:cond delay="80"/>
                                  </p:stCondLst>
                                  <p:childTnLst>
                                    <p:set>
                                      <p:cBhvr>
                                        <p:cTn id="21" dur="1" fill="hold">
                                          <p:stCondLst>
                                            <p:cond delay="0"/>
                                          </p:stCondLst>
                                        </p:cTn>
                                        <p:tgtEl>
                                          <p:spTgt spid="21"/>
                                        </p:tgtEl>
                                        <p:attrNameLst>
                                          <p:attrName>style.visibility</p:attrName>
                                        </p:attrNameLst>
                                      </p:cBhvr>
                                      <p:to>
                                        <p:strVal val="visible"/>
                                      </p:to>
                                    </p:set>
                                    <p:anim calcmode="lin" valueType="num">
                                      <p:cBhvr>
                                        <p:cTn id="22" dur="400" fill="hold"/>
                                        <p:tgtEl>
                                          <p:spTgt spid="21"/>
                                        </p:tgtEl>
                                        <p:attrNameLst>
                                          <p:attrName>ppt_w</p:attrName>
                                        </p:attrNameLst>
                                      </p:cBhvr>
                                      <p:tavLst>
                                        <p:tav tm="0">
                                          <p:val>
                                            <p:fltVal val="0"/>
                                          </p:val>
                                        </p:tav>
                                        <p:tav tm="100000">
                                          <p:val>
                                            <p:strVal val="#ppt_w"/>
                                          </p:val>
                                        </p:tav>
                                      </p:tavLst>
                                    </p:anim>
                                    <p:anim calcmode="lin" valueType="num">
                                      <p:cBhvr>
                                        <p:cTn id="23" dur="400" fill="hold"/>
                                        <p:tgtEl>
                                          <p:spTgt spid="21"/>
                                        </p:tgtEl>
                                        <p:attrNameLst>
                                          <p:attrName>ppt_h</p:attrName>
                                        </p:attrNameLst>
                                      </p:cBhvr>
                                      <p:tavLst>
                                        <p:tav tm="0">
                                          <p:val>
                                            <p:fltVal val="0"/>
                                          </p:val>
                                        </p:tav>
                                        <p:tav tm="100000">
                                          <p:val>
                                            <p:strVal val="#ppt_h"/>
                                          </p:val>
                                        </p:tav>
                                      </p:tavLst>
                                    </p:anim>
                                    <p:animEffect transition="in" filter="fade">
                                      <p:cBhvr>
                                        <p:cTn id="24" dur="400"/>
                                        <p:tgtEl>
                                          <p:spTgt spid="21"/>
                                        </p:tgtEl>
                                      </p:cBhvr>
                                    </p:animEffect>
                                  </p:childTnLst>
                                </p:cTn>
                              </p:par>
                            </p:childTnLst>
                          </p:cTn>
                        </p:par>
                        <p:par>
                          <p:cTn id="25" fill="hold">
                            <p:stCondLst>
                              <p:cond delay="1860"/>
                            </p:stCondLst>
                            <p:childTnLst>
                              <p:par>
                                <p:cTn id="26" presetID="53" presetClass="entr" presetSubtype="16" fill="hold" nodeType="afterEffect">
                                  <p:stCondLst>
                                    <p:cond delay="80"/>
                                  </p:stCondLst>
                                  <p:childTnLst>
                                    <p:set>
                                      <p:cBhvr>
                                        <p:cTn id="27" dur="1" fill="hold">
                                          <p:stCondLst>
                                            <p:cond delay="0"/>
                                          </p:stCondLst>
                                        </p:cTn>
                                        <p:tgtEl>
                                          <p:spTgt spid="26"/>
                                        </p:tgtEl>
                                        <p:attrNameLst>
                                          <p:attrName>style.visibility</p:attrName>
                                        </p:attrNameLst>
                                      </p:cBhvr>
                                      <p:to>
                                        <p:strVal val="visible"/>
                                      </p:to>
                                    </p:set>
                                    <p:anim calcmode="lin" valueType="num">
                                      <p:cBhvr>
                                        <p:cTn id="28" dur="400" fill="hold"/>
                                        <p:tgtEl>
                                          <p:spTgt spid="26"/>
                                        </p:tgtEl>
                                        <p:attrNameLst>
                                          <p:attrName>ppt_w</p:attrName>
                                        </p:attrNameLst>
                                      </p:cBhvr>
                                      <p:tavLst>
                                        <p:tav tm="0">
                                          <p:val>
                                            <p:fltVal val="0"/>
                                          </p:val>
                                        </p:tav>
                                        <p:tav tm="100000">
                                          <p:val>
                                            <p:strVal val="#ppt_w"/>
                                          </p:val>
                                        </p:tav>
                                      </p:tavLst>
                                    </p:anim>
                                    <p:anim calcmode="lin" valueType="num">
                                      <p:cBhvr>
                                        <p:cTn id="29" dur="400" fill="hold"/>
                                        <p:tgtEl>
                                          <p:spTgt spid="26"/>
                                        </p:tgtEl>
                                        <p:attrNameLst>
                                          <p:attrName>ppt_h</p:attrName>
                                        </p:attrNameLst>
                                      </p:cBhvr>
                                      <p:tavLst>
                                        <p:tav tm="0">
                                          <p:val>
                                            <p:fltVal val="0"/>
                                          </p:val>
                                        </p:tav>
                                        <p:tav tm="100000">
                                          <p:val>
                                            <p:strVal val="#ppt_h"/>
                                          </p:val>
                                        </p:tav>
                                      </p:tavLst>
                                    </p:anim>
                                    <p:animEffect transition="in" filter="fade">
                                      <p:cBhvr>
                                        <p:cTn id="30" dur="400"/>
                                        <p:tgtEl>
                                          <p:spTgt spid="26"/>
                                        </p:tgtEl>
                                      </p:cBhvr>
                                    </p:animEffect>
                                  </p:childTnLst>
                                </p:cTn>
                              </p:par>
                            </p:childTnLst>
                          </p:cTn>
                        </p:par>
                        <p:par>
                          <p:cTn id="31" fill="hold">
                            <p:stCondLst>
                              <p:cond delay="2340"/>
                            </p:stCondLst>
                            <p:childTnLst>
                              <p:par>
                                <p:cTn id="32" presetID="53" presetClass="entr" presetSubtype="16" fill="hold" nodeType="afterEffect">
                                  <p:stCondLst>
                                    <p:cond delay="80"/>
                                  </p:stCondLst>
                                  <p:childTnLst>
                                    <p:set>
                                      <p:cBhvr>
                                        <p:cTn id="33" dur="1" fill="hold">
                                          <p:stCondLst>
                                            <p:cond delay="0"/>
                                          </p:stCondLst>
                                        </p:cTn>
                                        <p:tgtEl>
                                          <p:spTgt spid="31"/>
                                        </p:tgtEl>
                                        <p:attrNameLst>
                                          <p:attrName>style.visibility</p:attrName>
                                        </p:attrNameLst>
                                      </p:cBhvr>
                                      <p:to>
                                        <p:strVal val="visible"/>
                                      </p:to>
                                    </p:set>
                                    <p:anim calcmode="lin" valueType="num">
                                      <p:cBhvr>
                                        <p:cTn id="34" dur="400" fill="hold"/>
                                        <p:tgtEl>
                                          <p:spTgt spid="31"/>
                                        </p:tgtEl>
                                        <p:attrNameLst>
                                          <p:attrName>ppt_w</p:attrName>
                                        </p:attrNameLst>
                                      </p:cBhvr>
                                      <p:tavLst>
                                        <p:tav tm="0">
                                          <p:val>
                                            <p:fltVal val="0"/>
                                          </p:val>
                                        </p:tav>
                                        <p:tav tm="100000">
                                          <p:val>
                                            <p:strVal val="#ppt_w"/>
                                          </p:val>
                                        </p:tav>
                                      </p:tavLst>
                                    </p:anim>
                                    <p:anim calcmode="lin" valueType="num">
                                      <p:cBhvr>
                                        <p:cTn id="35" dur="400" fill="hold"/>
                                        <p:tgtEl>
                                          <p:spTgt spid="31"/>
                                        </p:tgtEl>
                                        <p:attrNameLst>
                                          <p:attrName>ppt_h</p:attrName>
                                        </p:attrNameLst>
                                      </p:cBhvr>
                                      <p:tavLst>
                                        <p:tav tm="0">
                                          <p:val>
                                            <p:fltVal val="0"/>
                                          </p:val>
                                        </p:tav>
                                        <p:tav tm="100000">
                                          <p:val>
                                            <p:strVal val="#ppt_h"/>
                                          </p:val>
                                        </p:tav>
                                      </p:tavLst>
                                    </p:anim>
                                    <p:animEffect transition="in" filter="fade">
                                      <p:cBhvr>
                                        <p:cTn id="36"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vid_cityend">
            <a:hlinkClick r:id="" action="ppaction://media"/>
            <a:extLst>
              <a:ext uri="{FF2B5EF4-FFF2-40B4-BE49-F238E27FC236}">
                <a16:creationId xmlns:a16="http://schemas.microsoft.com/office/drawing/2014/main" id="{F87EFD43-4FF8-D861-16A2-128B87786633}"/>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 y="0"/>
            <a:ext cx="12192001" cy="6858000"/>
          </a:xfrm>
          <a:prstGeom prst="rect">
            <a:avLst/>
          </a:prstGeom>
        </p:spPr>
      </p:pic>
      <p:sp>
        <p:nvSpPr>
          <p:cNvPr id="2" name="veil"/>
          <p:cNvSpPr/>
          <p:nvPr/>
        </p:nvSpPr>
        <p:spPr>
          <a:xfrm>
            <a:off x="0" y="0"/>
            <a:ext cx="12191695" cy="6858000"/>
          </a:xfrm>
          <a:prstGeom prst="rect">
            <a:avLst/>
          </a:prstGeom>
          <a:solidFill>
            <a:srgbClr val="FFFF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veil2"/>
          <p:cNvSpPr/>
          <p:nvPr/>
        </p:nvSpPr>
        <p:spPr>
          <a:xfrm>
            <a:off x="0" y="0"/>
            <a:ext cx="12191970" cy="6858000"/>
          </a:xfrm>
          <a:prstGeom prst="rect">
            <a:avLst/>
          </a:prstGeom>
          <a:solidFill>
            <a:srgbClr val="FFFFFF">
              <a:alpha val="45000"/>
            </a:srgbClr>
          </a:solidFill>
          <a:ln>
            <a:noFill/>
          </a:ln>
        </p:spPr>
        <p:txBody>
          <a:bodyPr rtlCol="0" anchor="ctr"/>
          <a:lstStyle/>
          <a:p>
            <a:endParaRPr lang="en-US"/>
          </a:p>
        </p:txBody>
      </p:sp>
      <p:sp>
        <p:nvSpPr>
          <p:cNvPr id="3" name="c0"/>
          <p:cNvSpPr txBox="1"/>
          <p:nvPr/>
        </p:nvSpPr>
        <p:spPr>
          <a:xfrm>
            <a:off x="685800" y="777240"/>
            <a:ext cx="3566160" cy="274320"/>
          </a:xfrm>
          <a:prstGeom prst="rect">
            <a:avLst/>
          </a:prstGeom>
          <a:noFill/>
        </p:spPr>
        <p:txBody>
          <a:bodyPr wrap="square" lIns="0" tIns="0" rIns="0" bIns="0" anchor="t">
            <a:spAutoFit/>
          </a:bodyPr>
          <a:lstStyle/>
          <a:p>
            <a:pPr algn="l"/>
            <a:r>
              <a:rPr lang="en-US" sz="1400" b="0" i="0" spc="250" dirty="0">
                <a:solidFill>
                  <a:srgbClr val="B45309"/>
                </a:solidFill>
                <a:latin typeface="Segoe UI Semibold"/>
              </a:rPr>
              <a:t>EE499  ·  TEAM 16</a:t>
            </a:r>
          </a:p>
        </p:txBody>
      </p:sp>
      <p:sp>
        <p:nvSpPr>
          <p:cNvPr id="4" name="c3"/>
          <p:cNvSpPr txBox="1"/>
          <p:nvPr/>
        </p:nvSpPr>
        <p:spPr>
          <a:xfrm>
            <a:off x="685800" y="1143000"/>
            <a:ext cx="3611880" cy="1371600"/>
          </a:xfrm>
          <a:prstGeom prst="rect">
            <a:avLst/>
          </a:prstGeom>
          <a:noFill/>
        </p:spPr>
        <p:txBody>
          <a:bodyPr wrap="square" lIns="0" tIns="0" rIns="0" bIns="0" anchor="t">
            <a:spAutoFit/>
          </a:bodyPr>
          <a:lstStyle/>
          <a:p>
            <a:pPr algn="l"/>
            <a:r>
              <a:rPr lang="en-US" sz="4000" b="0" i="0" dirty="0">
                <a:solidFill>
                  <a:srgbClr val="B45309"/>
                </a:solidFill>
                <a:latin typeface="Bahnschrift SemiBold"/>
              </a:rPr>
              <a:t>Thank you —</a:t>
            </a:r>
          </a:p>
          <a:p>
            <a:pPr algn="l">
              <a:lnSpc>
                <a:spcPct val="90000"/>
              </a:lnSpc>
            </a:pPr>
            <a:r>
              <a:rPr lang="en-US" sz="4000" b="0" i="0" dirty="0">
                <a:solidFill>
                  <a:srgbClr val="B45309"/>
                </a:solidFill>
                <a:latin typeface="Bahnschrift SemiBold"/>
              </a:rPr>
              <a:t>questions?</a:t>
            </a:r>
          </a:p>
        </p:txBody>
      </p:sp>
      <p:sp>
        <p:nvSpPr>
          <p:cNvPr id="5" name="c1"/>
          <p:cNvSpPr txBox="1"/>
          <p:nvPr/>
        </p:nvSpPr>
        <p:spPr>
          <a:xfrm>
            <a:off x="685800" y="2743200"/>
            <a:ext cx="3611880" cy="8229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Visibility</a:t>
            </a:r>
            <a:r>
              <a:rPr lang="en-US" sz="2000" b="0" i="0" dirty="0">
                <a:solidFill>
                  <a:srgbClr val="B45309"/>
                </a:solidFill>
                <a:latin typeface="Bahnschrift SemiBold"/>
              </a:rPr>
              <a:t>.  </a:t>
            </a:r>
            <a:r>
              <a:rPr lang="en-US" sz="2000" b="0" i="0" dirty="0">
                <a:solidFill>
                  <a:srgbClr val="0E1B2C"/>
                </a:solidFill>
                <a:latin typeface="Bahnschrift SemiBold"/>
              </a:rPr>
              <a:t>Priority</a:t>
            </a:r>
            <a:r>
              <a:rPr lang="en-US" sz="2000" b="0" i="0" dirty="0">
                <a:solidFill>
                  <a:srgbClr val="B45309"/>
                </a:solidFill>
                <a:latin typeface="Bahnschrift SemiBold"/>
              </a:rPr>
              <a:t>.  </a:t>
            </a:r>
            <a:r>
              <a:rPr lang="en-US" sz="2000" b="0" i="0" dirty="0">
                <a:solidFill>
                  <a:srgbClr val="0E1B2C"/>
                </a:solidFill>
                <a:latin typeface="Bahnschrift SemiBold"/>
              </a:rPr>
              <a:t>Safety</a:t>
            </a:r>
            <a:r>
              <a:rPr lang="en-US" sz="2000" b="0" i="0" dirty="0">
                <a:solidFill>
                  <a:srgbClr val="B45309"/>
                </a:solidFill>
                <a:latin typeface="Bahnschrift SemiBold"/>
              </a:rPr>
              <a:t>.</a:t>
            </a:r>
          </a:p>
          <a:p>
            <a:pPr algn="l"/>
            <a:r>
              <a:rPr lang="en-US" sz="1600" b="0" i="0" dirty="0">
                <a:solidFill>
                  <a:srgbClr val="5B6B7F"/>
                </a:solidFill>
                <a:latin typeface="Segoe UI"/>
              </a:rPr>
              <a:t>A need — not a luxury.</a:t>
            </a:r>
          </a:p>
        </p:txBody>
      </p:sp>
      <p:sp>
        <p:nvSpPr>
          <p:cNvPr id="6" name="c4"/>
          <p:cNvSpPr txBox="1"/>
          <p:nvPr/>
        </p:nvSpPr>
        <p:spPr>
          <a:xfrm>
            <a:off x="685800" y="3977640"/>
            <a:ext cx="3566160" cy="1188720"/>
          </a:xfrm>
          <a:prstGeom prst="rect">
            <a:avLst/>
          </a:prstGeom>
          <a:noFill/>
        </p:spPr>
        <p:txBody>
          <a:bodyPr wrap="square" lIns="0" tIns="0" rIns="0" bIns="0" anchor="t">
            <a:spAutoFit/>
          </a:bodyPr>
          <a:lstStyle/>
          <a:p>
            <a:pPr algn="l"/>
            <a:r>
              <a:rPr lang="en-US" sz="1400" b="0" i="0" dirty="0">
                <a:solidFill>
                  <a:srgbClr val="5B6B7F"/>
                </a:solidFill>
                <a:latin typeface="Segoe UI"/>
              </a:rPr>
              <a:t>Team 16</a:t>
            </a:r>
          </a:p>
          <a:p>
            <a:pPr algn="l"/>
            <a:r>
              <a:rPr lang="en-US" sz="1400" b="0" i="0" dirty="0">
                <a:solidFill>
                  <a:srgbClr val="5B6B7F"/>
                </a:solidFill>
                <a:latin typeface="Segoe UI"/>
              </a:rPr>
              <a:t>Ali Khudhayr</a:t>
            </a:r>
          </a:p>
          <a:p>
            <a:pPr algn="l"/>
            <a:r>
              <a:rPr lang="en-US" sz="1400" b="0" i="0" dirty="0">
                <a:solidFill>
                  <a:srgbClr val="5B6B7F"/>
                </a:solidFill>
                <a:latin typeface="Segoe UI"/>
              </a:rPr>
              <a:t>Mohammad Kassem</a:t>
            </a:r>
          </a:p>
          <a:p>
            <a:pPr algn="l"/>
            <a:r>
              <a:rPr lang="en-US" sz="1400" b="0" i="0" dirty="0">
                <a:solidFill>
                  <a:srgbClr val="5B6B7F"/>
                </a:solidFill>
                <a:latin typeface="Segoe UI"/>
              </a:rPr>
              <a:t>Omar Baflah</a:t>
            </a:r>
          </a:p>
        </p:txBody>
      </p:sp>
      <p:sp>
        <p:nvSpPr>
          <p:cNvPr id="10" name="pc_k"/>
          <p:cNvSpPr txBox="1"/>
          <p:nvPr/>
        </p:nvSpPr>
        <p:spPr>
          <a:xfrm>
            <a:off x="4526280" y="777240"/>
            <a:ext cx="6976872" cy="274320"/>
          </a:xfrm>
          <a:prstGeom prst="rect">
            <a:avLst/>
          </a:prstGeom>
          <a:noFill/>
        </p:spPr>
        <p:txBody>
          <a:bodyPr wrap="square" lIns="0" tIns="0" rIns="0" bIns="0" anchor="t">
            <a:spAutoFit/>
          </a:bodyPr>
          <a:lstStyle/>
          <a:p>
            <a:pPr algn="l"/>
            <a:r>
              <a:rPr lang="en-US" sz="1300" b="0" i="0" spc="200" dirty="0">
                <a:solidFill>
                  <a:srgbClr val="B45309"/>
                </a:solidFill>
                <a:latin typeface="Segoe UI Semibold"/>
              </a:rPr>
              <a:t>PRIORITY CONTROL IN ACTION  ·  DS-04 / DS-05</a:t>
            </a:r>
          </a:p>
        </p:txBody>
      </p:sp>
      <p:pic>
        <p:nvPicPr>
          <p:cNvPr id="11" name="vid_priority" descr="Priority control demo: lowest-priority loads are shed until demand is within the limit">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526280" y="1143000"/>
            <a:ext cx="6976872" cy="3924490"/>
          </a:xfrm>
          <a:prstGeom prst="rect">
            <a:avLst/>
          </a:prstGeom>
        </p:spPr>
      </p:pic>
      <p:grpSp>
        <p:nvGrpSpPr>
          <p:cNvPr id="70" name="chip0"/>
          <p:cNvGrpSpPr/>
          <p:nvPr/>
        </p:nvGrpSpPr>
        <p:grpSpPr>
          <a:xfrm>
            <a:off x="4526280" y="5341810"/>
            <a:ext cx="1607058" cy="914400"/>
            <a:chOff x="4526280" y="5341810"/>
            <a:chExt cx="1607058" cy="914400"/>
          </a:xfrm>
        </p:grpSpPr>
        <p:sp>
          <p:nvSpPr>
            <p:cNvPr id="71" name="chip_bg0"/>
            <p:cNvSpPr/>
            <p:nvPr/>
          </p:nvSpPr>
          <p:spPr>
            <a:xfrm>
              <a:off x="4526280"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2" name="chip_v0"/>
            <p:cNvSpPr txBox="1"/>
            <p:nvPr/>
          </p:nvSpPr>
          <p:spPr>
            <a:xfrm>
              <a:off x="4690872"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 1 s</a:t>
              </a:r>
            </a:p>
          </p:txBody>
        </p:sp>
        <p:sp>
          <p:nvSpPr>
            <p:cNvPr id="73" name="chip_l0"/>
            <p:cNvSpPr txBox="1"/>
            <p:nvPr/>
          </p:nvSpPr>
          <p:spPr>
            <a:xfrm>
              <a:off x="4690872"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shedding starts</a:t>
              </a:r>
            </a:p>
          </p:txBody>
        </p:sp>
      </p:grpSp>
      <p:grpSp>
        <p:nvGrpSpPr>
          <p:cNvPr id="74" name="chip1"/>
          <p:cNvGrpSpPr/>
          <p:nvPr/>
        </p:nvGrpSpPr>
        <p:grpSpPr>
          <a:xfrm>
            <a:off x="6316218" y="5341810"/>
            <a:ext cx="1607058" cy="914400"/>
            <a:chOff x="6316218" y="5341810"/>
            <a:chExt cx="1607058" cy="914400"/>
          </a:xfrm>
        </p:grpSpPr>
        <p:sp>
          <p:nvSpPr>
            <p:cNvPr id="75" name="chip_bg1"/>
            <p:cNvSpPr/>
            <p:nvPr/>
          </p:nvSpPr>
          <p:spPr>
            <a:xfrm>
              <a:off x="6316218"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6" name="chip_v1"/>
            <p:cNvSpPr txBox="1"/>
            <p:nvPr/>
          </p:nvSpPr>
          <p:spPr>
            <a:xfrm>
              <a:off x="6480810"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 4 · ≥ 3</a:t>
              </a:r>
            </a:p>
          </p:txBody>
        </p:sp>
        <p:sp>
          <p:nvSpPr>
            <p:cNvPr id="77" name="chip_l1"/>
            <p:cNvSpPr txBox="1"/>
            <p:nvPr/>
          </p:nvSpPr>
          <p:spPr>
            <a:xfrm>
              <a:off x="6480810"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channels · priorities</a:t>
              </a:r>
            </a:p>
          </p:txBody>
        </p:sp>
      </p:grpSp>
      <p:grpSp>
        <p:nvGrpSpPr>
          <p:cNvPr id="78" name="chip2"/>
          <p:cNvGrpSpPr/>
          <p:nvPr/>
        </p:nvGrpSpPr>
        <p:grpSpPr>
          <a:xfrm>
            <a:off x="8106156" y="5341810"/>
            <a:ext cx="1607058" cy="914400"/>
            <a:chOff x="8106156" y="5341810"/>
            <a:chExt cx="1607058" cy="914400"/>
          </a:xfrm>
        </p:grpSpPr>
        <p:sp>
          <p:nvSpPr>
            <p:cNvPr id="79" name="chip_bg2"/>
            <p:cNvSpPr/>
            <p:nvPr/>
          </p:nvSpPr>
          <p:spPr>
            <a:xfrm>
              <a:off x="8106156"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0" name="chip_v2"/>
            <p:cNvSpPr txBox="1"/>
            <p:nvPr/>
          </p:nvSpPr>
          <p:spPr>
            <a:xfrm>
              <a:off x="8270748"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5 s</a:t>
              </a:r>
            </a:p>
          </p:txBody>
        </p:sp>
        <p:sp>
          <p:nvSpPr>
            <p:cNvPr id="81" name="chip_l2"/>
            <p:cNvSpPr txBox="1"/>
            <p:nvPr/>
          </p:nvSpPr>
          <p:spPr>
            <a:xfrm>
              <a:off x="8270748"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stable margin</a:t>
              </a:r>
            </a:p>
          </p:txBody>
        </p:sp>
      </p:grpSp>
      <p:grpSp>
        <p:nvGrpSpPr>
          <p:cNvPr id="82" name="chip3"/>
          <p:cNvGrpSpPr/>
          <p:nvPr/>
        </p:nvGrpSpPr>
        <p:grpSpPr>
          <a:xfrm>
            <a:off x="9896094" y="5341810"/>
            <a:ext cx="1607058" cy="914400"/>
            <a:chOff x="9896094" y="5341810"/>
            <a:chExt cx="1607058" cy="914400"/>
          </a:xfrm>
        </p:grpSpPr>
        <p:sp>
          <p:nvSpPr>
            <p:cNvPr id="83" name="chip_bg3"/>
            <p:cNvSpPr/>
            <p:nvPr/>
          </p:nvSpPr>
          <p:spPr>
            <a:xfrm>
              <a:off x="9896094"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4" name="chip_v3"/>
            <p:cNvSpPr txBox="1"/>
            <p:nvPr/>
          </p:nvSpPr>
          <p:spPr>
            <a:xfrm>
              <a:off x="10060686"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3 s</a:t>
              </a:r>
            </a:p>
          </p:txBody>
        </p:sp>
        <p:sp>
          <p:nvSpPr>
            <p:cNvPr id="85" name="chip_l3"/>
            <p:cNvSpPr txBox="1"/>
            <p:nvPr/>
          </p:nvSpPr>
          <p:spPr>
            <a:xfrm>
              <a:off x="10060686"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motor restarts</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0" fill="hold"/>
                                        <p:tgtEl>
                                          <p:spTgt spid="7"/>
                                        </p:tgtEl>
                                      </p:cBhvr>
                                    </p:cmd>
                                  </p:childTnLst>
                                </p:cTn>
                              </p:par>
                              <p:par>
                                <p:cTn id="7" presetID="1" presetClass="mediacall" presetSubtype="0" fill="hold" nodeType="withEffect">
                                  <p:stCondLst>
                                    <p:cond delay="0"/>
                                  </p:stCondLst>
                                  <p:childTnLst>
                                    <p:cmd type="call" cmd="playFrom(0.0)">
                                      <p:cBhvr>
                                        <p:cTn id="8" dur="11500" fill="hold"/>
                                        <p:tgtEl>
                                          <p:spTgt spid="11"/>
                                        </p:tgtEl>
                                      </p:cBhvr>
                                    </p:cmd>
                                  </p:childTnLst>
                                </p:cTn>
                              </p:par>
                            </p:childTnLst>
                          </p:cTn>
                        </p:par>
                        <p:par>
                          <p:cTn id="9" fill="hold">
                            <p:stCondLst>
                              <p:cond delay="11500"/>
                            </p:stCondLst>
                            <p:childTnLst>
                              <p:par>
                                <p:cTn id="10" presetID="42"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450"/>
                                        <p:tgtEl>
                                          <p:spTgt spid="3"/>
                                        </p:tgtEl>
                                      </p:cBhvr>
                                    </p:animEffect>
                                    <p:anim calcmode="lin" valueType="num">
                                      <p:cBhvr>
                                        <p:cTn id="13" dur="450" fill="hold"/>
                                        <p:tgtEl>
                                          <p:spTgt spid="3"/>
                                        </p:tgtEl>
                                        <p:attrNameLst>
                                          <p:attrName>ppt_x</p:attrName>
                                        </p:attrNameLst>
                                      </p:cBhvr>
                                      <p:tavLst>
                                        <p:tav tm="0">
                                          <p:val>
                                            <p:strVal val="#ppt_x"/>
                                          </p:val>
                                        </p:tav>
                                        <p:tav tm="100000">
                                          <p:val>
                                            <p:strVal val="#ppt_x"/>
                                          </p:val>
                                        </p:tav>
                                      </p:tavLst>
                                    </p:anim>
                                    <p:anim calcmode="lin" valueType="num">
                                      <p:cBhvr>
                                        <p:cTn id="14" dur="45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1950"/>
                            </p:stCondLst>
                            <p:childTnLst>
                              <p:par>
                                <p:cTn id="16" presetID="42"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450"/>
                                        <p:tgtEl>
                                          <p:spTgt spid="4"/>
                                        </p:tgtEl>
                                      </p:cBhvr>
                                    </p:animEffect>
                                    <p:anim calcmode="lin" valueType="num">
                                      <p:cBhvr>
                                        <p:cTn id="19" dur="450" fill="hold"/>
                                        <p:tgtEl>
                                          <p:spTgt spid="4"/>
                                        </p:tgtEl>
                                        <p:attrNameLst>
                                          <p:attrName>ppt_x</p:attrName>
                                        </p:attrNameLst>
                                      </p:cBhvr>
                                      <p:tavLst>
                                        <p:tav tm="0">
                                          <p:val>
                                            <p:strVal val="#ppt_x"/>
                                          </p:val>
                                        </p:tav>
                                        <p:tav tm="100000">
                                          <p:val>
                                            <p:strVal val="#ppt_x"/>
                                          </p:val>
                                        </p:tav>
                                      </p:tavLst>
                                    </p:anim>
                                    <p:anim calcmode="lin" valueType="num">
                                      <p:cBhvr>
                                        <p:cTn id="20" dur="450" fill="hold"/>
                                        <p:tgtEl>
                                          <p:spTgt spid="4"/>
                                        </p:tgtEl>
                                        <p:attrNameLst>
                                          <p:attrName>ppt_y</p:attrName>
                                        </p:attrNameLst>
                                      </p:cBhvr>
                                      <p:tavLst>
                                        <p:tav tm="0">
                                          <p:val>
                                            <p:strVal val="#ppt_y+.1"/>
                                          </p:val>
                                        </p:tav>
                                        <p:tav tm="100000">
                                          <p:val>
                                            <p:strVal val="#ppt_y"/>
                                          </p:val>
                                        </p:tav>
                                      </p:tavLst>
                                    </p:anim>
                                  </p:childTnLst>
                                </p:cTn>
                              </p:par>
                            </p:childTnLst>
                          </p:cTn>
                        </p:par>
                        <p:par>
                          <p:cTn id="21" fill="hold">
                            <p:stCondLst>
                              <p:cond delay="12400"/>
                            </p:stCondLst>
                            <p:childTnLst>
                              <p:par>
                                <p:cTn id="22" presetID="42"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50"/>
                                        <p:tgtEl>
                                          <p:spTgt spid="5"/>
                                        </p:tgtEl>
                                      </p:cBhvr>
                                    </p:animEffect>
                                    <p:anim calcmode="lin" valueType="num">
                                      <p:cBhvr>
                                        <p:cTn id="25" dur="450" fill="hold"/>
                                        <p:tgtEl>
                                          <p:spTgt spid="5"/>
                                        </p:tgtEl>
                                        <p:attrNameLst>
                                          <p:attrName>ppt_x</p:attrName>
                                        </p:attrNameLst>
                                      </p:cBhvr>
                                      <p:tavLst>
                                        <p:tav tm="0">
                                          <p:val>
                                            <p:strVal val="#ppt_x"/>
                                          </p:val>
                                        </p:tav>
                                        <p:tav tm="100000">
                                          <p:val>
                                            <p:strVal val="#ppt_x"/>
                                          </p:val>
                                        </p:tav>
                                      </p:tavLst>
                                    </p:anim>
                                    <p:anim calcmode="lin" valueType="num">
                                      <p:cBhvr>
                                        <p:cTn id="26" dur="4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12850"/>
                            </p:stCondLst>
                            <p:childTnLst>
                              <p:par>
                                <p:cTn id="28" presetID="42" presetClass="entr" presetSubtype="0"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50"/>
                                        <p:tgtEl>
                                          <p:spTgt spid="6"/>
                                        </p:tgtEl>
                                      </p:cBhvr>
                                    </p:animEffect>
                                    <p:anim calcmode="lin" valueType="num">
                                      <p:cBhvr>
                                        <p:cTn id="31" dur="450" fill="hold"/>
                                        <p:tgtEl>
                                          <p:spTgt spid="6"/>
                                        </p:tgtEl>
                                        <p:attrNameLst>
                                          <p:attrName>ppt_x</p:attrName>
                                        </p:attrNameLst>
                                      </p:cBhvr>
                                      <p:tavLst>
                                        <p:tav tm="0">
                                          <p:val>
                                            <p:strVal val="#ppt_x"/>
                                          </p:val>
                                        </p:tav>
                                        <p:tav tm="100000">
                                          <p:val>
                                            <p:strVal val="#ppt_x"/>
                                          </p:val>
                                        </p:tav>
                                      </p:tavLst>
                                    </p:anim>
                                    <p:anim calcmode="lin" valueType="num">
                                      <p:cBhvr>
                                        <p:cTn id="32" dur="450" fill="hold"/>
                                        <p:tgtEl>
                                          <p:spTgt spid="6"/>
                                        </p:tgtEl>
                                        <p:attrNameLst>
                                          <p:attrName>ppt_y</p:attrName>
                                        </p:attrNameLst>
                                      </p:cBhvr>
                                      <p:tavLst>
                                        <p:tav tm="0">
                                          <p:val>
                                            <p:strVal val="#ppt_y+.1"/>
                                          </p:val>
                                        </p:tav>
                                        <p:tav tm="100000">
                                          <p:val>
                                            <p:strVal val="#ppt_y"/>
                                          </p:val>
                                        </p:tav>
                                      </p:tavLst>
                                    </p:anim>
                                  </p:childTnLst>
                                </p:cTn>
                              </p:par>
                            </p:childTnLst>
                          </p:cTn>
                        </p:par>
                        <p:par>
                          <p:cTn id="33" fill="hold">
                            <p:stCondLst>
                              <p:cond delay="13300"/>
                            </p:stCondLst>
                            <p:childTnLst>
                              <p:par>
                                <p:cTn id="34" presetID="42" presetClass="entr" presetSubtype="0"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50"/>
                                        <p:tgtEl>
                                          <p:spTgt spid="10"/>
                                        </p:tgtEl>
                                      </p:cBhvr>
                                    </p:animEffect>
                                    <p:anim calcmode="lin" valueType="num">
                                      <p:cBhvr>
                                        <p:cTn id="37" dur="450" fill="hold"/>
                                        <p:tgtEl>
                                          <p:spTgt spid="10"/>
                                        </p:tgtEl>
                                        <p:attrNameLst>
                                          <p:attrName>ppt_x</p:attrName>
                                        </p:attrNameLst>
                                      </p:cBhvr>
                                      <p:tavLst>
                                        <p:tav tm="0">
                                          <p:val>
                                            <p:strVal val="#ppt_x"/>
                                          </p:val>
                                        </p:tav>
                                        <p:tav tm="100000">
                                          <p:val>
                                            <p:strVal val="#ppt_x"/>
                                          </p:val>
                                        </p:tav>
                                      </p:tavLst>
                                    </p:anim>
                                    <p:anim calcmode="lin" valueType="num">
                                      <p:cBhvr>
                                        <p:cTn id="38" dur="4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39" fill="hold" display="0">
                  <p:stCondLst>
                    <p:cond delay="indefinite"/>
                  </p:stCondLst>
                </p:cTn>
                <p:tgtEl>
                  <p:spTgt spid="7"/>
                </p:tgtEl>
              </p:cMediaNode>
            </p:video>
            <p:video>
              <p:cMediaNode vol="80000" mute="1">
                <p:cTn id="40" repeatCount="indefinite" fill="hold" display="0">
                  <p:stCondLst>
                    <p:cond delay="indefinite"/>
                  </p:stCondLst>
                </p:cTn>
                <p:tgtEl>
                  <p:spTgt spid="11"/>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074855-F38A-44AC-B39F-753602E98B36}"/>
              </a:ext>
            </a:extLst>
          </p:cNvPr>
          <p:cNvSpPr txBox="1"/>
          <p:nvPr/>
        </p:nvSpPr>
        <p:spPr>
          <a:xfrm>
            <a:off x="805541" y="1345243"/>
            <a:ext cx="9024257" cy="3949799"/>
          </a:xfrm>
          <a:prstGeom prst="rect">
            <a:avLst/>
          </a:prstGeom>
          <a:noFill/>
        </p:spPr>
        <p:txBody>
          <a:bodyPr wrap="square">
            <a:spAutoFit/>
          </a:bodyPr>
          <a:lstStyle/>
          <a:p>
            <a:pPr>
              <a:spcAft>
                <a:spcPts val="500"/>
              </a:spcAft>
            </a:pPr>
            <a:r>
              <a:rPr lang="en-US" sz="1800" b="0" i="0" dirty="0">
                <a:solidFill>
                  <a:srgbClr val="0E1B2C"/>
                </a:solidFill>
                <a:latin typeface="Segoe UI"/>
              </a:rPr>
              <a:t>[1]  M. </a:t>
            </a:r>
            <a:r>
              <a:rPr lang="en-US" sz="1800" b="0" i="0" dirty="0" err="1">
                <a:solidFill>
                  <a:srgbClr val="0E1B2C"/>
                </a:solidFill>
                <a:latin typeface="Segoe UI"/>
              </a:rPr>
              <a:t>Aldubyan</a:t>
            </a:r>
            <a:r>
              <a:rPr lang="en-US" sz="1800" b="0" i="0" dirty="0">
                <a:solidFill>
                  <a:srgbClr val="0E1B2C"/>
                </a:solidFill>
                <a:latin typeface="Segoe UI"/>
              </a:rPr>
              <a:t>, “Future of residential electricity demand in Saudi Arabia and the role of energy efficiency in 2060’s net zero pledge,” Development and Sustainability in Economics and Finance, vol. 8, p. 100086, Dec. 2025.</a:t>
            </a:r>
          </a:p>
          <a:p>
            <a:pPr algn="l">
              <a:lnSpc>
                <a:spcPct val="100000"/>
              </a:lnSpc>
              <a:spcAft>
                <a:spcPts val="500"/>
              </a:spcAft>
            </a:pPr>
            <a:r>
              <a:rPr lang="en-US" sz="1800" b="0" i="0" dirty="0">
                <a:solidFill>
                  <a:srgbClr val="0E1B2C"/>
                </a:solidFill>
                <a:latin typeface="Segoe UI"/>
              </a:rPr>
              <a:t>[2]  N. Howarth et al., “Staying cool in a warming climate: Temperature, electricity and air conditioning in Saudi Arabia,” Climate, vol. 8, no. 1, p. 4, Jan. 2020.</a:t>
            </a:r>
          </a:p>
          <a:p>
            <a:pPr algn="l">
              <a:lnSpc>
                <a:spcPct val="100000"/>
              </a:lnSpc>
              <a:spcAft>
                <a:spcPts val="500"/>
              </a:spcAft>
            </a:pPr>
            <a:r>
              <a:rPr lang="en-US" sz="1800" b="0" i="0" dirty="0">
                <a:solidFill>
                  <a:srgbClr val="0E1B2C"/>
                </a:solidFill>
                <a:latin typeface="Segoe UI"/>
              </a:rPr>
              <a:t>[3]  Saudi Electricity Regulatory Authority (SERA), “Consumption tariff.” [Online]. Available: sera.gov.sa. Accessed 29 Sep. 2026.</a:t>
            </a:r>
          </a:p>
          <a:p>
            <a:pPr algn="l">
              <a:lnSpc>
                <a:spcPct val="100000"/>
              </a:lnSpc>
              <a:spcAft>
                <a:spcPts val="500"/>
              </a:spcAft>
            </a:pPr>
            <a:r>
              <a:rPr lang="en-US" sz="1800" b="0" i="0" dirty="0">
                <a:solidFill>
                  <a:srgbClr val="0E1B2C"/>
                </a:solidFill>
                <a:latin typeface="Segoe UI"/>
              </a:rPr>
              <a:t>[4]  S. Panda et al., “Priority-based scheduling in residential energy management systems integrated with renewable sources using adaptive </a:t>
            </a:r>
            <a:r>
              <a:rPr lang="en-US" sz="1800" b="0" i="0" dirty="0" err="1">
                <a:solidFill>
                  <a:srgbClr val="0E1B2C"/>
                </a:solidFill>
                <a:latin typeface="Segoe UI"/>
              </a:rPr>
              <a:t>Salp</a:t>
            </a:r>
            <a:r>
              <a:rPr lang="en-US" sz="1800" b="0" i="0" dirty="0">
                <a:solidFill>
                  <a:srgbClr val="0E1B2C"/>
                </a:solidFill>
                <a:latin typeface="Segoe UI"/>
              </a:rPr>
              <a:t> swarm algorithm,” Results in Engineering, vol. 23, p. 102643, Sep. 2024.</a:t>
            </a:r>
          </a:p>
          <a:p>
            <a:pPr algn="l">
              <a:lnSpc>
                <a:spcPct val="100000"/>
              </a:lnSpc>
              <a:spcAft>
                <a:spcPts val="500"/>
              </a:spcAft>
            </a:pPr>
            <a:r>
              <a:rPr lang="en-US" sz="1800" b="0" i="0" dirty="0">
                <a:solidFill>
                  <a:srgbClr val="0E1B2C"/>
                </a:solidFill>
                <a:latin typeface="Segoe UI"/>
              </a:rPr>
              <a:t>[5]  H. Rashid, P. Singh, V. Stankovic and L. Stankovic, “Can non-intrusive load monitoring be used for identifying an appliance’s anomalous </a:t>
            </a:r>
            <a:r>
              <a:rPr lang="en-US" sz="1800" b="0" i="0" dirty="0" err="1">
                <a:solidFill>
                  <a:srgbClr val="0E1B2C"/>
                </a:solidFill>
                <a:latin typeface="Segoe UI"/>
              </a:rPr>
              <a:t>behaviour</a:t>
            </a:r>
            <a:r>
              <a:rPr lang="en-US" sz="1800" b="0" i="0" dirty="0">
                <a:solidFill>
                  <a:srgbClr val="0E1B2C"/>
                </a:solidFill>
                <a:latin typeface="Segoe UI"/>
              </a:rPr>
              <a:t>?,” Applied Energy, vol. 238, pp. 796–805, Mar. 2019.</a:t>
            </a:r>
          </a:p>
        </p:txBody>
      </p:sp>
      <p:sp>
        <p:nvSpPr>
          <p:cNvPr id="7" name="TextBox 6">
            <a:extLst>
              <a:ext uri="{FF2B5EF4-FFF2-40B4-BE49-F238E27FC236}">
                <a16:creationId xmlns:a16="http://schemas.microsoft.com/office/drawing/2014/main" id="{747AD0DE-2082-4644-A99E-43070C786659}"/>
              </a:ext>
            </a:extLst>
          </p:cNvPr>
          <p:cNvSpPr txBox="1"/>
          <p:nvPr/>
        </p:nvSpPr>
        <p:spPr>
          <a:xfrm>
            <a:off x="805541" y="532688"/>
            <a:ext cx="6096000" cy="707886"/>
          </a:xfrm>
          <a:prstGeom prst="rect">
            <a:avLst/>
          </a:prstGeom>
          <a:noFill/>
        </p:spPr>
        <p:txBody>
          <a:bodyPr wrap="square">
            <a:spAutoFit/>
          </a:bodyPr>
          <a:lstStyle/>
          <a:p>
            <a:pPr>
              <a:spcAft>
                <a:spcPts val="500"/>
              </a:spcAft>
            </a:pPr>
            <a:r>
              <a:rPr lang="en-US" sz="4000" dirty="0">
                <a:solidFill>
                  <a:srgbClr val="0E1B2C"/>
                </a:solidFill>
                <a:latin typeface="Bahnschrift SemiBold"/>
              </a:rPr>
              <a:t>References</a:t>
            </a:r>
          </a:p>
        </p:txBody>
      </p:sp>
      <p:sp>
        <p:nvSpPr>
          <p:cNvPr id="9" name="TextBox 8">
            <a:extLst>
              <a:ext uri="{FF2B5EF4-FFF2-40B4-BE49-F238E27FC236}">
                <a16:creationId xmlns:a16="http://schemas.microsoft.com/office/drawing/2014/main" id="{8F1BFEE0-D365-4100-A176-A9A61DC631A4}"/>
              </a:ext>
            </a:extLst>
          </p:cNvPr>
          <p:cNvSpPr txBox="1"/>
          <p:nvPr/>
        </p:nvSpPr>
        <p:spPr>
          <a:xfrm>
            <a:off x="805541" y="209523"/>
            <a:ext cx="6096000" cy="323165"/>
          </a:xfrm>
          <a:prstGeom prst="rect">
            <a:avLst/>
          </a:prstGeom>
          <a:noFill/>
        </p:spPr>
        <p:txBody>
          <a:bodyPr wrap="square">
            <a:spAutoFit/>
          </a:bodyPr>
          <a:lstStyle/>
          <a:p>
            <a:pPr algn="l"/>
            <a:r>
              <a:rPr lang="en-US" sz="1500" b="0" i="0" spc="250" dirty="0">
                <a:solidFill>
                  <a:srgbClr val="B45309"/>
                </a:solidFill>
                <a:latin typeface="Segoe UI Semibold"/>
              </a:rPr>
              <a:t>SOURCES</a:t>
            </a:r>
          </a:p>
        </p:txBody>
      </p:sp>
    </p:spTree>
    <p:extLst>
      <p:ext uri="{BB962C8B-B14F-4D97-AF65-F5344CB8AC3E}">
        <p14:creationId xmlns:p14="http://schemas.microsoft.com/office/powerpoint/2010/main" val="4005151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364</TotalTime>
  <Words>1906</Words>
  <Application>Microsoft Office PowerPoint</Application>
  <PresentationFormat>Widescreen</PresentationFormat>
  <Paragraphs>399</Paragraphs>
  <Slides>26</Slides>
  <Notes>25</Notes>
  <HiddenSlides>0</HiddenSlides>
  <MMClips>4</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Bahnschrift</vt:lpstr>
      <vt:lpstr>Bahnschrift SemiBold</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LENOVO</dc:creator>
  <cp:keywords/>
  <dc:description>generated using python-pptx</dc:description>
  <cp:lastModifiedBy>ALI YASSER ALI KHUDHAYR</cp:lastModifiedBy>
  <cp:revision>17</cp:revision>
  <dcterms:created xsi:type="dcterms:W3CDTF">2013-01-27T09:14:16Z</dcterms:created>
  <dcterms:modified xsi:type="dcterms:W3CDTF">2026-10-14T02:51:21Z</dcterms:modified>
  <cp:category/>
</cp:coreProperties>
</file>